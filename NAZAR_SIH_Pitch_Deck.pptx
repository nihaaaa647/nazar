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Works</c:v>
                </c:pt>
              </c:strCache>
            </c:strRef>
          </c:tx>
          <c:spPr>
            <a:solidFill>
              <a:srgbClr val="F2A03D"/>
            </a:solidFill>
            <a:effectLst/>
          </c:spPr>
          <c:invertIfNegative val="0"/>
          <c:dLbls>
            <c:numFmt formatCode="#,##0" sourceLinked="0"/>
            <c:spPr>
              <a:noFill/>
              <a:ln>
                <a:noFill/>
              </a:ln>
              <a:effectLst/>
            </c:spPr>
            <c:txPr>
              <a:bodyPr/>
              <a:lstStyle/>
              <a:p>
                <a:pPr>
                  <a:defRPr sz="900" b="0" i="0" u="none" strike="noStrike">
                    <a:solidFill>
                      <a:srgbClr val="5B7086"/>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Library books</c:v>
                </c:pt>
                <c:pt idx="1">
                  <c:v>Laboratories</c:v>
                </c:pt>
                <c:pt idx="2">
                  <c:v>Hand pumps</c:v>
                </c:pt>
                <c:pt idx="3">
                  <c:v>Tube-wells / borewells</c:v>
                </c:pt>
                <c:pt idx="4">
                  <c:v>Community halls</c:v>
                </c:pt>
                <c:pt idx="5">
                  <c:v>Street lights</c:v>
                </c:pt>
                <c:pt idx="6">
                  <c:v>Lighting of public spaces</c:v>
                </c:pt>
                <c:pt idx="7">
                  <c:v>Roads &amp; link roads</c:v>
                </c:pt>
              </c:strCache>
            </c:strRef>
          </c:cat>
          <c:val>
            <c:numRef>
              <c:f>Sheet1!$B$2:$B$9</c:f>
              <c:numCache>
                <c:formatCode>General</c:formatCode>
                <c:ptCount val="8"/>
                <c:pt idx="0">
                  <c:v>156</c:v>
                </c:pt>
                <c:pt idx="1">
                  <c:v>178</c:v>
                </c:pt>
                <c:pt idx="2">
                  <c:v>264</c:v>
                </c:pt>
                <c:pt idx="3">
                  <c:v>383</c:v>
                </c:pt>
                <c:pt idx="4">
                  <c:v>397</c:v>
                </c:pt>
                <c:pt idx="5">
                  <c:v>510</c:v>
                </c:pt>
                <c:pt idx="6">
                  <c:v>522</c:v>
                </c:pt>
                <c:pt idx="7">
                  <c:v>1007</c:v>
                </c:pt>
              </c:numCache>
            </c:numRef>
          </c:val>
          <c:extLst>
            <c:ext xmlns:c16="http://schemas.microsoft.com/office/drawing/2014/chart" uri="{C3380CC4-5D6E-409C-BE32-E72D297353CC}">
              <c16:uniqueId val="{00000000-7B4F-45A3-9FFE-79E2C609D5F9}"/>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00" b="0" i="0" u="none" strike="noStrike">
                <a:solidFill>
                  <a:srgbClr val="0A1628"/>
                </a:solidFill>
                <a:latin typeface="Calibri"/>
              </a:defRPr>
            </a:pPr>
            <a:endParaRPr lang="en-US"/>
          </a:p>
        </c:txPr>
        <c:crossAx val="2094734552"/>
        <c:crosses val="autoZero"/>
        <c:auto val="1"/>
        <c:lblAlgn val="ctr"/>
        <c:lblOffset val="100"/>
        <c:noMultiLvlLbl val="1"/>
      </c:catAx>
      <c:valAx>
        <c:axId val="2094734552"/>
        <c:scaling>
          <c:orientation val="minMax"/>
          <c:max val="125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Composition</c:v>
                </c:pt>
              </c:strCache>
            </c:strRef>
          </c:tx>
          <c:spPr>
            <a:solidFill>
              <a:schemeClr val="accent1"/>
            </a:solidFill>
            <a:ln w="9525" cap="flat">
              <a:solidFill>
                <a:srgbClr val="F9F9F9"/>
              </a:solidFill>
              <a:prstDash val="solid"/>
              <a:round/>
            </a:ln>
            <a:effectLst/>
          </c:spPr>
          <c:dPt>
            <c:idx val="0"/>
            <c:bubble3D val="0"/>
            <c:spPr>
              <a:solidFill>
                <a:srgbClr val="F2A03D"/>
              </a:solidFill>
              <a:effectLst/>
            </c:spPr>
            <c:extLst>
              <c:ext xmlns:c16="http://schemas.microsoft.com/office/drawing/2014/chart" uri="{C3380CC4-5D6E-409C-BE32-E72D297353CC}">
                <c16:uniqueId val="{00000001-5EF8-4EA6-A213-3F89F9024DBA}"/>
              </c:ext>
            </c:extLst>
          </c:dPt>
          <c:dPt>
            <c:idx val="1"/>
            <c:bubble3D val="0"/>
            <c:spPr>
              <a:solidFill>
                <a:srgbClr val="C6D2DD"/>
              </a:solidFill>
              <a:effectLst/>
            </c:spPr>
            <c:extLst>
              <c:ext xmlns:c16="http://schemas.microsoft.com/office/drawing/2014/chart" uri="{C3380CC4-5D6E-409C-BE32-E72D297353CC}">
                <c16:uniqueId val="{00000003-5EF8-4EA6-A213-3F89F9024DBA}"/>
              </c:ext>
            </c:extLst>
          </c:dPt>
          <c:dPt>
            <c:idx val="2"/>
            <c:bubble3D val="0"/>
            <c:spPr>
              <a:solidFill>
                <a:srgbClr val="3FBF8F"/>
              </a:solidFill>
              <a:effectLst/>
            </c:spPr>
            <c:extLst>
              <c:ext xmlns:c16="http://schemas.microsoft.com/office/drawing/2014/chart" uri="{C3380CC4-5D6E-409C-BE32-E72D297353CC}">
                <c16:uniqueId val="{00000005-5EF8-4EA6-A213-3F89F9024DBA}"/>
              </c:ext>
            </c:extLst>
          </c:dPt>
          <c:dLbls>
            <c:dLbl>
              <c:idx val="0"/>
              <c:numFmt formatCode="0&quot;%&quot;" sourceLinked="0"/>
              <c:spPr/>
              <c:txPr>
                <a:bodyPr/>
                <a:lstStyle/>
                <a:p>
                  <a:pPr>
                    <a:defRPr sz="1100" b="0" i="0" u="none" strike="noStrike">
                      <a:solidFill>
                        <a:srgbClr val="FFFFFF"/>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EF8-4EA6-A213-3F89F9024DBA}"/>
                </c:ext>
              </c:extLst>
            </c:dLbl>
            <c:dLbl>
              <c:idx val="1"/>
              <c:numFmt formatCode="0&quot;%&quot;" sourceLinked="0"/>
              <c:spPr/>
              <c:txPr>
                <a:bodyPr/>
                <a:lstStyle/>
                <a:p>
                  <a:pPr>
                    <a:defRPr sz="1100" b="0" i="0" u="none" strike="noStrike">
                      <a:solidFill>
                        <a:srgbClr val="FFFFFF"/>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EF8-4EA6-A213-3F89F9024DBA}"/>
                </c:ext>
              </c:extLst>
            </c:dLbl>
            <c:dLbl>
              <c:idx val="2"/>
              <c:numFmt formatCode="0&quot;%&quot;" sourceLinked="0"/>
              <c:spPr/>
              <c:txPr>
                <a:bodyPr/>
                <a:lstStyle/>
                <a:p>
                  <a:pPr>
                    <a:defRPr sz="1100" b="0" i="0" u="none" strike="noStrike">
                      <a:solidFill>
                        <a:srgbClr val="FFFFFF"/>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EF8-4EA6-A213-3F89F9024DBA}"/>
                </c:ext>
              </c:extLst>
            </c:dLbl>
            <c:numFmt formatCode="0&quot;%&quot;"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Scanned documents</c:v>
                </c:pt>
                <c:pt idx="1">
                  <c:v>Scanner-app watermark strips</c:v>
                </c:pt>
                <c:pt idx="2">
                  <c:v>Site photographs</c:v>
                </c:pt>
              </c:strCache>
            </c:strRef>
          </c:cat>
          <c:val>
            <c:numRef>
              <c:f>Sheet1!$B$2:$B$4</c:f>
              <c:numCache>
                <c:formatCode>General</c:formatCode>
                <c:ptCount val="3"/>
                <c:pt idx="0">
                  <c:v>66</c:v>
                </c:pt>
                <c:pt idx="1">
                  <c:v>24</c:v>
                </c:pt>
                <c:pt idx="2">
                  <c:v>10</c:v>
                </c:pt>
              </c:numCache>
            </c:numRef>
          </c:val>
          <c:extLst>
            <c:ext xmlns:c16="http://schemas.microsoft.com/office/drawing/2014/chart" uri="{C3380CC4-5D6E-409C-BE32-E72D297353CC}">
              <c16:uniqueId val="{00000006-5EF8-4EA6-A213-3F89F9024DBA}"/>
            </c:ext>
          </c:extLst>
        </c:ser>
        <c:dLbls>
          <c:showLegendKey val="0"/>
          <c:showVal val="0"/>
          <c:showCatName val="0"/>
          <c:showSerName val="0"/>
          <c:showPercent val="0"/>
          <c:showBubbleSize val="0"/>
          <c:showLeaderLines val="0"/>
        </c:dLbls>
        <c:firstSliceAng val="0"/>
        <c:holeSize val="55"/>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881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0:00 to 0:20 (20s)
"Good morning. We are Team [NAME], and we are here for Problem Statement 26102.
Our project is called NAZAR — the eye on every rupee. It is a platform that reads every MPLADS work and every document an implementing agency uploads, and tells an officer which ones deserve a second look — and exactly why.
Everything on this deck is measured. We have already ingested five thousand works and pulled three and a half thousand images out of them. One number I want you to hold on to: seventy. I'll come back to it.
First, the money."
DELIVERY: Do not read the pills. Point at "70" and move on. Keep this under 20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0:20 to 1:00 (40s)
"MPLADS gives every MP five crore rupees a year. Seven hundred and eighty-eight MPs. That is roughly three thousand nine hundred crore rupees flowing out every year, through District Authorities and hundreds of implementing agencies, into hundreds of thousands of small works — a road, a borewell, a community hall.
Now look at how that is watched. A sample of works gets physically inspected. Districts report progress manually. The CAG audit lands years after the money is gone. And the completion photographs and measurement books that agencies upload? They are filed. They are never compared — not against each other, not across districts, not across years.
The volume is machine scale. The scrutiny is human scale. That gap is the problem."
DELIVERY: land the last line, then move immediately.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1:00 to 1:30 (30s)
"And this is not hypothetical. These are three findings from the audit record.
One: works across nine villages reported complete, funds disbursed — and in the auditors' words, not a single brick had been laid.
Two: in Nagaland, five point eight six crore paid on short-executed works, using fictitious measurement-book entries. Falsified paperwork.
Three: forty-five lakh claimed to renovate a Panchayat building that had already been funded and renovated the year before.
Phantom work. Falsified evidence. Duplicate claims. We built a detector for each one — because we read the audit record first and then asked which of these leaves a trace in the data the portal already publishes."
DELIVERY: three cards, ten seconds each. Do not read the source lines.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1:30 to 1:50 (20s), then HAND OFF
"So why does none of it get caught?
Four reasons. Inspection is sampled, not total. Audit is post-hoc — years late. The evidence agencies upload is stored, never cross-checked. And there is no shared memory: one district cannot see that a photograph was already used in another state.
Think about that last one. A photo reused in two constituencies fourteen hundred kilometres apart is invisible to every control that exists today. To a hashing pipeline, it is a thirty-millisecond lookup.
That asymmetry is the whole opportunity. [NAME] will show you what we built on it."
DELIVERY: Hand off explicitly by name. Total for Speaker 1: 1 minute 50.</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1:50 to 2:20 (30s)
"Thank you. This is NAZAR.
In one sentence: it ingests every MPLADS work and every attachment agencies upload, scores each work with five independent detection engines, and hands an officer a ranked queue where every flag carries the rule text, the peer statistic, or the duplicate image that produced it.
Three commitments shape the whole build.
It is explainable — every score breaks down into named contributions. An officer who cannot see why will not act, so 'the model said so' is not an output we allow.
It is evidence-tiered — a byte-identical file and a statistical resemblance are not the same claim, and we never collapse them into one number.
And it never accuses. The vocabulary is 'flagged for review'. A human decides, and that decision calibrates the next run."
DELIVERY: The one-sentence description is the most important sentence in the pitch. Slow down for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2:20 to 2:50 (30s)
"Architecturally it is five stages.
We ingest from the MPLADS portal's own REST API — throttled, resumable, and written to cover all five hundred and forty-three constituencies.
We build a canonical layer: we join completed works to sanctioned works, derive the real activity taxonomy, assign peer groups, and unwrap and triage every attachment.
Five engines then score each work. Rules. Anomaly detection. Photo reuse. Text duplicates. Benford digit analysis.
Fusion combines them into one score that still decomposes into named parts.
And the Command Centre delivers it to an officer, scoped to their jurisdiction.
One thing to notice: the evaluation harness runs across all of it, and we built it before we built a single detector. No threshold in this system was tuned by intuition."
DELIVERY: Trace the arrows with your hand, left to right. Do not read every sub-bullet.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2:50 to 3:20 (30s), then HAND OFF
"One thing worth saying: nobody handed us a dataset. We scraped it from the MPLADS portal's own REST API — five thousand one hundred completed works, seventy-six constituencies, five states, and nearly four thousand attachment files.
And then, before we modelled anything, we measured it. That saved us from a serious mistake.
The obvious column to group works by is WORK_CATEGORY. It turns out to be ninety-eight point six percent a single value. If you fit a model per category — which is what our own first design did — you get one global model wearing a costume.
The real taxonomy is buried inside another field. Strip a prefix and two hundred and five genuine activities appear — roads, street lighting, community halls, borewells. That chart is real data from our corpus. So our peer groups key on activity and state, not on a column that doesn't vary.
[NAME] will take you through the engines."
DELIVERY: This slide proves rigour. The "98.6%" moment is where judges start trusting you.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3:20 to 4:00 (40s)
"Engine one is rules — and the important word is 'citable'.
The strongest is the seventy-five day deadline: MPLADS Guidelines say a work must be sanctioned within seventy-five days of the recommendation being received. That is hard, dated, and we can compute it today. The five crore entitlement. The seventy-five lakh ceiling on trusts and societies. And General Financial Rules 2017, Rule 163 — a demand must not be split into small pieces to dodge a higher sanctioning authority. We cluster near-identical descriptions and check whether the cluster's total crosses the line the individual works stayed under.
Two things on the right that I want to be honest about.
Sanction-limit breaches: zero, across the nine hundred and twenty-nine works we could join. The portal enforces its own ceiling. We report zero. We do not dress up a clean control as a finding.
And our own first blueprint had a headline rule about a ten lakh threshold. We went to look for that threshold in the Guidelines. It isn't there. So we deleted our own best-looking rule. A detector may only claim a legal basis if that basis is real."
DELIVERY: The deleted-rule story is your credibility moment. Say it with a straight face, not apologetically.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4:00 to 4:55 (55s), then HAND OFF
"Engine two is the machine-learning layer, and it starts from an uncomfortable fact: there are no fraud labels. Not in this data, not realistically anywhere for MPLADS. So a supervised classifier here would be a fiction, and we don't build one.
Isolation Forest and Local Outlier Factor need no labels. They find works that sit far from their own peer group across many dimensions at once — cost per unit, underspend against sanction, stage latency, attachment count, year-end clustering, and how many rules already fired. That is the multivariate pattern no single rule can express.
The word 'peer' is doing real work there. A nine-point-eight lakh borewell in Bihar is compared against the three hundred and eighty-three other borewells, in its state, at its activity level — not against a national average of 'Normal / Others'. Where a group is too small, we fall back, and we tell the officer which fallback was used.
Everything then fuses into one score with a severity floor — so one near-certain signal is never diluted by three quiet ones. But the score always comes apart again into named contributions.
[NAME] now takes the part most teams won't have."
DELIVERY: "There are no fraud labels. Anywhere." — pause after it. It reframes the whole problem for the judges.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 4:55 to 5:30 (35s)
"This is the part most teams will not have, because it needs the attachments — and the attachments are hostile.
First: only twelve percent of works have a .jpg. If your pipeline globs for jpg files, you see a fifth of the evidence and conclude the rest is missing.
Second: every 'PDF' on that portal is a single-page envelope wrapped around exactly one JPEG. Zero fonts, one image stream. We unwrap the original bytes — and eight hundred images become three thousand five hundred and fifty. Four times the evidence, and crucially with no re-encoding, because byte-identity is our strongest proof tier and recompression would destroy it.
Third, and this is the interesting one: the dominant evidence type is not a landscape photo. It is a Measurement Book page — a government document with quantities, rates and amounts on it. Which is exactly the artefact the Nagaland audit found had been falsified.
The chart is our own measurement: two thirds scanned paperwork, a quarter scanner-app junk we drop, and ten percent actual site photos."
DELIVERY: "826 becomes 3,550" is the line. Say the number twice if you have to.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 5:30 to 6:15 (45s)
"Here is what came back — and remember, this is fourteen percent of the country.
Seventy groups of byte-identical attachments, filed against different works. Work ID one-seven-four-two-nine-one and one-seven-four-three-zero-four share three identical files. That is an MD5 match. Not a similarity score, not a judgement call — the same file, submitted twice, against two different works. Tier one evidence.
Now the middle card, because I think it matters more than the first.
One perceptual-hash bucket held a hundred and seventy-six images, spread across twenty constituencies and five states. If we had shipped that, it would have looked like the biggest finding in the deck. It was a scanner-app watermark strip. It was nothing.
That near-miss is why we built entropy floors, minimum-dimension floors, bucket-size caps, and keypoint confirmation before anything reaches an officer. Raw perceptual hashing gave us three thousand six hundred candidate pairs in this corpus — completely unusable. Tiering is what turns it into evidence.
And the third: EXIF is stripped by the portal, but the GPS Map Camera app burns latitude, longitude and the timestamp into the pixels. OCR gets them back. One work we sampled carries a photo stamped November 2023 against a 2024-25 letter number."
DELIVERY: This is the strongest slide in the deck. The 176 story is what separates you from teams who only demo happy paths. Give it the time.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 6:15 to 6:45 (30s), then HAND OFF
"Two more engines, quickly.
Engine four reads the descriptions. Sentence-transformer embeddings, clustered across financial years — not within one. That across-years part is deliberate: it is the exact shape of the forty-five lakh case, the same Panchayat building renovated and billed a second time twelve months later. A within-year check would never see it. Those same clusters feed the Rule 163 check — several near-identical works from one agency in a short window, each safely under the limit, but the cluster total crossing it.
Engine five is Benford's Law, per implementing agency. Real invoiced amounts follow a known digit curve; composed amounts usually don't. In our corpus, seven hundred and seventeen amounts are exact one-lakh multiples and twelve works are recorded at a rupee or less.
But note the constraint at the bottom: Benford runs at agency level, never per work. A digit test cannot say anything about one transaction, and we don't let it try.
[NAME] — over to you for the question every judge is about to ask."
DELIVERY: Fast slide. Set up Speaker 5's question in your last line.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 6:45 to 7:30 (45s)
"The question you are about to ask us is: with no labels, how do you know any of this works?
Here is our answer. We build the fraud ourselves, and we measure whether we catch it.
Step one — we take real mechanisms, not invented ones. Every injected pattern is a documented audit finding, with parameters from the real case: the real amounts, the real intervals.
Step two — we clone real rows into those shapes and tag them. Phantom work with no evidence. Cross-year duplicate claim. Rule 163 splitting. Non-standard implementing agency. Overpayment against peers. Reused photograph. Broken sequencing. Deadline breach.
Step three, and this one is a hard rule — the planted cases are quarantined. They carry a synthetic flag, they are excluded at the query layer, not at the interface, and we have a test that proves a synthetic row cannot reach a default response. They never touch anything an officer sees.
Step four — we publish per-pattern recall and precision. Including the patterns we miss. A detector that catches six of eight is useful. One that claims eight of eight without measuring is not.
And the harness was written before the first detector existed. So no threshold in this system was ever set by intuition."
DELIVERY: Open by naming the judges' question out loud. It disarms them and it earns the next 45 seconds.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 7:30 to 8:20 (50s), then HAND OFF
"So what does an officer actually get?
A ranked queue, scoped to their jurisdiction — an MP, a State Nodal Authority, a District Authority and the Ministry each see only what is theirs, and that scoping is enforced in the API, not in the interface.
A work card that leads with the reason, not the score: the rule text and its source, the peer statistic and which peer group it came from, and where it's a duplicate, the two images side by side at full size.
Every flag carries an evidence-tier badge — byte-identical, keypoint-confirmed, or statistically similar — so the officer knows the strength of the claim before deciding.
And then Confirm or Dismiss. Every decision is logged with its reason and feeds calibration, so the queue gets better at what this district actually cares about.
One last thing, on the right, and I want to be direct about it. This system names real, living public officials. So the vocabulary is enforced in code. 'Flagged for review' is permitted. 'Fraudulent' is not — not in the interface, not in the API, not in the logs. That constraint is in our tests, not on a slide.
[NAME] will close on feasibility and impact."
DELIVERY: The right-hand card is an ethics answer judges rarely get. Do not rush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6 — 8:20 to 8:55 (35s)
"Thank you. Feasibility, quickly, because this is the part that decides whether a good idea ever runs in a district office.
Everything here is open source and everything runs on CPU. There is no GPU in this pipeline and no managed cloud service it depends on — so it deploys onto infrastructure the government already has, rather than requiring new procurement.
And note what we deliberately left out: no Kubernetes, no graph database, no vector cluster, no blockchain. At this data scale each one adds operational cost and nothing else. Complexity we can't justify is complexity a district IT team has to run at three in the morning.
On the right, the honest risk register. The biggest risk is not missing fraud — it is false positives, because they destroy trust faster than fraud does. That is why the evidence is tiered and why a human confirms before anything happens. Coverage today is seventy-six of roughly five hundred and forty-three constituencies, so every aggregate view states its own coverage on screen. And we throttle the government's portal at point-six seconds and never parallelise it — if we need more data, we wait longer, not harder."
DELIVERY: "No GPU" and "no new procurement" are the two phrases that matter to a government judge.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6 — 8:55 to 9:45 (50s), then close
"Who benefits, and how.
The District Authority gets a ranked day's work with the evidence already attached, instead of a random sample.
The State Nodal Authority sees which implementing agencies deviate from their peers, and on what basis.
The Ministry sees absorption, compliance and duplicate-evidence patterns nationally — with coverage honestly stated on every view.
And the Member of Parliament gets something they currently cannot get at all: proof that the works recommended in their constituency stand up to scrutiny.
Where it goes next: today, five engines across five states with the evaluation harness running. By the Grand Finale, the national scrape complete, OCR geo-verification of photographs, and citizen verification. Then a live pilot in one state with the payment feed joined in, and then scale — alerts as works are filed, not after the financial year closes.
I'll close on this. Every number on this deck was measured in our own repository. Seventy duplicate groups. Three thousand five hundred and fifty images. Two hundred and five activities. None of it is illustrative — it is what the data gave us when we actually looked.
Thank you. We're happy to take questions."
DELIVERY: Land "none of it is illustrative", then stop. Do not add anything after "thank you". Total runtime: 9:45, leaving 15 seconds of buffer.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8869680" y="1737360"/>
            <a:ext cx="2651760" cy="2651760"/>
          </a:xfrm>
          <a:prstGeom prst="ellipse">
            <a:avLst/>
          </a:prstGeom>
          <a:solidFill>
            <a:srgbClr val="0A1628">
              <a:alpha val="0"/>
            </a:srgbClr>
          </a:solidFill>
          <a:ln w="15875">
            <a:solidFill>
              <a:srgbClr val="2C4A6B"/>
            </a:solidFill>
            <a:prstDash val="solid"/>
          </a:ln>
        </p:spPr>
      </p:sp>
      <p:sp>
        <p:nvSpPr>
          <p:cNvPr id="3" name="Shape 1"/>
          <p:cNvSpPr/>
          <p:nvPr/>
        </p:nvSpPr>
        <p:spPr>
          <a:xfrm>
            <a:off x="9373514" y="2241194"/>
            <a:ext cx="1644091" cy="1644091"/>
          </a:xfrm>
          <a:prstGeom prst="ellipse">
            <a:avLst/>
          </a:prstGeom>
          <a:solidFill>
            <a:srgbClr val="0A1628">
              <a:alpha val="0"/>
            </a:srgbClr>
          </a:solidFill>
          <a:ln w="15875">
            <a:solidFill>
              <a:srgbClr val="2C4A6B"/>
            </a:solidFill>
            <a:prstDash val="solid"/>
          </a:ln>
        </p:spPr>
      </p:sp>
      <p:sp>
        <p:nvSpPr>
          <p:cNvPr id="4" name="Shape 2"/>
          <p:cNvSpPr/>
          <p:nvPr/>
        </p:nvSpPr>
        <p:spPr>
          <a:xfrm>
            <a:off x="9850831" y="2718511"/>
            <a:ext cx="689458" cy="689458"/>
          </a:xfrm>
          <a:prstGeom prst="ellipse">
            <a:avLst/>
          </a:prstGeom>
          <a:solidFill>
            <a:srgbClr val="F2A03D"/>
          </a:solidFill>
          <a:ln/>
        </p:spPr>
      </p:sp>
      <p:sp>
        <p:nvSpPr>
          <p:cNvPr id="5" name="Text 3"/>
          <p:cNvSpPr txBox="1"/>
          <p:nvPr/>
        </p:nvSpPr>
        <p:spPr>
          <a:xfrm>
            <a:off x="566928" y="1600200"/>
            <a:ext cx="7498080" cy="1234440"/>
          </a:xfrm>
          <a:prstGeom prst="rect">
            <a:avLst/>
          </a:prstGeom>
          <a:noFill/>
          <a:ln/>
        </p:spPr>
        <p:txBody>
          <a:bodyPr wrap="square" lIns="0" tIns="0" rIns="0" bIns="0" rtlCol="0" anchor="ctr"/>
          <a:lstStyle/>
          <a:p>
            <a:pPr marL="0" indent="0">
              <a:buNone/>
            </a:pPr>
            <a:r>
              <a:rPr lang="en-US" sz="7600" b="1" kern="0" spc="600" dirty="0">
                <a:solidFill>
                  <a:srgbClr val="F4F7FA"/>
                </a:solidFill>
                <a:latin typeface="Cambria" pitchFamily="34" charset="0"/>
                <a:ea typeface="Cambria" pitchFamily="34" charset="-122"/>
                <a:cs typeface="Cambria" pitchFamily="34" charset="-120"/>
              </a:rPr>
              <a:t>NAZAR</a:t>
            </a:r>
            <a:endParaRPr lang="en-US" sz="7600" dirty="0"/>
          </a:p>
        </p:txBody>
      </p:sp>
      <p:sp>
        <p:nvSpPr>
          <p:cNvPr id="6" name="Text 4"/>
          <p:cNvSpPr txBox="1"/>
          <p:nvPr/>
        </p:nvSpPr>
        <p:spPr>
          <a:xfrm>
            <a:off x="566928" y="2788920"/>
            <a:ext cx="7498080" cy="384048"/>
          </a:xfrm>
          <a:prstGeom prst="rect">
            <a:avLst/>
          </a:prstGeom>
          <a:noFill/>
          <a:ln/>
        </p:spPr>
        <p:txBody>
          <a:bodyPr wrap="square" lIns="0" tIns="0" rIns="0" bIns="0" rtlCol="0" anchor="ctr"/>
          <a:lstStyle/>
          <a:p>
            <a:pPr marL="0" indent="0">
              <a:buNone/>
            </a:pPr>
            <a:r>
              <a:rPr lang="en-US" sz="2000" i="1" dirty="0">
                <a:solidFill>
                  <a:srgbClr val="F2A03D"/>
                </a:solidFill>
                <a:latin typeface="Cambria" pitchFamily="34" charset="0"/>
                <a:ea typeface="Cambria" pitchFamily="34" charset="-122"/>
                <a:cs typeface="Cambria" pitchFamily="34" charset="-120"/>
              </a:rPr>
              <a:t>The eye on every rupee.</a:t>
            </a:r>
            <a:endParaRPr lang="en-US" sz="2000" dirty="0"/>
          </a:p>
        </p:txBody>
      </p:sp>
      <p:sp>
        <p:nvSpPr>
          <p:cNvPr id="7" name="Text 5"/>
          <p:cNvSpPr txBox="1"/>
          <p:nvPr/>
        </p:nvSpPr>
        <p:spPr>
          <a:xfrm>
            <a:off x="566928" y="3310128"/>
            <a:ext cx="7223760" cy="868680"/>
          </a:xfrm>
          <a:prstGeom prst="rect">
            <a:avLst/>
          </a:prstGeom>
          <a:noFill/>
          <a:ln/>
        </p:spPr>
        <p:txBody>
          <a:bodyPr wrap="square" lIns="0" tIns="0" rIns="0" bIns="0" rtlCol="0" anchor="ctr"/>
          <a:lstStyle/>
          <a:p>
            <a:pPr marL="0" indent="0">
              <a:lnSpc>
                <a:spcPts val="2200"/>
              </a:lnSpc>
              <a:buNone/>
            </a:pPr>
            <a:r>
              <a:rPr lang="en-US" sz="1450" dirty="0">
                <a:solidFill>
                  <a:srgbClr val="9DB3CC"/>
                </a:solidFill>
                <a:latin typeface="Calibri" pitchFamily="34" charset="0"/>
                <a:ea typeface="Calibri" pitchFamily="34" charset="-122"/>
                <a:cs typeface="Calibri" pitchFamily="34" charset="-120"/>
              </a:rPr>
              <a:t>An explainable AI platform that detects anomalies, fraud and inefficiency in MPLADS fund utilisation and work execution — and shows an officer the exact rule, statistic or duplicate image behind every flag.</a:t>
            </a:r>
            <a:endParaRPr lang="en-US" sz="1450" dirty="0"/>
          </a:p>
        </p:txBody>
      </p:sp>
      <p:sp>
        <p:nvSpPr>
          <p:cNvPr id="8" name="Shape 6"/>
          <p:cNvSpPr/>
          <p:nvPr/>
        </p:nvSpPr>
        <p:spPr>
          <a:xfrm>
            <a:off x="566928" y="4370832"/>
            <a:ext cx="2286000" cy="960120"/>
          </a:xfrm>
          <a:prstGeom prst="roundRect">
            <a:avLst>
              <a:gd name="adj" fmla="val 5714"/>
            </a:avLst>
          </a:prstGeom>
          <a:solidFill>
            <a:srgbClr val="15263D"/>
          </a:solidFill>
          <a:ln w="12700">
            <a:solidFill>
              <a:srgbClr val="1D3350"/>
            </a:solidFill>
            <a:prstDash val="solid"/>
          </a:ln>
        </p:spPr>
      </p:sp>
      <p:sp>
        <p:nvSpPr>
          <p:cNvPr id="9" name="Text 7"/>
          <p:cNvSpPr txBox="1"/>
          <p:nvPr/>
        </p:nvSpPr>
        <p:spPr>
          <a:xfrm>
            <a:off x="731520" y="4462272"/>
            <a:ext cx="1965960" cy="384048"/>
          </a:xfrm>
          <a:prstGeom prst="rect">
            <a:avLst/>
          </a:prstGeom>
          <a:noFill/>
          <a:ln/>
        </p:spPr>
        <p:txBody>
          <a:bodyPr wrap="square" lIns="0" tIns="0" rIns="0" bIns="0" rtlCol="0" anchor="ctr"/>
          <a:lstStyle/>
          <a:p>
            <a:pPr marL="0" indent="0">
              <a:buNone/>
            </a:pPr>
            <a:r>
              <a:rPr lang="en-US" sz="2600" b="1" dirty="0">
                <a:solidFill>
                  <a:srgbClr val="F2A03D"/>
                </a:solidFill>
                <a:latin typeface="Cambria" pitchFamily="34" charset="0"/>
                <a:ea typeface="Cambria" pitchFamily="34" charset="-122"/>
                <a:cs typeface="Cambria" pitchFamily="34" charset="-120"/>
              </a:rPr>
              <a:t>5,133</a:t>
            </a:r>
            <a:endParaRPr lang="en-US" sz="2600" dirty="0"/>
          </a:p>
        </p:txBody>
      </p:sp>
      <p:sp>
        <p:nvSpPr>
          <p:cNvPr id="10" name="Text 8"/>
          <p:cNvSpPr txBox="1"/>
          <p:nvPr/>
        </p:nvSpPr>
        <p:spPr>
          <a:xfrm>
            <a:off x="731520" y="4828032"/>
            <a:ext cx="1965960" cy="438912"/>
          </a:xfrm>
          <a:prstGeom prst="rect">
            <a:avLst/>
          </a:prstGeom>
          <a:noFill/>
          <a:ln/>
        </p:spPr>
        <p:txBody>
          <a:bodyPr wrap="square" lIns="0" tIns="0" rIns="0" bIns="0" rtlCol="0" anchor="ctr"/>
          <a:lstStyle/>
          <a:p>
            <a:pPr marL="0" indent="0">
              <a:buNone/>
            </a:pPr>
            <a:r>
              <a:rPr lang="en-US" sz="1050" dirty="0">
                <a:solidFill>
                  <a:srgbClr val="9DB3CC"/>
                </a:solidFill>
                <a:latin typeface="Calibri" pitchFamily="34" charset="0"/>
                <a:ea typeface="Calibri" pitchFamily="34" charset="-122"/>
                <a:cs typeface="Calibri" pitchFamily="34" charset="-120"/>
              </a:rPr>
              <a:t>works already ingested</a:t>
            </a:r>
            <a:endParaRPr lang="en-US" sz="1050" dirty="0"/>
          </a:p>
        </p:txBody>
      </p:sp>
      <p:sp>
        <p:nvSpPr>
          <p:cNvPr id="11" name="Shape 9"/>
          <p:cNvSpPr/>
          <p:nvPr/>
        </p:nvSpPr>
        <p:spPr>
          <a:xfrm>
            <a:off x="3054096" y="4370832"/>
            <a:ext cx="2286000" cy="960120"/>
          </a:xfrm>
          <a:prstGeom prst="roundRect">
            <a:avLst>
              <a:gd name="adj" fmla="val 5714"/>
            </a:avLst>
          </a:prstGeom>
          <a:solidFill>
            <a:srgbClr val="15263D"/>
          </a:solidFill>
          <a:ln w="12700">
            <a:solidFill>
              <a:srgbClr val="1D3350"/>
            </a:solidFill>
            <a:prstDash val="solid"/>
          </a:ln>
        </p:spPr>
      </p:sp>
      <p:sp>
        <p:nvSpPr>
          <p:cNvPr id="12" name="Text 10"/>
          <p:cNvSpPr txBox="1"/>
          <p:nvPr/>
        </p:nvSpPr>
        <p:spPr>
          <a:xfrm>
            <a:off x="3218688" y="4462272"/>
            <a:ext cx="1965960" cy="384048"/>
          </a:xfrm>
          <a:prstGeom prst="rect">
            <a:avLst/>
          </a:prstGeom>
          <a:noFill/>
          <a:ln/>
        </p:spPr>
        <p:txBody>
          <a:bodyPr wrap="square" lIns="0" tIns="0" rIns="0" bIns="0" rtlCol="0" anchor="ctr"/>
          <a:lstStyle/>
          <a:p>
            <a:pPr marL="0" indent="0">
              <a:buNone/>
            </a:pPr>
            <a:r>
              <a:rPr lang="en-US" sz="2600" b="1" dirty="0">
                <a:solidFill>
                  <a:srgbClr val="F2A03D"/>
                </a:solidFill>
                <a:latin typeface="Cambria" pitchFamily="34" charset="0"/>
                <a:ea typeface="Cambria" pitchFamily="34" charset="-122"/>
                <a:cs typeface="Cambria" pitchFamily="34" charset="-120"/>
              </a:rPr>
              <a:t>3,550</a:t>
            </a:r>
            <a:endParaRPr lang="en-US" sz="2600" dirty="0"/>
          </a:p>
        </p:txBody>
      </p:sp>
      <p:sp>
        <p:nvSpPr>
          <p:cNvPr id="13" name="Text 11"/>
          <p:cNvSpPr txBox="1"/>
          <p:nvPr/>
        </p:nvSpPr>
        <p:spPr>
          <a:xfrm>
            <a:off x="3218688" y="4828032"/>
            <a:ext cx="1965960" cy="438912"/>
          </a:xfrm>
          <a:prstGeom prst="rect">
            <a:avLst/>
          </a:prstGeom>
          <a:noFill/>
          <a:ln/>
        </p:spPr>
        <p:txBody>
          <a:bodyPr wrap="square" lIns="0" tIns="0" rIns="0" bIns="0" rtlCol="0" anchor="ctr"/>
          <a:lstStyle/>
          <a:p>
            <a:pPr marL="0" indent="0">
              <a:buNone/>
            </a:pPr>
            <a:r>
              <a:rPr lang="en-US" sz="1050" dirty="0">
                <a:solidFill>
                  <a:srgbClr val="9DB3CC"/>
                </a:solidFill>
                <a:latin typeface="Calibri" pitchFamily="34" charset="0"/>
                <a:ea typeface="Calibri" pitchFamily="34" charset="-122"/>
                <a:cs typeface="Calibri" pitchFamily="34" charset="-120"/>
              </a:rPr>
              <a:t>evidence images extracted</a:t>
            </a:r>
            <a:endParaRPr lang="en-US" sz="1050" dirty="0"/>
          </a:p>
        </p:txBody>
      </p:sp>
      <p:sp>
        <p:nvSpPr>
          <p:cNvPr id="14" name="Shape 12"/>
          <p:cNvSpPr/>
          <p:nvPr/>
        </p:nvSpPr>
        <p:spPr>
          <a:xfrm>
            <a:off x="5541264" y="4370832"/>
            <a:ext cx="2286000" cy="960120"/>
          </a:xfrm>
          <a:prstGeom prst="roundRect">
            <a:avLst>
              <a:gd name="adj" fmla="val 5714"/>
            </a:avLst>
          </a:prstGeom>
          <a:solidFill>
            <a:srgbClr val="15263D"/>
          </a:solidFill>
          <a:ln w="12700">
            <a:solidFill>
              <a:srgbClr val="1D3350"/>
            </a:solidFill>
            <a:prstDash val="solid"/>
          </a:ln>
        </p:spPr>
      </p:sp>
      <p:sp>
        <p:nvSpPr>
          <p:cNvPr id="15" name="Text 13"/>
          <p:cNvSpPr txBox="1"/>
          <p:nvPr/>
        </p:nvSpPr>
        <p:spPr>
          <a:xfrm>
            <a:off x="5705856" y="4462272"/>
            <a:ext cx="1965960" cy="384048"/>
          </a:xfrm>
          <a:prstGeom prst="rect">
            <a:avLst/>
          </a:prstGeom>
          <a:noFill/>
          <a:ln/>
        </p:spPr>
        <p:txBody>
          <a:bodyPr wrap="square" lIns="0" tIns="0" rIns="0" bIns="0" rtlCol="0" anchor="ctr"/>
          <a:lstStyle/>
          <a:p>
            <a:pPr marL="0" indent="0">
              <a:buNone/>
            </a:pPr>
            <a:r>
              <a:rPr lang="en-US" sz="2600" b="1" dirty="0">
                <a:solidFill>
                  <a:srgbClr val="F2A03D"/>
                </a:solidFill>
                <a:latin typeface="Cambria" pitchFamily="34" charset="0"/>
                <a:ea typeface="Cambria" pitchFamily="34" charset="-122"/>
                <a:cs typeface="Cambria" pitchFamily="34" charset="-120"/>
              </a:rPr>
              <a:t>70</a:t>
            </a:r>
            <a:endParaRPr lang="en-US" sz="2600" dirty="0"/>
          </a:p>
        </p:txBody>
      </p:sp>
      <p:sp>
        <p:nvSpPr>
          <p:cNvPr id="16" name="Text 14"/>
          <p:cNvSpPr txBox="1"/>
          <p:nvPr/>
        </p:nvSpPr>
        <p:spPr>
          <a:xfrm>
            <a:off x="5705856" y="4828032"/>
            <a:ext cx="1965960" cy="438912"/>
          </a:xfrm>
          <a:prstGeom prst="rect">
            <a:avLst/>
          </a:prstGeom>
          <a:noFill/>
          <a:ln/>
        </p:spPr>
        <p:txBody>
          <a:bodyPr wrap="square" lIns="0" tIns="0" rIns="0" bIns="0" rtlCol="0" anchor="ctr"/>
          <a:lstStyle/>
          <a:p>
            <a:pPr marL="0" indent="0">
              <a:buNone/>
            </a:pPr>
            <a:r>
              <a:rPr lang="en-US" sz="1050" dirty="0">
                <a:solidFill>
                  <a:srgbClr val="9DB3CC"/>
                </a:solidFill>
                <a:latin typeface="Calibri" pitchFamily="34" charset="0"/>
                <a:ea typeface="Calibri" pitchFamily="34" charset="-122"/>
                <a:cs typeface="Calibri" pitchFamily="34" charset="-120"/>
              </a:rPr>
              <a:t>byte-identical duplicate groups found</a:t>
            </a:r>
            <a:endParaRPr lang="en-US" sz="1050" dirty="0"/>
          </a:p>
        </p:txBody>
      </p:sp>
      <p:sp>
        <p:nvSpPr>
          <p:cNvPr id="17" name="Text 15"/>
          <p:cNvSpPr txBox="1"/>
          <p:nvPr/>
        </p:nvSpPr>
        <p:spPr>
          <a:xfrm>
            <a:off x="566928" y="502920"/>
            <a:ext cx="11057839" cy="274320"/>
          </a:xfrm>
          <a:prstGeom prst="rect">
            <a:avLst/>
          </a:prstGeom>
          <a:noFill/>
          <a:ln/>
        </p:spPr>
        <p:txBody>
          <a:bodyPr wrap="square" lIns="0" tIns="0" rIns="0" bIns="0" rtlCol="0" anchor="ctr"/>
          <a:lstStyle/>
          <a:p>
            <a:pPr marL="0" indent="0">
              <a:buNone/>
            </a:pPr>
            <a:r>
              <a:rPr lang="en-US" sz="1150" b="1" kern="0" spc="160" dirty="0">
                <a:solidFill>
                  <a:srgbClr val="F2A03D"/>
                </a:solidFill>
                <a:latin typeface="Calibri" pitchFamily="34" charset="0"/>
                <a:ea typeface="Calibri" pitchFamily="34" charset="-122"/>
                <a:cs typeface="Calibri" pitchFamily="34" charset="-120"/>
              </a:rPr>
              <a:t>Smart India Hackathon 2026   ·   Problem Statement 26102   ·   Ministry of Statistics and Programme Implementation</a:t>
            </a:r>
            <a:endParaRPr lang="en-US" sz="1150" dirty="0"/>
          </a:p>
        </p:txBody>
      </p:sp>
      <p:sp>
        <p:nvSpPr>
          <p:cNvPr id="18" name="Text 16"/>
          <p:cNvSpPr txBox="1"/>
          <p:nvPr/>
        </p:nvSpPr>
        <p:spPr>
          <a:xfrm>
            <a:off x="566928" y="5797296"/>
            <a:ext cx="7315200" cy="274320"/>
          </a:xfrm>
          <a:prstGeom prst="rect">
            <a:avLst/>
          </a:prstGeom>
          <a:noFill/>
          <a:ln/>
        </p:spPr>
        <p:txBody>
          <a:bodyPr wrap="square" lIns="0" tIns="0" rIns="0" bIns="0" rtlCol="0" anchor="ctr"/>
          <a:lstStyle/>
          <a:p>
            <a:pPr marL="0" indent="0">
              <a:buNone/>
            </a:pPr>
            <a:r>
              <a:rPr lang="en-US" sz="1100" dirty="0">
                <a:solidFill>
                  <a:srgbClr val="6A8098"/>
                </a:solidFill>
                <a:latin typeface="Calibri" pitchFamily="34" charset="0"/>
                <a:ea typeface="Calibri" pitchFamily="34" charset="-122"/>
                <a:cs typeface="Calibri" pitchFamily="34" charset="-120"/>
              </a:rPr>
              <a:t>TEAM NAME  ·  Institution  ·  6 members</a:t>
            </a:r>
            <a:endParaRPr lang="en-US" sz="1100" dirty="0"/>
          </a:p>
        </p:txBody>
      </p:sp>
      <p:sp>
        <p:nvSpPr>
          <p:cNvPr id="19" name="Text 17"/>
          <p:cNvSpPr txBox="1"/>
          <p:nvPr/>
        </p:nvSpPr>
        <p:spPr>
          <a:xfrm>
            <a:off x="7967167" y="5797296"/>
            <a:ext cx="3657600" cy="274320"/>
          </a:xfrm>
          <a:prstGeom prst="rect">
            <a:avLst/>
          </a:prstGeom>
          <a:noFill/>
          <a:ln/>
        </p:spPr>
        <p:txBody>
          <a:bodyPr wrap="square" lIns="0" tIns="0" rIns="0" bIns="0" rtlCol="0" anchor="ctr"/>
          <a:lstStyle/>
          <a:p>
            <a:pPr marL="0" indent="0" algn="r">
              <a:buNone/>
            </a:pPr>
            <a:r>
              <a:rPr lang="en-US" sz="1100" dirty="0">
                <a:solidFill>
                  <a:srgbClr val="6A8098"/>
                </a:solidFill>
                <a:latin typeface="Calibri" pitchFamily="34" charset="0"/>
                <a:ea typeface="Calibri" pitchFamily="34" charset="-122"/>
                <a:cs typeface="Calibri" pitchFamily="34" charset="-120"/>
              </a:rPr>
              <a:t>10 minutes  ·  6 speakers</a:t>
            </a:r>
            <a:endParaRPr lang="en-US" sz="1100" dirty="0"/>
          </a:p>
        </p:txBody>
      </p:sp>
      <p:sp>
        <p:nvSpPr>
          <p:cNvPr id="21" name="Shape 18"/>
          <p:cNvSpPr/>
          <p:nvPr/>
        </p:nvSpPr>
        <p:spPr>
          <a:xfrm>
            <a:off x="566928" y="6309360"/>
            <a:ext cx="256032" cy="256032"/>
          </a:xfrm>
          <a:prstGeom prst="ellipse">
            <a:avLst/>
          </a:prstGeom>
          <a:solidFill>
            <a:srgbClr val="1D3350"/>
          </a:solidFill>
          <a:ln w="12700">
            <a:solidFill>
              <a:srgbClr val="F2A03D"/>
            </a:solidFill>
            <a:prstDash val="solid"/>
          </a:ln>
        </p:spPr>
      </p:sp>
      <p:sp>
        <p:nvSpPr>
          <p:cNvPr id="22" name="Text 19"/>
          <p:cNvSpPr txBox="1"/>
          <p:nvPr/>
        </p:nvSpPr>
        <p:spPr>
          <a:xfrm>
            <a:off x="566928" y="6309360"/>
            <a:ext cx="256032" cy="256032"/>
          </a:xfrm>
          <a:prstGeom prst="rect">
            <a:avLst/>
          </a:prstGeom>
          <a:noFill/>
          <a:ln/>
        </p:spPr>
        <p:txBody>
          <a:bodyPr wrap="square" lIns="0" tIns="0" rIns="0" bIns="0" rtlCol="0" anchor="ctr"/>
          <a:lstStyle/>
          <a:p>
            <a:pPr marL="0" indent="0" algn="ctr">
              <a:buNone/>
            </a:pPr>
            <a:r>
              <a:rPr lang="en-US" sz="1100" b="1" dirty="0">
                <a:solidFill>
                  <a:srgbClr val="F2A03D"/>
                </a:solidFill>
                <a:latin typeface="Calibri" pitchFamily="34" charset="0"/>
                <a:ea typeface="Calibri" pitchFamily="34" charset="-122"/>
                <a:cs typeface="Calibri" pitchFamily="34" charset="-120"/>
              </a:rPr>
              <a:t>1</a:t>
            </a:r>
            <a:endParaRPr lang="en-US" sz="1100" dirty="0"/>
          </a:p>
        </p:txBody>
      </p:sp>
      <p:sp>
        <p:nvSpPr>
          <p:cNvPr id="23" name="Text 20"/>
          <p:cNvSpPr txBox="1"/>
          <p:nvPr/>
        </p:nvSpPr>
        <p:spPr>
          <a:xfrm>
            <a:off x="914400" y="6309360"/>
            <a:ext cx="4572000" cy="256032"/>
          </a:xfrm>
          <a:prstGeom prst="rect">
            <a:avLst/>
          </a:prstGeom>
          <a:noFill/>
          <a:ln/>
        </p:spPr>
        <p:txBody>
          <a:bodyPr wrap="square" lIns="0" tIns="0" rIns="0" bIns="0" rtlCol="0" anchor="ctr"/>
          <a:lstStyle/>
          <a:p>
            <a:pPr marL="0" indent="0">
              <a:buNone/>
            </a:pPr>
            <a:r>
              <a:rPr lang="en-US" sz="1050" b="1" kern="0" spc="110" dirty="0">
                <a:solidFill>
                  <a:srgbClr val="9DB3CC"/>
                </a:solidFill>
                <a:latin typeface="Calibri" pitchFamily="34" charset="0"/>
                <a:ea typeface="Calibri" pitchFamily="34" charset="-122"/>
                <a:cs typeface="Calibri" pitchFamily="34" charset="-120"/>
              </a:rPr>
              <a:t>SPEAKER 1   ·   0:00 – 0:20</a:t>
            </a:r>
            <a:endParaRPr lang="en-US" sz="1050" dirty="0"/>
          </a:p>
        </p:txBody>
      </p:sp>
      <p:sp>
        <p:nvSpPr>
          <p:cNvPr id="24" name="Text 21"/>
          <p:cNvSpPr txBox="1"/>
          <p:nvPr/>
        </p:nvSpPr>
        <p:spPr>
          <a:xfrm>
            <a:off x="7052767" y="6309360"/>
            <a:ext cx="4572000" cy="256032"/>
          </a:xfrm>
          <a:prstGeom prst="rect">
            <a:avLst/>
          </a:prstGeom>
          <a:noFill/>
          <a:ln/>
        </p:spPr>
        <p:txBody>
          <a:bodyPr wrap="square" lIns="0" tIns="0" rIns="0" bIns="0" rtlCol="0" anchor="ctr"/>
          <a:lstStyle/>
          <a:p>
            <a:pPr marL="0" indent="0" algn="r">
              <a:buNone/>
            </a:pPr>
            <a:r>
              <a:rPr lang="en-US" sz="1050" dirty="0">
                <a:solidFill>
                  <a:srgbClr val="6A8098"/>
                </a:solidFill>
                <a:latin typeface="Calibri" pitchFamily="34" charset="0"/>
                <a:ea typeface="Calibri" pitchFamily="34" charset="-122"/>
                <a:cs typeface="Calibri" pitchFamily="34" charset="-120"/>
              </a:rPr>
              <a:t>NAZAR   ·   SIH 2026   ·   PS 26102   ·   1/16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marL="0" indent="0">
              <a:buNone/>
            </a:pPr>
            <a:r>
              <a:rPr lang="en-US" sz="1150" b="1" kern="0" spc="220" dirty="0">
                <a:solidFill>
                  <a:srgbClr val="F2A03D"/>
                </a:solidFill>
                <a:latin typeface="Calibri" pitchFamily="34" charset="0"/>
                <a:ea typeface="Calibri" pitchFamily="34" charset="-122"/>
                <a:cs typeface="Calibri" pitchFamily="34" charset="-120"/>
              </a:rPr>
              <a:t>THE SCHEME</a:t>
            </a:r>
            <a:endParaRPr lang="en-US" sz="1150" dirty="0"/>
          </a:p>
        </p:txBody>
      </p:sp>
      <p:sp>
        <p:nvSpPr>
          <p:cNvPr id="3" name="Text 1"/>
          <p:cNvSpPr txBox="1"/>
          <p:nvPr/>
        </p:nvSpPr>
        <p:spPr>
          <a:xfrm>
            <a:off x="566928" y="621792"/>
            <a:ext cx="11057839" cy="749808"/>
          </a:xfrm>
          <a:prstGeom prst="rect">
            <a:avLst/>
          </a:prstGeom>
          <a:noFill/>
          <a:ln/>
        </p:spPr>
        <p:txBody>
          <a:bodyPr wrap="square" lIns="0" tIns="0" rIns="0" bIns="0" rtlCol="0" anchor="ctr"/>
          <a:lstStyle/>
          <a:p>
            <a:pPr marL="0" indent="0">
              <a:buNone/>
            </a:pPr>
            <a:r>
              <a:rPr lang="en-US" sz="3200" b="1" dirty="0">
                <a:solidFill>
                  <a:srgbClr val="F4F7FA"/>
                </a:solidFill>
                <a:latin typeface="Cambria" pitchFamily="34" charset="0"/>
                <a:ea typeface="Cambria" pitchFamily="34" charset="-122"/>
                <a:cs typeface="Cambria" pitchFamily="34" charset="-120"/>
              </a:rPr>
              <a:t>₹3,940 crore a year, through 788 MPs</a:t>
            </a:r>
            <a:endParaRPr lang="en-US" sz="3200" dirty="0"/>
          </a:p>
        </p:txBody>
      </p:sp>
      <p:sp>
        <p:nvSpPr>
          <p:cNvPr id="4" name="Shape 2"/>
          <p:cNvSpPr/>
          <p:nvPr/>
        </p:nvSpPr>
        <p:spPr>
          <a:xfrm>
            <a:off x="566928" y="1600200"/>
            <a:ext cx="2194560" cy="2148840"/>
          </a:xfrm>
          <a:prstGeom prst="roundRect">
            <a:avLst>
              <a:gd name="adj" fmla="val 2553"/>
            </a:avLst>
          </a:prstGeom>
          <a:solidFill>
            <a:srgbClr val="15263D"/>
          </a:solidFill>
          <a:ln w="12700">
            <a:solidFill>
              <a:srgbClr val="1D3350"/>
            </a:solidFill>
            <a:prstDash val="solid"/>
          </a:ln>
        </p:spPr>
      </p:sp>
      <p:sp>
        <p:nvSpPr>
          <p:cNvPr id="5" name="Text 3"/>
          <p:cNvSpPr txBox="1"/>
          <p:nvPr/>
        </p:nvSpPr>
        <p:spPr>
          <a:xfrm>
            <a:off x="749808" y="1783080"/>
            <a:ext cx="1828800" cy="502920"/>
          </a:xfrm>
          <a:prstGeom prst="rect">
            <a:avLst/>
          </a:prstGeom>
          <a:noFill/>
          <a:ln/>
        </p:spPr>
        <p:txBody>
          <a:bodyPr wrap="square" lIns="0" tIns="0" rIns="0" bIns="0" rtlCol="0" anchor="ctr"/>
          <a:lstStyle/>
          <a:p>
            <a:pPr marL="0" indent="0">
              <a:buNone/>
            </a:pPr>
            <a:r>
              <a:rPr lang="en-US" sz="2600" b="1" dirty="0">
                <a:solidFill>
                  <a:srgbClr val="F2A03D"/>
                </a:solidFill>
                <a:latin typeface="Cambria" pitchFamily="34" charset="0"/>
                <a:ea typeface="Cambria" pitchFamily="34" charset="-122"/>
                <a:cs typeface="Cambria" pitchFamily="34" charset="-120"/>
              </a:rPr>
              <a:t>₹5 crore</a:t>
            </a:r>
            <a:endParaRPr lang="en-US" sz="2600" dirty="0"/>
          </a:p>
        </p:txBody>
      </p:sp>
      <p:sp>
        <p:nvSpPr>
          <p:cNvPr id="6" name="Text 4"/>
          <p:cNvSpPr txBox="1"/>
          <p:nvPr/>
        </p:nvSpPr>
        <p:spPr>
          <a:xfrm>
            <a:off x="749808" y="2304288"/>
            <a:ext cx="1828800" cy="457200"/>
          </a:xfrm>
          <a:prstGeom prst="rect">
            <a:avLst/>
          </a:prstGeom>
          <a:noFill/>
          <a:ln/>
        </p:spPr>
        <p:txBody>
          <a:bodyPr wrap="square" lIns="0" tIns="0" rIns="0" bIns="0" rtlCol="0" anchor="ctr"/>
          <a:lstStyle/>
          <a:p>
            <a:pPr marL="0" indent="0">
              <a:buNone/>
            </a:pPr>
            <a:r>
              <a:rPr lang="en-US" sz="1250" b="1" dirty="0">
                <a:solidFill>
                  <a:srgbClr val="F4F7FA"/>
                </a:solidFill>
                <a:latin typeface="Calibri" pitchFamily="34" charset="0"/>
                <a:ea typeface="Calibri" pitchFamily="34" charset="-122"/>
                <a:cs typeface="Calibri" pitchFamily="34" charset="-120"/>
              </a:rPr>
              <a:t>Entitlement per MP, per year</a:t>
            </a:r>
            <a:endParaRPr lang="en-US" sz="1250" dirty="0"/>
          </a:p>
        </p:txBody>
      </p:sp>
      <p:sp>
        <p:nvSpPr>
          <p:cNvPr id="7" name="Text 5"/>
          <p:cNvSpPr txBox="1"/>
          <p:nvPr/>
        </p:nvSpPr>
        <p:spPr>
          <a:xfrm>
            <a:off x="749808" y="2761488"/>
            <a:ext cx="1828800" cy="868680"/>
          </a:xfrm>
          <a:prstGeom prst="rect">
            <a:avLst/>
          </a:prstGeom>
          <a:noFill/>
          <a:ln/>
        </p:spPr>
        <p:txBody>
          <a:bodyPr wrap="square" lIns="0" tIns="0" rIns="0" bIns="0" rtlCol="0" anchor="ctr"/>
          <a:lstStyle/>
          <a:p>
            <a:pPr marL="0" indent="0">
              <a:lnSpc>
                <a:spcPts val="1500"/>
              </a:lnSpc>
              <a:buNone/>
            </a:pPr>
            <a:r>
              <a:rPr lang="en-US" sz="1050" dirty="0">
                <a:solidFill>
                  <a:srgbClr val="9DB3CC"/>
                </a:solidFill>
                <a:latin typeface="Calibri" pitchFamily="34" charset="0"/>
                <a:ea typeface="Calibri" pitchFamily="34" charset="-122"/>
                <a:cs typeface="Calibri" pitchFamily="34" charset="-120"/>
              </a:rPr>
              <a:t>MPLADS Guidelines 2023 — released as two instalments of ₹2.5 crore</a:t>
            </a:r>
            <a:endParaRPr lang="en-US" sz="1050" dirty="0"/>
          </a:p>
        </p:txBody>
      </p:sp>
      <p:sp>
        <p:nvSpPr>
          <p:cNvPr id="8" name="Shape 6"/>
          <p:cNvSpPr/>
          <p:nvPr/>
        </p:nvSpPr>
        <p:spPr>
          <a:xfrm>
            <a:off x="2962656" y="1600200"/>
            <a:ext cx="2194560" cy="2148840"/>
          </a:xfrm>
          <a:prstGeom prst="roundRect">
            <a:avLst>
              <a:gd name="adj" fmla="val 2553"/>
            </a:avLst>
          </a:prstGeom>
          <a:solidFill>
            <a:srgbClr val="15263D"/>
          </a:solidFill>
          <a:ln w="12700">
            <a:solidFill>
              <a:srgbClr val="1D3350"/>
            </a:solidFill>
            <a:prstDash val="solid"/>
          </a:ln>
        </p:spPr>
      </p:sp>
      <p:sp>
        <p:nvSpPr>
          <p:cNvPr id="9" name="Text 7"/>
          <p:cNvSpPr txBox="1"/>
          <p:nvPr/>
        </p:nvSpPr>
        <p:spPr>
          <a:xfrm>
            <a:off x="3145536" y="1783080"/>
            <a:ext cx="1828800" cy="502920"/>
          </a:xfrm>
          <a:prstGeom prst="rect">
            <a:avLst/>
          </a:prstGeom>
          <a:noFill/>
          <a:ln/>
        </p:spPr>
        <p:txBody>
          <a:bodyPr wrap="square" lIns="0" tIns="0" rIns="0" bIns="0" rtlCol="0" anchor="ctr"/>
          <a:lstStyle/>
          <a:p>
            <a:pPr marL="0" indent="0">
              <a:buNone/>
            </a:pPr>
            <a:r>
              <a:rPr lang="en-US" sz="2600" b="1" dirty="0">
                <a:solidFill>
                  <a:srgbClr val="F2A03D"/>
                </a:solidFill>
                <a:latin typeface="Cambria" pitchFamily="34" charset="0"/>
                <a:ea typeface="Cambria" pitchFamily="34" charset="-122"/>
                <a:cs typeface="Cambria" pitchFamily="34" charset="-120"/>
              </a:rPr>
              <a:t>788</a:t>
            </a:r>
            <a:endParaRPr lang="en-US" sz="2600" dirty="0"/>
          </a:p>
        </p:txBody>
      </p:sp>
      <p:sp>
        <p:nvSpPr>
          <p:cNvPr id="10" name="Text 8"/>
          <p:cNvSpPr txBox="1"/>
          <p:nvPr/>
        </p:nvSpPr>
        <p:spPr>
          <a:xfrm>
            <a:off x="3145536" y="2304288"/>
            <a:ext cx="1828800" cy="457200"/>
          </a:xfrm>
          <a:prstGeom prst="rect">
            <a:avLst/>
          </a:prstGeom>
          <a:noFill/>
          <a:ln/>
        </p:spPr>
        <p:txBody>
          <a:bodyPr wrap="square" lIns="0" tIns="0" rIns="0" bIns="0" rtlCol="0" anchor="ctr"/>
          <a:lstStyle/>
          <a:p>
            <a:pPr marL="0" indent="0">
              <a:buNone/>
            </a:pPr>
            <a:r>
              <a:rPr lang="en-US" sz="1250" b="1" dirty="0">
                <a:solidFill>
                  <a:srgbClr val="F4F7FA"/>
                </a:solidFill>
                <a:latin typeface="Calibri" pitchFamily="34" charset="0"/>
                <a:ea typeface="Calibri" pitchFamily="34" charset="-122"/>
                <a:cs typeface="Calibri" pitchFamily="34" charset="-120"/>
              </a:rPr>
              <a:t>Members of Parliament</a:t>
            </a:r>
            <a:endParaRPr lang="en-US" sz="1250" dirty="0"/>
          </a:p>
        </p:txBody>
      </p:sp>
      <p:sp>
        <p:nvSpPr>
          <p:cNvPr id="11" name="Text 9"/>
          <p:cNvSpPr txBox="1"/>
          <p:nvPr/>
        </p:nvSpPr>
        <p:spPr>
          <a:xfrm>
            <a:off x="3145536" y="2761488"/>
            <a:ext cx="1828800" cy="868680"/>
          </a:xfrm>
          <a:prstGeom prst="rect">
            <a:avLst/>
          </a:prstGeom>
          <a:noFill/>
          <a:ln/>
        </p:spPr>
        <p:txBody>
          <a:bodyPr wrap="square" lIns="0" tIns="0" rIns="0" bIns="0" rtlCol="0" anchor="ctr"/>
          <a:lstStyle/>
          <a:p>
            <a:pPr marL="0" indent="0">
              <a:lnSpc>
                <a:spcPts val="1500"/>
              </a:lnSpc>
              <a:buNone/>
            </a:pPr>
            <a:r>
              <a:rPr lang="en-US" sz="1050" dirty="0">
                <a:solidFill>
                  <a:srgbClr val="9DB3CC"/>
                </a:solidFill>
                <a:latin typeface="Calibri" pitchFamily="34" charset="0"/>
                <a:ea typeface="Calibri" pitchFamily="34" charset="-122"/>
                <a:cs typeface="Calibri" pitchFamily="34" charset="-120"/>
              </a:rPr>
              <a:t>Lok Sabha and Rajya Sabha, each recommending works in their area</a:t>
            </a:r>
            <a:endParaRPr lang="en-US" sz="1050" dirty="0"/>
          </a:p>
        </p:txBody>
      </p:sp>
      <p:sp>
        <p:nvSpPr>
          <p:cNvPr id="12" name="Shape 10"/>
          <p:cNvSpPr/>
          <p:nvPr/>
        </p:nvSpPr>
        <p:spPr>
          <a:xfrm>
            <a:off x="5358384" y="1600200"/>
            <a:ext cx="2194560" cy="2148840"/>
          </a:xfrm>
          <a:prstGeom prst="roundRect">
            <a:avLst>
              <a:gd name="adj" fmla="val 2553"/>
            </a:avLst>
          </a:prstGeom>
          <a:solidFill>
            <a:srgbClr val="15263D"/>
          </a:solidFill>
          <a:ln w="12700">
            <a:solidFill>
              <a:srgbClr val="1D3350"/>
            </a:solidFill>
            <a:prstDash val="solid"/>
          </a:ln>
        </p:spPr>
      </p:sp>
      <p:sp>
        <p:nvSpPr>
          <p:cNvPr id="13" name="Text 11"/>
          <p:cNvSpPr txBox="1"/>
          <p:nvPr/>
        </p:nvSpPr>
        <p:spPr>
          <a:xfrm>
            <a:off x="5541264" y="1783080"/>
            <a:ext cx="1828800" cy="502920"/>
          </a:xfrm>
          <a:prstGeom prst="rect">
            <a:avLst/>
          </a:prstGeom>
          <a:noFill/>
          <a:ln/>
        </p:spPr>
        <p:txBody>
          <a:bodyPr wrap="square" lIns="0" tIns="0" rIns="0" bIns="0" rtlCol="0" anchor="ctr"/>
          <a:lstStyle/>
          <a:p>
            <a:pPr marL="0" indent="0">
              <a:buNone/>
            </a:pPr>
            <a:r>
              <a:rPr lang="en-US" sz="2600" b="1" dirty="0">
                <a:solidFill>
                  <a:srgbClr val="F2A03D"/>
                </a:solidFill>
                <a:latin typeface="Cambria" pitchFamily="34" charset="0"/>
                <a:ea typeface="Cambria" pitchFamily="34" charset="-122"/>
                <a:cs typeface="Cambria" pitchFamily="34" charset="-120"/>
              </a:rPr>
              <a:t>₹3,940 cr</a:t>
            </a:r>
            <a:endParaRPr lang="en-US" sz="2600" dirty="0"/>
          </a:p>
        </p:txBody>
      </p:sp>
      <p:sp>
        <p:nvSpPr>
          <p:cNvPr id="14" name="Text 12"/>
          <p:cNvSpPr txBox="1"/>
          <p:nvPr/>
        </p:nvSpPr>
        <p:spPr>
          <a:xfrm>
            <a:off x="5541264" y="2304288"/>
            <a:ext cx="1828800" cy="457200"/>
          </a:xfrm>
          <a:prstGeom prst="rect">
            <a:avLst/>
          </a:prstGeom>
          <a:noFill/>
          <a:ln/>
        </p:spPr>
        <p:txBody>
          <a:bodyPr wrap="square" lIns="0" tIns="0" rIns="0" bIns="0" rtlCol="0" anchor="ctr"/>
          <a:lstStyle/>
          <a:p>
            <a:pPr marL="0" indent="0">
              <a:buNone/>
            </a:pPr>
            <a:r>
              <a:rPr lang="en-US" sz="1250" b="1" dirty="0">
                <a:solidFill>
                  <a:srgbClr val="F4F7FA"/>
                </a:solidFill>
                <a:latin typeface="Calibri" pitchFamily="34" charset="0"/>
                <a:ea typeface="Calibri" pitchFamily="34" charset="-122"/>
                <a:cs typeface="Calibri" pitchFamily="34" charset="-120"/>
              </a:rPr>
              <a:t>Flows out every single year</a:t>
            </a:r>
            <a:endParaRPr lang="en-US" sz="1250" dirty="0"/>
          </a:p>
        </p:txBody>
      </p:sp>
      <p:sp>
        <p:nvSpPr>
          <p:cNvPr id="15" name="Text 13"/>
          <p:cNvSpPr txBox="1"/>
          <p:nvPr/>
        </p:nvSpPr>
        <p:spPr>
          <a:xfrm>
            <a:off x="5541264" y="2761488"/>
            <a:ext cx="1828800" cy="868680"/>
          </a:xfrm>
          <a:prstGeom prst="rect">
            <a:avLst/>
          </a:prstGeom>
          <a:noFill/>
          <a:ln/>
        </p:spPr>
        <p:txBody>
          <a:bodyPr wrap="square" lIns="0" tIns="0" rIns="0" bIns="0" rtlCol="0" anchor="ctr"/>
          <a:lstStyle/>
          <a:p>
            <a:pPr marL="0" indent="0">
              <a:lnSpc>
                <a:spcPts val="1500"/>
              </a:lnSpc>
              <a:buNone/>
            </a:pPr>
            <a:r>
              <a:rPr lang="en-US" sz="1050" dirty="0">
                <a:solidFill>
                  <a:srgbClr val="9DB3CC"/>
                </a:solidFill>
                <a:latin typeface="Calibri" pitchFamily="34" charset="0"/>
                <a:ea typeface="Calibri" pitchFamily="34" charset="-122"/>
                <a:cs typeface="Calibri" pitchFamily="34" charset="-120"/>
              </a:rPr>
              <a:t>Through District Authorities and hundreds of implementing agencies</a:t>
            </a:r>
            <a:endParaRPr lang="en-US" sz="1050" dirty="0"/>
          </a:p>
        </p:txBody>
      </p:sp>
      <p:sp>
        <p:nvSpPr>
          <p:cNvPr id="16" name="Shape 14"/>
          <p:cNvSpPr/>
          <p:nvPr/>
        </p:nvSpPr>
        <p:spPr>
          <a:xfrm>
            <a:off x="7818120" y="1600200"/>
            <a:ext cx="3803904" cy="4160520"/>
          </a:xfrm>
          <a:prstGeom prst="roundRect">
            <a:avLst>
              <a:gd name="adj" fmla="val 1442"/>
            </a:avLst>
          </a:prstGeom>
          <a:solidFill>
            <a:srgbClr val="1D3350"/>
          </a:solidFill>
          <a:ln w="12700">
            <a:solidFill>
              <a:srgbClr val="1D3350"/>
            </a:solidFill>
            <a:prstDash val="solid"/>
          </a:ln>
        </p:spPr>
      </p:sp>
      <p:sp>
        <p:nvSpPr>
          <p:cNvPr id="17" name="Text 15"/>
          <p:cNvSpPr txBox="1"/>
          <p:nvPr/>
        </p:nvSpPr>
        <p:spPr>
          <a:xfrm>
            <a:off x="8046720" y="1783080"/>
            <a:ext cx="3383280" cy="365760"/>
          </a:xfrm>
          <a:prstGeom prst="rect">
            <a:avLst/>
          </a:prstGeom>
          <a:noFill/>
          <a:ln/>
        </p:spPr>
        <p:txBody>
          <a:bodyPr wrap="square" lIns="0" tIns="0" rIns="0" bIns="0" rtlCol="0" anchor="ctr"/>
          <a:lstStyle/>
          <a:p>
            <a:pPr marL="0" indent="0">
              <a:buNone/>
            </a:pPr>
            <a:r>
              <a:rPr lang="en-US" sz="1800" b="1" dirty="0">
                <a:solidFill>
                  <a:srgbClr val="F4F7FA"/>
                </a:solidFill>
                <a:latin typeface="Cambria" pitchFamily="34" charset="0"/>
                <a:ea typeface="Cambria" pitchFamily="34" charset="-122"/>
                <a:cs typeface="Cambria" pitchFamily="34" charset="-120"/>
              </a:rPr>
              <a:t>How it is watched today</a:t>
            </a:r>
            <a:endParaRPr lang="en-US" sz="1800" dirty="0"/>
          </a:p>
        </p:txBody>
      </p:sp>
      <p:sp>
        <p:nvSpPr>
          <p:cNvPr id="18" name="Shape 16"/>
          <p:cNvSpPr/>
          <p:nvPr/>
        </p:nvSpPr>
        <p:spPr>
          <a:xfrm>
            <a:off x="8046720" y="2286000"/>
            <a:ext cx="274320" cy="274320"/>
          </a:xfrm>
          <a:prstGeom prst="ellipse">
            <a:avLst/>
          </a:prstGeom>
          <a:solidFill>
            <a:srgbClr val="2A4260"/>
          </a:solidFill>
          <a:ln/>
        </p:spPr>
      </p:sp>
      <p:sp>
        <p:nvSpPr>
          <p:cNvPr id="19" name="Text 17"/>
          <p:cNvSpPr txBox="1"/>
          <p:nvPr/>
        </p:nvSpPr>
        <p:spPr>
          <a:xfrm>
            <a:off x="8046720" y="2286000"/>
            <a:ext cx="274320" cy="274320"/>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a:t>
            </a:r>
            <a:endParaRPr lang="en-US" sz="1300" dirty="0"/>
          </a:p>
        </p:txBody>
      </p:sp>
      <p:sp>
        <p:nvSpPr>
          <p:cNvPr id="20" name="Text 18"/>
          <p:cNvSpPr txBox="1"/>
          <p:nvPr/>
        </p:nvSpPr>
        <p:spPr>
          <a:xfrm>
            <a:off x="8430768" y="2249424"/>
            <a:ext cx="3017520" cy="658368"/>
          </a:xfrm>
          <a:prstGeom prst="rect">
            <a:avLst/>
          </a:prstGeom>
          <a:noFill/>
          <a:ln/>
        </p:spPr>
        <p:txBody>
          <a:bodyPr wrap="square" lIns="0" tIns="0" rIns="0" bIns="0" rtlCol="0" anchor="ctr"/>
          <a:lstStyle/>
          <a:p>
            <a:pPr marL="0" indent="0">
              <a:lnSpc>
                <a:spcPts val="1700"/>
              </a:lnSpc>
              <a:buNone/>
            </a:pPr>
            <a:r>
              <a:rPr lang="en-US" sz="1250" dirty="0">
                <a:solidFill>
                  <a:srgbClr val="9DB3CC"/>
                </a:solidFill>
                <a:latin typeface="Calibri" pitchFamily="34" charset="0"/>
                <a:ea typeface="Calibri" pitchFamily="34" charset="-122"/>
                <a:cs typeface="Calibri" pitchFamily="34" charset="-120"/>
              </a:rPr>
              <a:t>Physical inspection of a sample of works</a:t>
            </a:r>
            <a:endParaRPr lang="en-US" sz="1250" dirty="0"/>
          </a:p>
        </p:txBody>
      </p:sp>
      <p:sp>
        <p:nvSpPr>
          <p:cNvPr id="21" name="Shape 19"/>
          <p:cNvSpPr/>
          <p:nvPr/>
        </p:nvSpPr>
        <p:spPr>
          <a:xfrm>
            <a:off x="8046720" y="3063240"/>
            <a:ext cx="274320" cy="274320"/>
          </a:xfrm>
          <a:prstGeom prst="ellipse">
            <a:avLst/>
          </a:prstGeom>
          <a:solidFill>
            <a:srgbClr val="2A4260"/>
          </a:solidFill>
          <a:ln/>
        </p:spPr>
      </p:sp>
      <p:sp>
        <p:nvSpPr>
          <p:cNvPr id="22" name="Text 20"/>
          <p:cNvSpPr txBox="1"/>
          <p:nvPr/>
        </p:nvSpPr>
        <p:spPr>
          <a:xfrm>
            <a:off x="8046720" y="3063240"/>
            <a:ext cx="274320" cy="274320"/>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a:t>
            </a:r>
            <a:endParaRPr lang="en-US" sz="1300" dirty="0"/>
          </a:p>
        </p:txBody>
      </p:sp>
      <p:sp>
        <p:nvSpPr>
          <p:cNvPr id="23" name="Text 21"/>
          <p:cNvSpPr txBox="1"/>
          <p:nvPr/>
        </p:nvSpPr>
        <p:spPr>
          <a:xfrm>
            <a:off x="8430768" y="3026664"/>
            <a:ext cx="3017520" cy="658368"/>
          </a:xfrm>
          <a:prstGeom prst="rect">
            <a:avLst/>
          </a:prstGeom>
          <a:noFill/>
          <a:ln/>
        </p:spPr>
        <p:txBody>
          <a:bodyPr wrap="square" lIns="0" tIns="0" rIns="0" bIns="0" rtlCol="0" anchor="ctr"/>
          <a:lstStyle/>
          <a:p>
            <a:pPr marL="0" indent="0">
              <a:lnSpc>
                <a:spcPts val="1700"/>
              </a:lnSpc>
              <a:buNone/>
            </a:pPr>
            <a:r>
              <a:rPr lang="en-US" sz="1250" dirty="0">
                <a:solidFill>
                  <a:srgbClr val="9DB3CC"/>
                </a:solidFill>
                <a:latin typeface="Calibri" pitchFamily="34" charset="0"/>
                <a:ea typeface="Calibri" pitchFamily="34" charset="-122"/>
                <a:cs typeface="Calibri" pitchFamily="34" charset="-120"/>
              </a:rPr>
              <a:t>Manual district-level progress reporting</a:t>
            </a:r>
            <a:endParaRPr lang="en-US" sz="1250" dirty="0"/>
          </a:p>
        </p:txBody>
      </p:sp>
      <p:sp>
        <p:nvSpPr>
          <p:cNvPr id="24" name="Shape 22"/>
          <p:cNvSpPr/>
          <p:nvPr/>
        </p:nvSpPr>
        <p:spPr>
          <a:xfrm>
            <a:off x="8046720" y="3840480"/>
            <a:ext cx="274320" cy="274320"/>
          </a:xfrm>
          <a:prstGeom prst="ellipse">
            <a:avLst/>
          </a:prstGeom>
          <a:solidFill>
            <a:srgbClr val="2A4260"/>
          </a:solidFill>
          <a:ln/>
        </p:spPr>
      </p:sp>
      <p:sp>
        <p:nvSpPr>
          <p:cNvPr id="25" name="Text 23"/>
          <p:cNvSpPr txBox="1"/>
          <p:nvPr/>
        </p:nvSpPr>
        <p:spPr>
          <a:xfrm>
            <a:off x="8046720" y="3840480"/>
            <a:ext cx="274320" cy="274320"/>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a:t>
            </a:r>
            <a:endParaRPr lang="en-US" sz="1300" dirty="0"/>
          </a:p>
        </p:txBody>
      </p:sp>
      <p:sp>
        <p:nvSpPr>
          <p:cNvPr id="26" name="Text 24"/>
          <p:cNvSpPr txBox="1"/>
          <p:nvPr/>
        </p:nvSpPr>
        <p:spPr>
          <a:xfrm>
            <a:off x="8430768" y="3803904"/>
            <a:ext cx="3017520" cy="658368"/>
          </a:xfrm>
          <a:prstGeom prst="rect">
            <a:avLst/>
          </a:prstGeom>
          <a:noFill/>
          <a:ln/>
        </p:spPr>
        <p:txBody>
          <a:bodyPr wrap="square" lIns="0" tIns="0" rIns="0" bIns="0" rtlCol="0" anchor="ctr"/>
          <a:lstStyle/>
          <a:p>
            <a:pPr marL="0" indent="0">
              <a:lnSpc>
                <a:spcPts val="1700"/>
              </a:lnSpc>
              <a:buNone/>
            </a:pPr>
            <a:r>
              <a:rPr lang="en-US" sz="1250" dirty="0">
                <a:solidFill>
                  <a:srgbClr val="9DB3CC"/>
                </a:solidFill>
                <a:latin typeface="Calibri" pitchFamily="34" charset="0"/>
                <a:ea typeface="Calibri" pitchFamily="34" charset="-122"/>
                <a:cs typeface="Calibri" pitchFamily="34" charset="-120"/>
              </a:rPr>
              <a:t>CAG audit — arriving years after the money was spent</a:t>
            </a:r>
            <a:endParaRPr lang="en-US" sz="1250" dirty="0"/>
          </a:p>
        </p:txBody>
      </p:sp>
      <p:sp>
        <p:nvSpPr>
          <p:cNvPr id="27" name="Shape 25"/>
          <p:cNvSpPr/>
          <p:nvPr/>
        </p:nvSpPr>
        <p:spPr>
          <a:xfrm>
            <a:off x="8046720" y="4617720"/>
            <a:ext cx="274320" cy="274320"/>
          </a:xfrm>
          <a:prstGeom prst="ellipse">
            <a:avLst/>
          </a:prstGeom>
          <a:solidFill>
            <a:srgbClr val="2A4260"/>
          </a:solidFill>
          <a:ln/>
        </p:spPr>
      </p:sp>
      <p:sp>
        <p:nvSpPr>
          <p:cNvPr id="28" name="Text 26"/>
          <p:cNvSpPr txBox="1"/>
          <p:nvPr/>
        </p:nvSpPr>
        <p:spPr>
          <a:xfrm>
            <a:off x="8046720" y="4617720"/>
            <a:ext cx="274320" cy="274320"/>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a:t>
            </a:r>
            <a:endParaRPr lang="en-US" sz="1300" dirty="0"/>
          </a:p>
        </p:txBody>
      </p:sp>
      <p:sp>
        <p:nvSpPr>
          <p:cNvPr id="29" name="Text 27"/>
          <p:cNvSpPr txBox="1"/>
          <p:nvPr/>
        </p:nvSpPr>
        <p:spPr>
          <a:xfrm>
            <a:off x="8430768" y="4581144"/>
            <a:ext cx="3017520" cy="658368"/>
          </a:xfrm>
          <a:prstGeom prst="rect">
            <a:avLst/>
          </a:prstGeom>
          <a:noFill/>
          <a:ln/>
        </p:spPr>
        <p:txBody>
          <a:bodyPr wrap="square" lIns="0" tIns="0" rIns="0" bIns="0" rtlCol="0" anchor="ctr"/>
          <a:lstStyle/>
          <a:p>
            <a:pPr marL="0" indent="0">
              <a:lnSpc>
                <a:spcPts val="1700"/>
              </a:lnSpc>
              <a:buNone/>
            </a:pPr>
            <a:r>
              <a:rPr lang="en-US" sz="1250" dirty="0">
                <a:solidFill>
                  <a:srgbClr val="9DB3CC"/>
                </a:solidFill>
                <a:latin typeface="Calibri" pitchFamily="34" charset="0"/>
                <a:ea typeface="Calibri" pitchFamily="34" charset="-122"/>
                <a:cs typeface="Calibri" pitchFamily="34" charset="-120"/>
              </a:rPr>
              <a:t>Completion photos and measurement books filed away, never compared</a:t>
            </a:r>
            <a:endParaRPr lang="en-US" sz="1250" dirty="0"/>
          </a:p>
        </p:txBody>
      </p:sp>
      <p:sp>
        <p:nvSpPr>
          <p:cNvPr id="30" name="Text 28"/>
          <p:cNvSpPr txBox="1"/>
          <p:nvPr/>
        </p:nvSpPr>
        <p:spPr>
          <a:xfrm>
            <a:off x="566928" y="4023360"/>
            <a:ext cx="6858000" cy="457200"/>
          </a:xfrm>
          <a:prstGeom prst="rect">
            <a:avLst/>
          </a:prstGeom>
          <a:noFill/>
          <a:ln/>
        </p:spPr>
        <p:txBody>
          <a:bodyPr wrap="square" lIns="0" tIns="0" rIns="0" bIns="0" rtlCol="0" anchor="ctr"/>
          <a:lstStyle/>
          <a:p>
            <a:pPr marL="0" indent="0">
              <a:buNone/>
            </a:pPr>
            <a:r>
              <a:rPr lang="en-US" sz="2000" i="1" dirty="0">
                <a:solidFill>
                  <a:srgbClr val="F4F7FA"/>
                </a:solidFill>
                <a:latin typeface="Cambria" pitchFamily="34" charset="0"/>
                <a:ea typeface="Cambria" pitchFamily="34" charset="-122"/>
                <a:cs typeface="Cambria" pitchFamily="34" charset="-120"/>
              </a:rPr>
              <a:t>Every control is a sample, and every sample is human.</a:t>
            </a:r>
            <a:endParaRPr lang="en-US" sz="2000" dirty="0"/>
          </a:p>
        </p:txBody>
      </p:sp>
      <p:sp>
        <p:nvSpPr>
          <p:cNvPr id="31" name="Text 29"/>
          <p:cNvSpPr txBox="1"/>
          <p:nvPr/>
        </p:nvSpPr>
        <p:spPr>
          <a:xfrm>
            <a:off x="566928" y="4526280"/>
            <a:ext cx="6858000" cy="822960"/>
          </a:xfrm>
          <a:prstGeom prst="rect">
            <a:avLst/>
          </a:prstGeom>
          <a:noFill/>
          <a:ln/>
        </p:spPr>
        <p:txBody>
          <a:bodyPr wrap="square" lIns="0" tIns="0" rIns="0" bIns="0" rtlCol="0" anchor="ctr"/>
          <a:lstStyle/>
          <a:p>
            <a:pPr marL="0" indent="0">
              <a:lnSpc>
                <a:spcPts val="2100"/>
              </a:lnSpc>
              <a:buNone/>
            </a:pPr>
            <a:r>
              <a:rPr lang="en-US" sz="1350" dirty="0">
                <a:solidFill>
                  <a:srgbClr val="9DB3CC"/>
                </a:solidFill>
                <a:latin typeface="Calibri" pitchFamily="34" charset="0"/>
                <a:ea typeface="Calibri" pitchFamily="34" charset="-122"/>
                <a:cs typeface="Calibri" pitchFamily="34" charset="-120"/>
              </a:rPr>
              <a:t>The volume is machine scale. The scrutiny is not. That gap is where the money leaks — and it is the entire opening of this problem statement.</a:t>
            </a:r>
            <a:endParaRPr lang="en-US" sz="1350" dirty="0"/>
          </a:p>
        </p:txBody>
      </p:sp>
      <p:sp>
        <p:nvSpPr>
          <p:cNvPr id="33" name="Shape 30"/>
          <p:cNvSpPr/>
          <p:nvPr/>
        </p:nvSpPr>
        <p:spPr>
          <a:xfrm>
            <a:off x="566928" y="6309360"/>
            <a:ext cx="256032" cy="256032"/>
          </a:xfrm>
          <a:prstGeom prst="ellipse">
            <a:avLst/>
          </a:prstGeom>
          <a:solidFill>
            <a:srgbClr val="1D3350"/>
          </a:solidFill>
          <a:ln w="12700">
            <a:solidFill>
              <a:srgbClr val="F2A03D"/>
            </a:solidFill>
            <a:prstDash val="solid"/>
          </a:ln>
        </p:spPr>
      </p:sp>
      <p:sp>
        <p:nvSpPr>
          <p:cNvPr id="34" name="Text 31"/>
          <p:cNvSpPr txBox="1"/>
          <p:nvPr/>
        </p:nvSpPr>
        <p:spPr>
          <a:xfrm>
            <a:off x="566928" y="6309360"/>
            <a:ext cx="256032" cy="256032"/>
          </a:xfrm>
          <a:prstGeom prst="rect">
            <a:avLst/>
          </a:prstGeom>
          <a:noFill/>
          <a:ln/>
        </p:spPr>
        <p:txBody>
          <a:bodyPr wrap="square" lIns="0" tIns="0" rIns="0" bIns="0" rtlCol="0" anchor="ctr"/>
          <a:lstStyle/>
          <a:p>
            <a:pPr marL="0" indent="0" algn="ctr">
              <a:buNone/>
            </a:pPr>
            <a:r>
              <a:rPr lang="en-US" sz="1100" b="1" dirty="0">
                <a:solidFill>
                  <a:srgbClr val="F2A03D"/>
                </a:solidFill>
                <a:latin typeface="Calibri" pitchFamily="34" charset="0"/>
                <a:ea typeface="Calibri" pitchFamily="34" charset="-122"/>
                <a:cs typeface="Calibri" pitchFamily="34" charset="-120"/>
              </a:rPr>
              <a:t>1</a:t>
            </a:r>
            <a:endParaRPr lang="en-US" sz="1100" dirty="0"/>
          </a:p>
        </p:txBody>
      </p:sp>
      <p:sp>
        <p:nvSpPr>
          <p:cNvPr id="35" name="Text 32"/>
          <p:cNvSpPr txBox="1"/>
          <p:nvPr/>
        </p:nvSpPr>
        <p:spPr>
          <a:xfrm>
            <a:off x="914400" y="6309360"/>
            <a:ext cx="4572000" cy="256032"/>
          </a:xfrm>
          <a:prstGeom prst="rect">
            <a:avLst/>
          </a:prstGeom>
          <a:noFill/>
          <a:ln/>
        </p:spPr>
        <p:txBody>
          <a:bodyPr wrap="square" lIns="0" tIns="0" rIns="0" bIns="0" rtlCol="0" anchor="ctr"/>
          <a:lstStyle/>
          <a:p>
            <a:pPr marL="0" indent="0">
              <a:buNone/>
            </a:pPr>
            <a:r>
              <a:rPr lang="en-US" sz="1050" b="1" kern="0" spc="110" dirty="0">
                <a:solidFill>
                  <a:srgbClr val="9DB3CC"/>
                </a:solidFill>
                <a:latin typeface="Calibri" pitchFamily="34" charset="0"/>
                <a:ea typeface="Calibri" pitchFamily="34" charset="-122"/>
                <a:cs typeface="Calibri" pitchFamily="34" charset="-120"/>
              </a:rPr>
              <a:t>SPEAKER 1   ·   0:20 – 1:00</a:t>
            </a:r>
            <a:endParaRPr lang="en-US" sz="1050" dirty="0"/>
          </a:p>
        </p:txBody>
      </p:sp>
      <p:sp>
        <p:nvSpPr>
          <p:cNvPr id="36" name="Text 33"/>
          <p:cNvSpPr txBox="1"/>
          <p:nvPr/>
        </p:nvSpPr>
        <p:spPr>
          <a:xfrm>
            <a:off x="7052767" y="6309360"/>
            <a:ext cx="4572000" cy="256032"/>
          </a:xfrm>
          <a:prstGeom prst="rect">
            <a:avLst/>
          </a:prstGeom>
          <a:noFill/>
          <a:ln/>
        </p:spPr>
        <p:txBody>
          <a:bodyPr wrap="square" lIns="0" tIns="0" rIns="0" bIns="0" rtlCol="0" anchor="ctr"/>
          <a:lstStyle/>
          <a:p>
            <a:pPr marL="0" indent="0" algn="r">
              <a:buNone/>
            </a:pPr>
            <a:r>
              <a:rPr lang="en-US" sz="1050" dirty="0">
                <a:solidFill>
                  <a:srgbClr val="6A8098"/>
                </a:solidFill>
                <a:latin typeface="Calibri" pitchFamily="34" charset="0"/>
                <a:ea typeface="Calibri" pitchFamily="34" charset="-122"/>
                <a:cs typeface="Calibri" pitchFamily="34" charset="-120"/>
              </a:rPr>
              <a:t>NAZAR   ·   SIH 2026   ·   PS 26102   ·   2/16</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marL="0" indent="0">
              <a:buNone/>
            </a:pPr>
            <a:r>
              <a:rPr lang="en-US" sz="1150" b="1" kern="0" spc="220" dirty="0">
                <a:solidFill>
                  <a:srgbClr val="F2A03D"/>
                </a:solidFill>
                <a:latin typeface="Calibri" pitchFamily="34" charset="0"/>
                <a:ea typeface="Calibri" pitchFamily="34" charset="-122"/>
                <a:cs typeface="Calibri" pitchFamily="34" charset="-120"/>
              </a:rPr>
              <a:t>WHAT ACTUALLY GOES WRONG</a:t>
            </a:r>
            <a:endParaRPr lang="en-US" sz="1150" dirty="0"/>
          </a:p>
        </p:txBody>
      </p:sp>
      <p:sp>
        <p:nvSpPr>
          <p:cNvPr id="3" name="Text 1"/>
          <p:cNvSpPr txBox="1"/>
          <p:nvPr/>
        </p:nvSpPr>
        <p:spPr>
          <a:xfrm>
            <a:off x="566928" y="621792"/>
            <a:ext cx="11057839" cy="749808"/>
          </a:xfrm>
          <a:prstGeom prst="rect">
            <a:avLst/>
          </a:prstGeom>
          <a:noFill/>
          <a:ln/>
        </p:spPr>
        <p:txBody>
          <a:bodyPr wrap="square" lIns="0" tIns="0" rIns="0" bIns="0" rtlCol="0" anchor="ctr"/>
          <a:lstStyle/>
          <a:p>
            <a:pPr marL="0" indent="0">
              <a:buNone/>
            </a:pPr>
            <a:r>
              <a:rPr lang="en-US" sz="3200" b="1" dirty="0">
                <a:solidFill>
                  <a:srgbClr val="F4F7FA"/>
                </a:solidFill>
                <a:latin typeface="Cambria" pitchFamily="34" charset="0"/>
                <a:ea typeface="Cambria" pitchFamily="34" charset="-122"/>
                <a:cs typeface="Cambria" pitchFamily="34" charset="-120"/>
              </a:rPr>
              <a:t>These are not hypotheticals. They are audit findings.</a:t>
            </a:r>
            <a:endParaRPr lang="en-US" sz="3200" dirty="0"/>
          </a:p>
        </p:txBody>
      </p:sp>
      <p:sp>
        <p:nvSpPr>
          <p:cNvPr id="4" name="Shape 2"/>
          <p:cNvSpPr/>
          <p:nvPr/>
        </p:nvSpPr>
        <p:spPr>
          <a:xfrm>
            <a:off x="566928" y="1572768"/>
            <a:ext cx="3511296" cy="3246120"/>
          </a:xfrm>
          <a:prstGeom prst="roundRect">
            <a:avLst>
              <a:gd name="adj" fmla="val 1690"/>
            </a:avLst>
          </a:prstGeom>
          <a:solidFill>
            <a:srgbClr val="15263D"/>
          </a:solidFill>
          <a:ln w="12700">
            <a:solidFill>
              <a:srgbClr val="1D3350"/>
            </a:solidFill>
            <a:prstDash val="solid"/>
          </a:ln>
        </p:spPr>
      </p:sp>
      <p:sp>
        <p:nvSpPr>
          <p:cNvPr id="5" name="Text 3"/>
          <p:cNvSpPr txBox="1"/>
          <p:nvPr/>
        </p:nvSpPr>
        <p:spPr>
          <a:xfrm>
            <a:off x="786384" y="1755648"/>
            <a:ext cx="3108960" cy="256032"/>
          </a:xfrm>
          <a:prstGeom prst="rect">
            <a:avLst/>
          </a:prstGeom>
          <a:noFill/>
          <a:ln/>
        </p:spPr>
        <p:txBody>
          <a:bodyPr wrap="square" lIns="0" tIns="0" rIns="0" bIns="0" rtlCol="0" anchor="ctr"/>
          <a:lstStyle/>
          <a:p>
            <a:pPr marL="0" indent="0">
              <a:buNone/>
            </a:pPr>
            <a:r>
              <a:rPr lang="en-US" sz="1000" b="1" kern="0" spc="160" dirty="0">
                <a:solidFill>
                  <a:srgbClr val="E4695E"/>
                </a:solidFill>
                <a:latin typeface="Calibri" pitchFamily="34" charset="0"/>
                <a:ea typeface="Calibri" pitchFamily="34" charset="-122"/>
                <a:cs typeface="Calibri" pitchFamily="34" charset="-120"/>
              </a:rPr>
              <a:t>PHANTOM WORK</a:t>
            </a:r>
            <a:endParaRPr lang="en-US" sz="1000" dirty="0"/>
          </a:p>
        </p:txBody>
      </p:sp>
      <p:sp>
        <p:nvSpPr>
          <p:cNvPr id="6" name="Text 4"/>
          <p:cNvSpPr txBox="1"/>
          <p:nvPr/>
        </p:nvSpPr>
        <p:spPr>
          <a:xfrm>
            <a:off x="786384" y="2048256"/>
            <a:ext cx="3108960" cy="731520"/>
          </a:xfrm>
          <a:prstGeom prst="rect">
            <a:avLst/>
          </a:prstGeom>
          <a:noFill/>
          <a:ln/>
        </p:spPr>
        <p:txBody>
          <a:bodyPr wrap="square" lIns="0" tIns="0" rIns="0" bIns="0" rtlCol="0" anchor="t"/>
          <a:lstStyle/>
          <a:p>
            <a:pPr marL="0" indent="0">
              <a:lnSpc>
                <a:spcPts val="2500"/>
              </a:lnSpc>
              <a:buNone/>
            </a:pPr>
            <a:r>
              <a:rPr lang="en-US" sz="2100" b="1" dirty="0">
                <a:solidFill>
                  <a:srgbClr val="F4F7FA"/>
                </a:solidFill>
                <a:latin typeface="Cambria" pitchFamily="34" charset="0"/>
                <a:ea typeface="Cambria" pitchFamily="34" charset="-122"/>
                <a:cs typeface="Cambria" pitchFamily="34" charset="-120"/>
              </a:rPr>
              <a:t>“Not a single brick had been laid”</a:t>
            </a:r>
            <a:endParaRPr lang="en-US" sz="2100" dirty="0"/>
          </a:p>
        </p:txBody>
      </p:sp>
      <p:sp>
        <p:nvSpPr>
          <p:cNvPr id="7" name="Text 5"/>
          <p:cNvSpPr txBox="1"/>
          <p:nvPr/>
        </p:nvSpPr>
        <p:spPr>
          <a:xfrm>
            <a:off x="786384" y="2852928"/>
            <a:ext cx="3108960" cy="1371600"/>
          </a:xfrm>
          <a:prstGeom prst="rect">
            <a:avLst/>
          </a:prstGeom>
          <a:noFill/>
          <a:ln/>
        </p:spPr>
        <p:txBody>
          <a:bodyPr wrap="square" lIns="0" tIns="0" rIns="0" bIns="0" rtlCol="0" anchor="ctr"/>
          <a:lstStyle/>
          <a:p>
            <a:pPr marL="0" indent="0">
              <a:lnSpc>
                <a:spcPts val="1800"/>
              </a:lnSpc>
              <a:buNone/>
            </a:pPr>
            <a:r>
              <a:rPr lang="en-US" sz="1250" dirty="0">
                <a:solidFill>
                  <a:srgbClr val="9DB3CC"/>
                </a:solidFill>
                <a:latin typeface="Calibri" pitchFamily="34" charset="0"/>
                <a:ea typeface="Calibri" pitchFamily="34" charset="-122"/>
                <a:cs typeface="Calibri" pitchFamily="34" charset="-120"/>
              </a:rPr>
              <a:t>Works across nine villages were reported complete and funds were disbursed. Nothing had been built.</a:t>
            </a:r>
            <a:endParaRPr lang="en-US" sz="1250" dirty="0"/>
          </a:p>
        </p:txBody>
      </p:sp>
      <p:sp>
        <p:nvSpPr>
          <p:cNvPr id="8" name="Text 6"/>
          <p:cNvSpPr txBox="1"/>
          <p:nvPr/>
        </p:nvSpPr>
        <p:spPr>
          <a:xfrm>
            <a:off x="786384" y="4315968"/>
            <a:ext cx="3108960" cy="292608"/>
          </a:xfrm>
          <a:prstGeom prst="rect">
            <a:avLst/>
          </a:prstGeom>
          <a:noFill/>
          <a:ln/>
        </p:spPr>
        <p:txBody>
          <a:bodyPr wrap="square" lIns="0" tIns="0" rIns="0" bIns="0" rtlCol="0" anchor="ctr"/>
          <a:lstStyle/>
          <a:p>
            <a:pPr marL="0" indent="0">
              <a:buNone/>
            </a:pPr>
            <a:r>
              <a:rPr lang="en-US" sz="1000" i="1" dirty="0">
                <a:solidFill>
                  <a:srgbClr val="6A8098"/>
                </a:solidFill>
                <a:latin typeface="Calibri" pitchFamily="34" charset="0"/>
                <a:ea typeface="Calibri" pitchFamily="34" charset="-122"/>
                <a:cs typeface="Calibri" pitchFamily="34" charset="-120"/>
              </a:rPr>
              <a:t>Gujarat MPLADS case, press reporting</a:t>
            </a:r>
            <a:endParaRPr lang="en-US" sz="1000" dirty="0"/>
          </a:p>
        </p:txBody>
      </p:sp>
      <p:sp>
        <p:nvSpPr>
          <p:cNvPr id="9" name="Shape 7"/>
          <p:cNvSpPr/>
          <p:nvPr/>
        </p:nvSpPr>
        <p:spPr>
          <a:xfrm>
            <a:off x="4279392" y="1572768"/>
            <a:ext cx="3511296" cy="3246120"/>
          </a:xfrm>
          <a:prstGeom prst="roundRect">
            <a:avLst>
              <a:gd name="adj" fmla="val 1690"/>
            </a:avLst>
          </a:prstGeom>
          <a:solidFill>
            <a:srgbClr val="15263D"/>
          </a:solidFill>
          <a:ln w="12700">
            <a:solidFill>
              <a:srgbClr val="1D3350"/>
            </a:solidFill>
            <a:prstDash val="solid"/>
          </a:ln>
        </p:spPr>
      </p:sp>
      <p:sp>
        <p:nvSpPr>
          <p:cNvPr id="10" name="Text 8"/>
          <p:cNvSpPr txBox="1"/>
          <p:nvPr/>
        </p:nvSpPr>
        <p:spPr>
          <a:xfrm>
            <a:off x="4498848" y="1755648"/>
            <a:ext cx="3108960" cy="256032"/>
          </a:xfrm>
          <a:prstGeom prst="rect">
            <a:avLst/>
          </a:prstGeom>
          <a:noFill/>
          <a:ln/>
        </p:spPr>
        <p:txBody>
          <a:bodyPr wrap="square" lIns="0" tIns="0" rIns="0" bIns="0" rtlCol="0" anchor="ctr"/>
          <a:lstStyle/>
          <a:p>
            <a:pPr marL="0" indent="0">
              <a:buNone/>
            </a:pPr>
            <a:r>
              <a:rPr lang="en-US" sz="1000" b="1" kern="0" spc="160" dirty="0">
                <a:solidFill>
                  <a:srgbClr val="F2A03D"/>
                </a:solidFill>
                <a:latin typeface="Calibri" pitchFamily="34" charset="0"/>
                <a:ea typeface="Calibri" pitchFamily="34" charset="-122"/>
                <a:cs typeface="Calibri" pitchFamily="34" charset="-120"/>
              </a:rPr>
              <a:t>FALSIFIED EVIDENCE</a:t>
            </a:r>
            <a:endParaRPr lang="en-US" sz="1000" dirty="0"/>
          </a:p>
        </p:txBody>
      </p:sp>
      <p:sp>
        <p:nvSpPr>
          <p:cNvPr id="11" name="Text 9"/>
          <p:cNvSpPr txBox="1"/>
          <p:nvPr/>
        </p:nvSpPr>
        <p:spPr>
          <a:xfrm>
            <a:off x="4498848" y="2048256"/>
            <a:ext cx="3108960" cy="731520"/>
          </a:xfrm>
          <a:prstGeom prst="rect">
            <a:avLst/>
          </a:prstGeom>
          <a:noFill/>
          <a:ln/>
        </p:spPr>
        <p:txBody>
          <a:bodyPr wrap="square" lIns="0" tIns="0" rIns="0" bIns="0" rtlCol="0" anchor="t"/>
          <a:lstStyle/>
          <a:p>
            <a:pPr marL="0" indent="0">
              <a:lnSpc>
                <a:spcPts val="2500"/>
              </a:lnSpc>
              <a:buNone/>
            </a:pPr>
            <a:r>
              <a:rPr lang="en-US" sz="2100" b="1" dirty="0">
                <a:solidFill>
                  <a:srgbClr val="F4F7FA"/>
                </a:solidFill>
                <a:latin typeface="Cambria" pitchFamily="34" charset="0"/>
                <a:ea typeface="Cambria" pitchFamily="34" charset="-122"/>
                <a:cs typeface="Cambria" pitchFamily="34" charset="-120"/>
              </a:rPr>
              <a:t>₹5.86 crore</a:t>
            </a:r>
            <a:endParaRPr lang="en-US" sz="2100" dirty="0"/>
          </a:p>
        </p:txBody>
      </p:sp>
      <p:sp>
        <p:nvSpPr>
          <p:cNvPr id="12" name="Text 10"/>
          <p:cNvSpPr txBox="1"/>
          <p:nvPr/>
        </p:nvSpPr>
        <p:spPr>
          <a:xfrm>
            <a:off x="4498848" y="2852928"/>
            <a:ext cx="3108960" cy="1371600"/>
          </a:xfrm>
          <a:prstGeom prst="rect">
            <a:avLst/>
          </a:prstGeom>
          <a:noFill/>
          <a:ln/>
        </p:spPr>
        <p:txBody>
          <a:bodyPr wrap="square" lIns="0" tIns="0" rIns="0" bIns="0" rtlCol="0" anchor="ctr"/>
          <a:lstStyle/>
          <a:p>
            <a:pPr marL="0" indent="0">
              <a:lnSpc>
                <a:spcPts val="1800"/>
              </a:lnSpc>
              <a:buNone/>
            </a:pPr>
            <a:r>
              <a:rPr lang="en-US" sz="1250" dirty="0">
                <a:solidFill>
                  <a:srgbClr val="9DB3CC"/>
                </a:solidFill>
                <a:latin typeface="Calibri" pitchFamily="34" charset="0"/>
                <a:ea typeface="Calibri" pitchFamily="34" charset="-122"/>
                <a:cs typeface="Calibri" pitchFamily="34" charset="-120"/>
              </a:rPr>
              <a:t>Paid on short-executed works through fictitious measurement-book entries. A further ₹1.36 crore of execution was recorded that never happened.</a:t>
            </a:r>
            <a:endParaRPr lang="en-US" sz="1250" dirty="0"/>
          </a:p>
        </p:txBody>
      </p:sp>
      <p:sp>
        <p:nvSpPr>
          <p:cNvPr id="13" name="Text 11"/>
          <p:cNvSpPr txBox="1"/>
          <p:nvPr/>
        </p:nvSpPr>
        <p:spPr>
          <a:xfrm>
            <a:off x="4498848" y="4315968"/>
            <a:ext cx="3108960" cy="292608"/>
          </a:xfrm>
          <a:prstGeom prst="rect">
            <a:avLst/>
          </a:prstGeom>
          <a:noFill/>
          <a:ln/>
        </p:spPr>
        <p:txBody>
          <a:bodyPr wrap="square" lIns="0" tIns="0" rIns="0" bIns="0" rtlCol="0" anchor="ctr"/>
          <a:lstStyle/>
          <a:p>
            <a:pPr marL="0" indent="0">
              <a:buNone/>
            </a:pPr>
            <a:r>
              <a:rPr lang="en-US" sz="1000" i="1" dirty="0">
                <a:solidFill>
                  <a:srgbClr val="6A8098"/>
                </a:solidFill>
                <a:latin typeface="Calibri" pitchFamily="34" charset="0"/>
                <a:ea typeface="Calibri" pitchFamily="34" charset="-122"/>
                <a:cs typeface="Calibri" pitchFamily="34" charset="-120"/>
              </a:rPr>
              <a:t>Nagaland, CAG audit findings</a:t>
            </a:r>
            <a:endParaRPr lang="en-US" sz="1000" dirty="0"/>
          </a:p>
        </p:txBody>
      </p:sp>
      <p:sp>
        <p:nvSpPr>
          <p:cNvPr id="14" name="Shape 12"/>
          <p:cNvSpPr/>
          <p:nvPr/>
        </p:nvSpPr>
        <p:spPr>
          <a:xfrm>
            <a:off x="7991856" y="1572768"/>
            <a:ext cx="3511296" cy="3246120"/>
          </a:xfrm>
          <a:prstGeom prst="roundRect">
            <a:avLst>
              <a:gd name="adj" fmla="val 1690"/>
            </a:avLst>
          </a:prstGeom>
          <a:solidFill>
            <a:srgbClr val="15263D"/>
          </a:solidFill>
          <a:ln w="12700">
            <a:solidFill>
              <a:srgbClr val="1D3350"/>
            </a:solidFill>
            <a:prstDash val="solid"/>
          </a:ln>
        </p:spPr>
      </p:sp>
      <p:sp>
        <p:nvSpPr>
          <p:cNvPr id="15" name="Text 13"/>
          <p:cNvSpPr txBox="1"/>
          <p:nvPr/>
        </p:nvSpPr>
        <p:spPr>
          <a:xfrm>
            <a:off x="8211312" y="1755648"/>
            <a:ext cx="3108960" cy="256032"/>
          </a:xfrm>
          <a:prstGeom prst="rect">
            <a:avLst/>
          </a:prstGeom>
          <a:noFill/>
          <a:ln/>
        </p:spPr>
        <p:txBody>
          <a:bodyPr wrap="square" lIns="0" tIns="0" rIns="0" bIns="0" rtlCol="0" anchor="ctr"/>
          <a:lstStyle/>
          <a:p>
            <a:pPr marL="0" indent="0">
              <a:buNone/>
            </a:pPr>
            <a:r>
              <a:rPr lang="en-US" sz="1000" b="1" kern="0" spc="160" dirty="0">
                <a:solidFill>
                  <a:srgbClr val="7FB2E5"/>
                </a:solidFill>
                <a:latin typeface="Calibri" pitchFamily="34" charset="0"/>
                <a:ea typeface="Calibri" pitchFamily="34" charset="-122"/>
                <a:cs typeface="Calibri" pitchFamily="34" charset="-120"/>
              </a:rPr>
              <a:t>CROSS-YEAR DUPLICATE</a:t>
            </a:r>
            <a:endParaRPr lang="en-US" sz="1000" dirty="0"/>
          </a:p>
        </p:txBody>
      </p:sp>
      <p:sp>
        <p:nvSpPr>
          <p:cNvPr id="16" name="Text 14"/>
          <p:cNvSpPr txBox="1"/>
          <p:nvPr/>
        </p:nvSpPr>
        <p:spPr>
          <a:xfrm>
            <a:off x="8211312" y="2048256"/>
            <a:ext cx="3108960" cy="731520"/>
          </a:xfrm>
          <a:prstGeom prst="rect">
            <a:avLst/>
          </a:prstGeom>
          <a:noFill/>
          <a:ln/>
        </p:spPr>
        <p:txBody>
          <a:bodyPr wrap="square" lIns="0" tIns="0" rIns="0" bIns="0" rtlCol="0" anchor="t"/>
          <a:lstStyle/>
          <a:p>
            <a:pPr marL="0" indent="0">
              <a:lnSpc>
                <a:spcPts val="2500"/>
              </a:lnSpc>
              <a:buNone/>
            </a:pPr>
            <a:r>
              <a:rPr lang="en-US" sz="2100" b="1" dirty="0">
                <a:solidFill>
                  <a:srgbClr val="F4F7FA"/>
                </a:solidFill>
                <a:latin typeface="Cambria" pitchFamily="34" charset="0"/>
                <a:ea typeface="Cambria" pitchFamily="34" charset="-122"/>
                <a:cs typeface="Cambria" pitchFamily="34" charset="-120"/>
              </a:rPr>
              <a:t>₹45.20 lakh</a:t>
            </a:r>
            <a:endParaRPr lang="en-US" sz="2100" dirty="0"/>
          </a:p>
        </p:txBody>
      </p:sp>
      <p:sp>
        <p:nvSpPr>
          <p:cNvPr id="17" name="Text 15"/>
          <p:cNvSpPr txBox="1"/>
          <p:nvPr/>
        </p:nvSpPr>
        <p:spPr>
          <a:xfrm>
            <a:off x="8211312" y="2852928"/>
            <a:ext cx="3108960" cy="1371600"/>
          </a:xfrm>
          <a:prstGeom prst="rect">
            <a:avLst/>
          </a:prstGeom>
          <a:noFill/>
          <a:ln/>
        </p:spPr>
        <p:txBody>
          <a:bodyPr wrap="square" lIns="0" tIns="0" rIns="0" bIns="0" rtlCol="0" anchor="ctr"/>
          <a:lstStyle/>
          <a:p>
            <a:pPr marL="0" indent="0">
              <a:lnSpc>
                <a:spcPts val="1800"/>
              </a:lnSpc>
              <a:buNone/>
            </a:pPr>
            <a:r>
              <a:rPr lang="en-US" sz="1250" dirty="0">
                <a:solidFill>
                  <a:srgbClr val="9DB3CC"/>
                </a:solidFill>
                <a:latin typeface="Calibri" pitchFamily="34" charset="0"/>
                <a:ea typeface="Calibri" pitchFamily="34" charset="-122"/>
                <a:cs typeface="Calibri" pitchFamily="34" charset="-120"/>
              </a:rPr>
              <a:t>Claimed to renovate a Panchayat building that had already been funded and renovated the previous year.</a:t>
            </a:r>
            <a:endParaRPr lang="en-US" sz="1250" dirty="0"/>
          </a:p>
        </p:txBody>
      </p:sp>
      <p:sp>
        <p:nvSpPr>
          <p:cNvPr id="18" name="Text 16"/>
          <p:cNvSpPr txBox="1"/>
          <p:nvPr/>
        </p:nvSpPr>
        <p:spPr>
          <a:xfrm>
            <a:off x="8211312" y="4315968"/>
            <a:ext cx="3108960" cy="292608"/>
          </a:xfrm>
          <a:prstGeom prst="rect">
            <a:avLst/>
          </a:prstGeom>
          <a:noFill/>
          <a:ln/>
        </p:spPr>
        <p:txBody>
          <a:bodyPr wrap="square" lIns="0" tIns="0" rIns="0" bIns="0" rtlCol="0" anchor="ctr"/>
          <a:lstStyle/>
          <a:p>
            <a:pPr marL="0" indent="0">
              <a:buNone/>
            </a:pPr>
            <a:r>
              <a:rPr lang="en-US" sz="1000" i="1" dirty="0">
                <a:solidFill>
                  <a:srgbClr val="6A8098"/>
                </a:solidFill>
                <a:latin typeface="Calibri" pitchFamily="34" charset="0"/>
                <a:ea typeface="Calibri" pitchFamily="34" charset="-122"/>
                <a:cs typeface="Calibri" pitchFamily="34" charset="-120"/>
              </a:rPr>
              <a:t>MPLADS audit reporting</a:t>
            </a:r>
            <a:endParaRPr lang="en-US" sz="1000" dirty="0"/>
          </a:p>
        </p:txBody>
      </p:sp>
      <p:sp>
        <p:nvSpPr>
          <p:cNvPr id="19" name="Shape 17"/>
          <p:cNvSpPr/>
          <p:nvPr/>
        </p:nvSpPr>
        <p:spPr>
          <a:xfrm>
            <a:off x="566928" y="4983480"/>
            <a:ext cx="11057839" cy="1051560"/>
          </a:xfrm>
          <a:prstGeom prst="roundRect">
            <a:avLst>
              <a:gd name="adj" fmla="val 5217"/>
            </a:avLst>
          </a:prstGeom>
          <a:solidFill>
            <a:srgbClr val="1D3350"/>
          </a:solidFill>
          <a:ln w="12700">
            <a:solidFill>
              <a:srgbClr val="1D3350"/>
            </a:solidFill>
            <a:prstDash val="solid"/>
          </a:ln>
        </p:spPr>
      </p:sp>
      <p:sp>
        <p:nvSpPr>
          <p:cNvPr id="20" name="Text 18"/>
          <p:cNvSpPr txBox="1"/>
          <p:nvPr/>
        </p:nvSpPr>
        <p:spPr>
          <a:xfrm>
            <a:off x="841248" y="5084064"/>
            <a:ext cx="10509199" cy="310896"/>
          </a:xfrm>
          <a:prstGeom prst="rect">
            <a:avLst/>
          </a:prstGeom>
          <a:noFill/>
          <a:ln/>
        </p:spPr>
        <p:txBody>
          <a:bodyPr wrap="square" lIns="0" tIns="0" rIns="0" bIns="0" rtlCol="0" anchor="ctr"/>
          <a:lstStyle/>
          <a:p>
            <a:pPr marL="0" indent="0">
              <a:buNone/>
            </a:pPr>
            <a:r>
              <a:rPr lang="en-US" sz="1700" b="1" dirty="0">
                <a:solidFill>
                  <a:srgbClr val="F2A03D"/>
                </a:solidFill>
                <a:latin typeface="Cambria" pitchFamily="34" charset="0"/>
                <a:ea typeface="Cambria" pitchFamily="34" charset="-122"/>
                <a:cs typeface="Cambria" pitchFamily="34" charset="-120"/>
              </a:rPr>
              <a:t>Every detector in NAZAR is derived from a documented audit finding.</a:t>
            </a:r>
            <a:endParaRPr lang="en-US" sz="1700" dirty="0"/>
          </a:p>
        </p:txBody>
      </p:sp>
      <p:sp>
        <p:nvSpPr>
          <p:cNvPr id="21" name="Text 19"/>
          <p:cNvSpPr txBox="1"/>
          <p:nvPr/>
        </p:nvSpPr>
        <p:spPr>
          <a:xfrm>
            <a:off x="841248" y="5413248"/>
            <a:ext cx="10509199" cy="566928"/>
          </a:xfrm>
          <a:prstGeom prst="rect">
            <a:avLst/>
          </a:prstGeom>
          <a:noFill/>
          <a:ln/>
        </p:spPr>
        <p:txBody>
          <a:bodyPr wrap="square" lIns="0" tIns="0" rIns="0" bIns="0" rtlCol="0" anchor="ctr"/>
          <a:lstStyle/>
          <a:p>
            <a:pPr marL="0" indent="0">
              <a:lnSpc>
                <a:spcPts val="1800"/>
              </a:lnSpc>
              <a:buNone/>
            </a:pPr>
            <a:r>
              <a:rPr lang="en-US" sz="1250" dirty="0">
                <a:solidFill>
                  <a:srgbClr val="9DB3CC"/>
                </a:solidFill>
                <a:latin typeface="Calibri" pitchFamily="34" charset="0"/>
                <a:ea typeface="Calibri" pitchFamily="34" charset="-122"/>
                <a:cs typeface="Calibri" pitchFamily="34" charset="-120"/>
              </a:rPr>
              <a:t>Not one of them is an invented heuristic. We read the audit record first, then asked which of these mechanisms leaves a trace in the data the portal already publishes — that question, not a model choice, is what shaped this system.</a:t>
            </a:r>
            <a:endParaRPr lang="en-US" sz="1250" dirty="0"/>
          </a:p>
        </p:txBody>
      </p:sp>
      <p:sp>
        <p:nvSpPr>
          <p:cNvPr id="23" name="Shape 20"/>
          <p:cNvSpPr/>
          <p:nvPr/>
        </p:nvSpPr>
        <p:spPr>
          <a:xfrm>
            <a:off x="566928" y="6309360"/>
            <a:ext cx="256032" cy="256032"/>
          </a:xfrm>
          <a:prstGeom prst="ellipse">
            <a:avLst/>
          </a:prstGeom>
          <a:solidFill>
            <a:srgbClr val="1D3350"/>
          </a:solidFill>
          <a:ln w="12700">
            <a:solidFill>
              <a:srgbClr val="F2A03D"/>
            </a:solidFill>
            <a:prstDash val="solid"/>
          </a:ln>
        </p:spPr>
      </p:sp>
      <p:sp>
        <p:nvSpPr>
          <p:cNvPr id="24" name="Text 21"/>
          <p:cNvSpPr txBox="1"/>
          <p:nvPr/>
        </p:nvSpPr>
        <p:spPr>
          <a:xfrm>
            <a:off x="566928" y="6309360"/>
            <a:ext cx="256032" cy="256032"/>
          </a:xfrm>
          <a:prstGeom prst="rect">
            <a:avLst/>
          </a:prstGeom>
          <a:noFill/>
          <a:ln/>
        </p:spPr>
        <p:txBody>
          <a:bodyPr wrap="square" lIns="0" tIns="0" rIns="0" bIns="0" rtlCol="0" anchor="ctr"/>
          <a:lstStyle/>
          <a:p>
            <a:pPr marL="0" indent="0" algn="ctr">
              <a:buNone/>
            </a:pPr>
            <a:r>
              <a:rPr lang="en-US" sz="1100" b="1" dirty="0">
                <a:solidFill>
                  <a:srgbClr val="F2A03D"/>
                </a:solidFill>
                <a:latin typeface="Calibri" pitchFamily="34" charset="0"/>
                <a:ea typeface="Calibri" pitchFamily="34" charset="-122"/>
                <a:cs typeface="Calibri" pitchFamily="34" charset="-120"/>
              </a:rPr>
              <a:t>1</a:t>
            </a:r>
            <a:endParaRPr lang="en-US" sz="1100" dirty="0"/>
          </a:p>
        </p:txBody>
      </p:sp>
      <p:sp>
        <p:nvSpPr>
          <p:cNvPr id="25" name="Text 22"/>
          <p:cNvSpPr txBox="1"/>
          <p:nvPr/>
        </p:nvSpPr>
        <p:spPr>
          <a:xfrm>
            <a:off x="914400" y="6309360"/>
            <a:ext cx="4572000" cy="256032"/>
          </a:xfrm>
          <a:prstGeom prst="rect">
            <a:avLst/>
          </a:prstGeom>
          <a:noFill/>
          <a:ln/>
        </p:spPr>
        <p:txBody>
          <a:bodyPr wrap="square" lIns="0" tIns="0" rIns="0" bIns="0" rtlCol="0" anchor="ctr"/>
          <a:lstStyle/>
          <a:p>
            <a:pPr marL="0" indent="0">
              <a:buNone/>
            </a:pPr>
            <a:r>
              <a:rPr lang="en-US" sz="1050" b="1" kern="0" spc="110" dirty="0">
                <a:solidFill>
                  <a:srgbClr val="9DB3CC"/>
                </a:solidFill>
                <a:latin typeface="Calibri" pitchFamily="34" charset="0"/>
                <a:ea typeface="Calibri" pitchFamily="34" charset="-122"/>
                <a:cs typeface="Calibri" pitchFamily="34" charset="-120"/>
              </a:rPr>
              <a:t>SPEAKER 1   ·   1:00 – 1:30</a:t>
            </a:r>
            <a:endParaRPr lang="en-US" sz="1050" dirty="0"/>
          </a:p>
        </p:txBody>
      </p:sp>
      <p:sp>
        <p:nvSpPr>
          <p:cNvPr id="26" name="Text 23"/>
          <p:cNvSpPr txBox="1"/>
          <p:nvPr/>
        </p:nvSpPr>
        <p:spPr>
          <a:xfrm>
            <a:off x="7052767" y="6309360"/>
            <a:ext cx="4572000" cy="256032"/>
          </a:xfrm>
          <a:prstGeom prst="rect">
            <a:avLst/>
          </a:prstGeom>
          <a:noFill/>
          <a:ln/>
        </p:spPr>
        <p:txBody>
          <a:bodyPr wrap="square" lIns="0" tIns="0" rIns="0" bIns="0" rtlCol="0" anchor="ctr"/>
          <a:lstStyle/>
          <a:p>
            <a:pPr marL="0" indent="0" algn="r">
              <a:buNone/>
            </a:pPr>
            <a:r>
              <a:rPr lang="en-US" sz="1050" dirty="0">
                <a:solidFill>
                  <a:srgbClr val="6A8098"/>
                </a:solidFill>
                <a:latin typeface="Calibri" pitchFamily="34" charset="0"/>
                <a:ea typeface="Calibri" pitchFamily="34" charset="-122"/>
                <a:cs typeface="Calibri" pitchFamily="34" charset="-120"/>
              </a:rPr>
              <a:t>NAZAR   ·   SIH 2026   ·   PS 26102   ·   3/16</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marL="0" indent="0">
              <a:buNone/>
            </a:pPr>
            <a:r>
              <a:rPr lang="en-US" sz="1150" b="1" kern="0" spc="220" dirty="0">
                <a:solidFill>
                  <a:srgbClr val="F2A03D"/>
                </a:solidFill>
                <a:latin typeface="Calibri" pitchFamily="34" charset="0"/>
                <a:ea typeface="Calibri" pitchFamily="34" charset="-122"/>
                <a:cs typeface="Calibri" pitchFamily="34" charset="-120"/>
              </a:rPr>
              <a:t>THE GAP</a:t>
            </a:r>
            <a:endParaRPr lang="en-US" sz="1150" dirty="0"/>
          </a:p>
        </p:txBody>
      </p:sp>
      <p:sp>
        <p:nvSpPr>
          <p:cNvPr id="3" name="Text 1"/>
          <p:cNvSpPr txBox="1"/>
          <p:nvPr/>
        </p:nvSpPr>
        <p:spPr>
          <a:xfrm>
            <a:off x="566928" y="621792"/>
            <a:ext cx="11057839" cy="749808"/>
          </a:xfrm>
          <a:prstGeom prst="rect">
            <a:avLst/>
          </a:prstGeom>
          <a:noFill/>
          <a:ln/>
        </p:spPr>
        <p:txBody>
          <a:bodyPr wrap="square" lIns="0" tIns="0" rIns="0" bIns="0" rtlCol="0" anchor="ctr"/>
          <a:lstStyle/>
          <a:p>
            <a:pPr marL="0" indent="0">
              <a:buNone/>
            </a:pPr>
            <a:r>
              <a:rPr lang="en-US" sz="3200" b="1" dirty="0">
                <a:solidFill>
                  <a:srgbClr val="F4F7FA"/>
                </a:solidFill>
                <a:latin typeface="Cambria" pitchFamily="34" charset="0"/>
                <a:ea typeface="Cambria" pitchFamily="34" charset="-122"/>
                <a:cs typeface="Cambria" pitchFamily="34" charset="-120"/>
              </a:rPr>
              <a:t>Why today's controls cannot catch any of it</a:t>
            </a:r>
            <a:endParaRPr lang="en-US" sz="3200" dirty="0"/>
          </a:p>
        </p:txBody>
      </p:sp>
      <p:sp>
        <p:nvSpPr>
          <p:cNvPr id="4" name="Shape 2"/>
          <p:cNvSpPr/>
          <p:nvPr/>
        </p:nvSpPr>
        <p:spPr>
          <a:xfrm>
            <a:off x="566928" y="1618488"/>
            <a:ext cx="402336" cy="402336"/>
          </a:xfrm>
          <a:prstGeom prst="ellipse">
            <a:avLst/>
          </a:prstGeom>
          <a:solidFill>
            <a:srgbClr val="1D3350"/>
          </a:solidFill>
          <a:ln/>
        </p:spPr>
      </p:sp>
      <p:sp>
        <p:nvSpPr>
          <p:cNvPr id="5" name="Text 3"/>
          <p:cNvSpPr txBox="1"/>
          <p:nvPr/>
        </p:nvSpPr>
        <p:spPr>
          <a:xfrm>
            <a:off x="566928" y="1618488"/>
            <a:ext cx="402336" cy="402336"/>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133856" y="1572768"/>
            <a:ext cx="5577840" cy="329184"/>
          </a:xfrm>
          <a:prstGeom prst="rect">
            <a:avLst/>
          </a:prstGeom>
          <a:noFill/>
          <a:ln/>
        </p:spPr>
        <p:txBody>
          <a:bodyPr wrap="square" lIns="0" tIns="0" rIns="0" bIns="0" rtlCol="0" anchor="ctr"/>
          <a:lstStyle/>
          <a:p>
            <a:pPr marL="0" indent="0">
              <a:buNone/>
            </a:pPr>
            <a:r>
              <a:rPr lang="en-US" sz="1700" b="1" dirty="0">
                <a:solidFill>
                  <a:srgbClr val="F4F7FA"/>
                </a:solidFill>
                <a:latin typeface="Cambria" pitchFamily="34" charset="0"/>
                <a:ea typeface="Cambria" pitchFamily="34" charset="-122"/>
                <a:cs typeface="Cambria" pitchFamily="34" charset="-120"/>
              </a:rPr>
              <a:t>Sampled, not total</a:t>
            </a:r>
            <a:endParaRPr lang="en-US" sz="1700" dirty="0"/>
          </a:p>
        </p:txBody>
      </p:sp>
      <p:sp>
        <p:nvSpPr>
          <p:cNvPr id="7" name="Text 5"/>
          <p:cNvSpPr txBox="1"/>
          <p:nvPr/>
        </p:nvSpPr>
        <p:spPr>
          <a:xfrm>
            <a:off x="1133856" y="1901952"/>
            <a:ext cx="5577840" cy="621792"/>
          </a:xfrm>
          <a:prstGeom prst="rect">
            <a:avLst/>
          </a:prstGeom>
          <a:noFill/>
          <a:ln/>
        </p:spPr>
        <p:txBody>
          <a:bodyPr wrap="square" lIns="0" tIns="0" rIns="0" bIns="0" rtlCol="0" anchor="ctr"/>
          <a:lstStyle/>
          <a:p>
            <a:pPr marL="0" indent="0">
              <a:lnSpc>
                <a:spcPts val="1800"/>
              </a:lnSpc>
              <a:buNone/>
            </a:pPr>
            <a:r>
              <a:rPr lang="en-US" sz="1250" dirty="0">
                <a:solidFill>
                  <a:srgbClr val="9DB3CC"/>
                </a:solidFill>
                <a:latin typeface="Calibri" pitchFamily="34" charset="0"/>
                <a:ea typeface="Calibri" pitchFamily="34" charset="-122"/>
                <a:cs typeface="Calibri" pitchFamily="34" charset="-120"/>
              </a:rPr>
              <a:t>Inspection covers a fraction of works. Fraud simply lives in the remainder.</a:t>
            </a:r>
            <a:endParaRPr lang="en-US" sz="1250" dirty="0"/>
          </a:p>
        </p:txBody>
      </p:sp>
      <p:sp>
        <p:nvSpPr>
          <p:cNvPr id="8" name="Shape 6"/>
          <p:cNvSpPr/>
          <p:nvPr/>
        </p:nvSpPr>
        <p:spPr>
          <a:xfrm>
            <a:off x="566928" y="2734056"/>
            <a:ext cx="402336" cy="402336"/>
          </a:xfrm>
          <a:prstGeom prst="ellipse">
            <a:avLst/>
          </a:prstGeom>
          <a:solidFill>
            <a:srgbClr val="1D3350"/>
          </a:solidFill>
          <a:ln/>
        </p:spPr>
      </p:sp>
      <p:sp>
        <p:nvSpPr>
          <p:cNvPr id="9" name="Text 7"/>
          <p:cNvSpPr txBox="1"/>
          <p:nvPr/>
        </p:nvSpPr>
        <p:spPr>
          <a:xfrm>
            <a:off x="566928" y="2734056"/>
            <a:ext cx="402336" cy="402336"/>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33856" y="2688336"/>
            <a:ext cx="5577840" cy="329184"/>
          </a:xfrm>
          <a:prstGeom prst="rect">
            <a:avLst/>
          </a:prstGeom>
          <a:noFill/>
          <a:ln/>
        </p:spPr>
        <p:txBody>
          <a:bodyPr wrap="square" lIns="0" tIns="0" rIns="0" bIns="0" rtlCol="0" anchor="ctr"/>
          <a:lstStyle/>
          <a:p>
            <a:pPr marL="0" indent="0">
              <a:buNone/>
            </a:pPr>
            <a:r>
              <a:rPr lang="en-US" sz="1700" b="1" dirty="0">
                <a:solidFill>
                  <a:srgbClr val="F4F7FA"/>
                </a:solidFill>
                <a:latin typeface="Cambria" pitchFamily="34" charset="0"/>
                <a:ea typeface="Cambria" pitchFamily="34" charset="-122"/>
                <a:cs typeface="Cambria" pitchFamily="34" charset="-120"/>
              </a:rPr>
              <a:t>Post-hoc</a:t>
            </a:r>
            <a:endParaRPr lang="en-US" sz="1700" dirty="0"/>
          </a:p>
        </p:txBody>
      </p:sp>
      <p:sp>
        <p:nvSpPr>
          <p:cNvPr id="11" name="Text 9"/>
          <p:cNvSpPr txBox="1"/>
          <p:nvPr/>
        </p:nvSpPr>
        <p:spPr>
          <a:xfrm>
            <a:off x="1133856" y="3017520"/>
            <a:ext cx="5577840" cy="621792"/>
          </a:xfrm>
          <a:prstGeom prst="rect">
            <a:avLst/>
          </a:prstGeom>
          <a:noFill/>
          <a:ln/>
        </p:spPr>
        <p:txBody>
          <a:bodyPr wrap="square" lIns="0" tIns="0" rIns="0" bIns="0" rtlCol="0" anchor="ctr"/>
          <a:lstStyle/>
          <a:p>
            <a:pPr marL="0" indent="0">
              <a:lnSpc>
                <a:spcPts val="1800"/>
              </a:lnSpc>
              <a:buNone/>
            </a:pPr>
            <a:r>
              <a:rPr lang="en-US" sz="1250" dirty="0">
                <a:solidFill>
                  <a:srgbClr val="9DB3CC"/>
                </a:solidFill>
                <a:latin typeface="Calibri" pitchFamily="34" charset="0"/>
                <a:ea typeface="Calibri" pitchFamily="34" charset="-122"/>
                <a:cs typeface="Calibri" pitchFamily="34" charset="-120"/>
              </a:rPr>
              <a:t>An audit report arrives years after the asset was supposed to exist. The trail is cold.</a:t>
            </a:r>
            <a:endParaRPr lang="en-US" sz="1250" dirty="0"/>
          </a:p>
        </p:txBody>
      </p:sp>
      <p:sp>
        <p:nvSpPr>
          <p:cNvPr id="12" name="Shape 10"/>
          <p:cNvSpPr/>
          <p:nvPr/>
        </p:nvSpPr>
        <p:spPr>
          <a:xfrm>
            <a:off x="566928" y="3849624"/>
            <a:ext cx="402336" cy="402336"/>
          </a:xfrm>
          <a:prstGeom prst="ellipse">
            <a:avLst/>
          </a:prstGeom>
          <a:solidFill>
            <a:srgbClr val="1D3350"/>
          </a:solidFill>
          <a:ln/>
        </p:spPr>
      </p:sp>
      <p:sp>
        <p:nvSpPr>
          <p:cNvPr id="13" name="Text 11"/>
          <p:cNvSpPr txBox="1"/>
          <p:nvPr/>
        </p:nvSpPr>
        <p:spPr>
          <a:xfrm>
            <a:off x="566928" y="3849624"/>
            <a:ext cx="402336" cy="402336"/>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33856" y="3803904"/>
            <a:ext cx="5577840" cy="329184"/>
          </a:xfrm>
          <a:prstGeom prst="rect">
            <a:avLst/>
          </a:prstGeom>
          <a:noFill/>
          <a:ln/>
        </p:spPr>
        <p:txBody>
          <a:bodyPr wrap="square" lIns="0" tIns="0" rIns="0" bIns="0" rtlCol="0" anchor="ctr"/>
          <a:lstStyle/>
          <a:p>
            <a:pPr marL="0" indent="0">
              <a:buNone/>
            </a:pPr>
            <a:r>
              <a:rPr lang="en-US" sz="1700" b="1" dirty="0">
                <a:solidFill>
                  <a:srgbClr val="F4F7FA"/>
                </a:solidFill>
                <a:latin typeface="Cambria" pitchFamily="34" charset="0"/>
                <a:ea typeface="Cambria" pitchFamily="34" charset="-122"/>
                <a:cs typeface="Cambria" pitchFamily="34" charset="-120"/>
              </a:rPr>
              <a:t>Evidence is never cross-checked</a:t>
            </a:r>
            <a:endParaRPr lang="en-US" sz="1700" dirty="0"/>
          </a:p>
        </p:txBody>
      </p:sp>
      <p:sp>
        <p:nvSpPr>
          <p:cNvPr id="15" name="Text 13"/>
          <p:cNvSpPr txBox="1"/>
          <p:nvPr/>
        </p:nvSpPr>
        <p:spPr>
          <a:xfrm>
            <a:off x="1133856" y="4133088"/>
            <a:ext cx="5577840" cy="621792"/>
          </a:xfrm>
          <a:prstGeom prst="rect">
            <a:avLst/>
          </a:prstGeom>
          <a:noFill/>
          <a:ln/>
        </p:spPr>
        <p:txBody>
          <a:bodyPr wrap="square" lIns="0" tIns="0" rIns="0" bIns="0" rtlCol="0" anchor="ctr"/>
          <a:lstStyle/>
          <a:p>
            <a:pPr marL="0" indent="0">
              <a:lnSpc>
                <a:spcPts val="1800"/>
              </a:lnSpc>
              <a:buNone/>
            </a:pPr>
            <a:r>
              <a:rPr lang="en-US" sz="1250" dirty="0">
                <a:solidFill>
                  <a:srgbClr val="9DB3CC"/>
                </a:solidFill>
                <a:latin typeface="Calibri" pitchFamily="34" charset="0"/>
                <a:ea typeface="Calibri" pitchFamily="34" charset="-122"/>
                <a:cs typeface="Calibri" pitchFamily="34" charset="-120"/>
              </a:rPr>
              <a:t>The measurement books and completion photos are stored as files, not compared as data.</a:t>
            </a:r>
            <a:endParaRPr lang="en-US" sz="1250" dirty="0"/>
          </a:p>
        </p:txBody>
      </p:sp>
      <p:sp>
        <p:nvSpPr>
          <p:cNvPr id="16" name="Shape 14"/>
          <p:cNvSpPr/>
          <p:nvPr/>
        </p:nvSpPr>
        <p:spPr>
          <a:xfrm>
            <a:off x="566928" y="4965192"/>
            <a:ext cx="402336" cy="402336"/>
          </a:xfrm>
          <a:prstGeom prst="ellipse">
            <a:avLst/>
          </a:prstGeom>
          <a:solidFill>
            <a:srgbClr val="1D3350"/>
          </a:solidFill>
          <a:ln/>
        </p:spPr>
      </p:sp>
      <p:sp>
        <p:nvSpPr>
          <p:cNvPr id="17" name="Text 15"/>
          <p:cNvSpPr txBox="1"/>
          <p:nvPr/>
        </p:nvSpPr>
        <p:spPr>
          <a:xfrm>
            <a:off x="566928" y="4965192"/>
            <a:ext cx="402336" cy="402336"/>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133856" y="4919472"/>
            <a:ext cx="5577840" cy="329184"/>
          </a:xfrm>
          <a:prstGeom prst="rect">
            <a:avLst/>
          </a:prstGeom>
          <a:noFill/>
          <a:ln/>
        </p:spPr>
        <p:txBody>
          <a:bodyPr wrap="square" lIns="0" tIns="0" rIns="0" bIns="0" rtlCol="0" anchor="ctr"/>
          <a:lstStyle/>
          <a:p>
            <a:pPr marL="0" indent="0">
              <a:buNone/>
            </a:pPr>
            <a:r>
              <a:rPr lang="en-US" sz="1700" b="1" dirty="0">
                <a:solidFill>
                  <a:srgbClr val="F4F7FA"/>
                </a:solidFill>
                <a:latin typeface="Cambria" pitchFamily="34" charset="0"/>
                <a:ea typeface="Cambria" pitchFamily="34" charset="-122"/>
                <a:cs typeface="Cambria" pitchFamily="34" charset="-120"/>
              </a:rPr>
              <a:t>No shared memory</a:t>
            </a:r>
            <a:endParaRPr lang="en-US" sz="1700" dirty="0"/>
          </a:p>
        </p:txBody>
      </p:sp>
      <p:sp>
        <p:nvSpPr>
          <p:cNvPr id="19" name="Text 17"/>
          <p:cNvSpPr txBox="1"/>
          <p:nvPr/>
        </p:nvSpPr>
        <p:spPr>
          <a:xfrm>
            <a:off x="1133856" y="5248656"/>
            <a:ext cx="5577840" cy="621792"/>
          </a:xfrm>
          <a:prstGeom prst="rect">
            <a:avLst/>
          </a:prstGeom>
          <a:noFill/>
          <a:ln/>
        </p:spPr>
        <p:txBody>
          <a:bodyPr wrap="square" lIns="0" tIns="0" rIns="0" bIns="0" rtlCol="0" anchor="ctr"/>
          <a:lstStyle/>
          <a:p>
            <a:pPr marL="0" indent="0">
              <a:lnSpc>
                <a:spcPts val="1800"/>
              </a:lnSpc>
              <a:buNone/>
            </a:pPr>
            <a:r>
              <a:rPr lang="en-US" sz="1250" dirty="0">
                <a:solidFill>
                  <a:srgbClr val="9DB3CC"/>
                </a:solidFill>
                <a:latin typeface="Calibri" pitchFamily="34" charset="0"/>
                <a:ea typeface="Calibri" pitchFamily="34" charset="-122"/>
                <a:cs typeface="Calibri" pitchFamily="34" charset="-120"/>
              </a:rPr>
              <a:t>One district cannot see that the same photograph was already used in another state.</a:t>
            </a:r>
            <a:endParaRPr lang="en-US" sz="1250" dirty="0"/>
          </a:p>
        </p:txBody>
      </p:sp>
      <p:sp>
        <p:nvSpPr>
          <p:cNvPr id="20" name="Shape 18"/>
          <p:cNvSpPr/>
          <p:nvPr/>
        </p:nvSpPr>
        <p:spPr>
          <a:xfrm>
            <a:off x="6949440" y="1572768"/>
            <a:ext cx="4672584" cy="4206240"/>
          </a:xfrm>
          <a:prstGeom prst="roundRect">
            <a:avLst>
              <a:gd name="adj" fmla="val 1304"/>
            </a:avLst>
          </a:prstGeom>
          <a:solidFill>
            <a:srgbClr val="1D3350"/>
          </a:solidFill>
          <a:ln w="12700">
            <a:solidFill>
              <a:srgbClr val="1D3350"/>
            </a:solidFill>
            <a:prstDash val="solid"/>
          </a:ln>
        </p:spPr>
      </p:sp>
      <p:sp>
        <p:nvSpPr>
          <p:cNvPr id="21" name="Shape 19"/>
          <p:cNvSpPr/>
          <p:nvPr/>
        </p:nvSpPr>
        <p:spPr>
          <a:xfrm>
            <a:off x="8805672" y="1920240"/>
            <a:ext cx="950976" cy="950976"/>
          </a:xfrm>
          <a:prstGeom prst="ellipse">
            <a:avLst/>
          </a:prstGeom>
          <a:solidFill>
            <a:srgbClr val="0A1628">
              <a:alpha val="0"/>
            </a:srgbClr>
          </a:solidFill>
          <a:ln w="15875">
            <a:solidFill>
              <a:srgbClr val="2C4A6B"/>
            </a:solidFill>
            <a:prstDash val="solid"/>
          </a:ln>
        </p:spPr>
      </p:sp>
      <p:sp>
        <p:nvSpPr>
          <p:cNvPr id="22" name="Shape 20"/>
          <p:cNvSpPr/>
          <p:nvPr/>
        </p:nvSpPr>
        <p:spPr>
          <a:xfrm>
            <a:off x="8986357" y="2100925"/>
            <a:ext cx="589605" cy="589605"/>
          </a:xfrm>
          <a:prstGeom prst="ellipse">
            <a:avLst/>
          </a:prstGeom>
          <a:solidFill>
            <a:srgbClr val="0A1628">
              <a:alpha val="0"/>
            </a:srgbClr>
          </a:solidFill>
          <a:ln w="15875">
            <a:solidFill>
              <a:srgbClr val="2C4A6B"/>
            </a:solidFill>
            <a:prstDash val="solid"/>
          </a:ln>
        </p:spPr>
      </p:sp>
      <p:sp>
        <p:nvSpPr>
          <p:cNvPr id="23" name="Shape 21"/>
          <p:cNvSpPr/>
          <p:nvPr/>
        </p:nvSpPr>
        <p:spPr>
          <a:xfrm>
            <a:off x="9157533" y="2272101"/>
            <a:ext cx="247254" cy="247254"/>
          </a:xfrm>
          <a:prstGeom prst="ellipse">
            <a:avLst/>
          </a:prstGeom>
          <a:solidFill>
            <a:srgbClr val="F2A03D"/>
          </a:solidFill>
          <a:ln/>
        </p:spPr>
      </p:sp>
      <p:sp>
        <p:nvSpPr>
          <p:cNvPr id="24" name="Text 22"/>
          <p:cNvSpPr txBox="1"/>
          <p:nvPr/>
        </p:nvSpPr>
        <p:spPr>
          <a:xfrm>
            <a:off x="7269480" y="3063240"/>
            <a:ext cx="4023360" cy="1005840"/>
          </a:xfrm>
          <a:prstGeom prst="rect">
            <a:avLst/>
          </a:prstGeom>
          <a:noFill/>
          <a:ln/>
        </p:spPr>
        <p:txBody>
          <a:bodyPr wrap="square" lIns="0" tIns="0" rIns="0" bIns="0" rtlCol="0" anchor="ctr"/>
          <a:lstStyle/>
          <a:p>
            <a:pPr marL="0" indent="0">
              <a:lnSpc>
                <a:spcPts val="2700"/>
              </a:lnSpc>
              <a:buNone/>
            </a:pPr>
            <a:r>
              <a:rPr lang="en-US" sz="1900" b="1" dirty="0">
                <a:solidFill>
                  <a:srgbClr val="F4F7FA"/>
                </a:solidFill>
                <a:latin typeface="Cambria" pitchFamily="34" charset="0"/>
                <a:ea typeface="Cambria" pitchFamily="34" charset="-122"/>
                <a:cs typeface="Cambria" pitchFamily="34" charset="-120"/>
              </a:rPr>
              <a:t>A photograph reused in two constituencies 1,400 km apart is invisible to every existing control.</a:t>
            </a:r>
            <a:endParaRPr lang="en-US" sz="1900" dirty="0"/>
          </a:p>
        </p:txBody>
      </p:sp>
      <p:sp>
        <p:nvSpPr>
          <p:cNvPr id="25" name="Text 23"/>
          <p:cNvSpPr txBox="1"/>
          <p:nvPr/>
        </p:nvSpPr>
        <p:spPr>
          <a:xfrm>
            <a:off x="7269480" y="4114800"/>
            <a:ext cx="4023360" cy="640080"/>
          </a:xfrm>
          <a:prstGeom prst="rect">
            <a:avLst/>
          </a:prstGeom>
          <a:noFill/>
          <a:ln/>
        </p:spPr>
        <p:txBody>
          <a:bodyPr wrap="square" lIns="0" tIns="0" rIns="0" bIns="0" rtlCol="0" anchor="ctr"/>
          <a:lstStyle/>
          <a:p>
            <a:pPr marL="0" indent="0">
              <a:lnSpc>
                <a:spcPts val="2400"/>
              </a:lnSpc>
              <a:buNone/>
            </a:pPr>
            <a:r>
              <a:rPr lang="en-US" sz="1700" i="1" dirty="0">
                <a:solidFill>
                  <a:srgbClr val="F2A03D"/>
                </a:solidFill>
                <a:latin typeface="Cambria" pitchFamily="34" charset="0"/>
                <a:ea typeface="Cambria" pitchFamily="34" charset="-122"/>
                <a:cs typeface="Cambria" pitchFamily="34" charset="-120"/>
              </a:rPr>
              <a:t>To a hashing pipeline it is a lookup that takes thirty milliseconds.</a:t>
            </a:r>
            <a:endParaRPr lang="en-US" sz="1700" dirty="0"/>
          </a:p>
        </p:txBody>
      </p:sp>
      <p:sp>
        <p:nvSpPr>
          <p:cNvPr id="26" name="Text 24"/>
          <p:cNvSpPr txBox="1"/>
          <p:nvPr/>
        </p:nvSpPr>
        <p:spPr>
          <a:xfrm>
            <a:off x="7269480" y="4800600"/>
            <a:ext cx="4023360" cy="777240"/>
          </a:xfrm>
          <a:prstGeom prst="rect">
            <a:avLst/>
          </a:prstGeom>
          <a:noFill/>
          <a:ln/>
        </p:spPr>
        <p:txBody>
          <a:bodyPr wrap="square" lIns="0" tIns="0" rIns="0" bIns="0" rtlCol="0" anchor="ctr"/>
          <a:lstStyle/>
          <a:p>
            <a:pPr marL="0" indent="0">
              <a:lnSpc>
                <a:spcPts val="1700"/>
              </a:lnSpc>
              <a:buNone/>
            </a:pPr>
            <a:r>
              <a:rPr lang="en-US" sz="1200" dirty="0">
                <a:solidFill>
                  <a:srgbClr val="9DB3CC"/>
                </a:solidFill>
                <a:latin typeface="Calibri" pitchFamily="34" charset="0"/>
                <a:ea typeface="Calibri" pitchFamily="34" charset="-122"/>
                <a:cs typeface="Calibri" pitchFamily="34" charset="-120"/>
              </a:rPr>
              <a:t>That asymmetry is the whole opportunity — and it is the point at which this stops being an audit problem and becomes a computing problem.</a:t>
            </a:r>
            <a:endParaRPr lang="en-US" sz="1200" dirty="0"/>
          </a:p>
        </p:txBody>
      </p:sp>
      <p:sp>
        <p:nvSpPr>
          <p:cNvPr id="28" name="Shape 25"/>
          <p:cNvSpPr/>
          <p:nvPr/>
        </p:nvSpPr>
        <p:spPr>
          <a:xfrm>
            <a:off x="566928" y="6309360"/>
            <a:ext cx="256032" cy="256032"/>
          </a:xfrm>
          <a:prstGeom prst="ellipse">
            <a:avLst/>
          </a:prstGeom>
          <a:solidFill>
            <a:srgbClr val="1D3350"/>
          </a:solidFill>
          <a:ln w="12700">
            <a:solidFill>
              <a:srgbClr val="F2A03D"/>
            </a:solidFill>
            <a:prstDash val="solid"/>
          </a:ln>
        </p:spPr>
      </p:sp>
      <p:sp>
        <p:nvSpPr>
          <p:cNvPr id="29" name="Text 26"/>
          <p:cNvSpPr txBox="1"/>
          <p:nvPr/>
        </p:nvSpPr>
        <p:spPr>
          <a:xfrm>
            <a:off x="566928" y="6309360"/>
            <a:ext cx="256032" cy="256032"/>
          </a:xfrm>
          <a:prstGeom prst="rect">
            <a:avLst/>
          </a:prstGeom>
          <a:noFill/>
          <a:ln/>
        </p:spPr>
        <p:txBody>
          <a:bodyPr wrap="square" lIns="0" tIns="0" rIns="0" bIns="0" rtlCol="0" anchor="ctr"/>
          <a:lstStyle/>
          <a:p>
            <a:pPr marL="0" indent="0" algn="ctr">
              <a:buNone/>
            </a:pPr>
            <a:r>
              <a:rPr lang="en-US" sz="1100" b="1" dirty="0">
                <a:solidFill>
                  <a:srgbClr val="F2A03D"/>
                </a:solidFill>
                <a:latin typeface="Calibri" pitchFamily="34" charset="0"/>
                <a:ea typeface="Calibri" pitchFamily="34" charset="-122"/>
                <a:cs typeface="Calibri" pitchFamily="34" charset="-120"/>
              </a:rPr>
              <a:t>1</a:t>
            </a:r>
            <a:endParaRPr lang="en-US" sz="1100" dirty="0"/>
          </a:p>
        </p:txBody>
      </p:sp>
      <p:sp>
        <p:nvSpPr>
          <p:cNvPr id="30" name="Text 27"/>
          <p:cNvSpPr txBox="1"/>
          <p:nvPr/>
        </p:nvSpPr>
        <p:spPr>
          <a:xfrm>
            <a:off x="914400" y="6309360"/>
            <a:ext cx="4572000" cy="256032"/>
          </a:xfrm>
          <a:prstGeom prst="rect">
            <a:avLst/>
          </a:prstGeom>
          <a:noFill/>
          <a:ln/>
        </p:spPr>
        <p:txBody>
          <a:bodyPr wrap="square" lIns="0" tIns="0" rIns="0" bIns="0" rtlCol="0" anchor="ctr"/>
          <a:lstStyle/>
          <a:p>
            <a:pPr marL="0" indent="0">
              <a:buNone/>
            </a:pPr>
            <a:r>
              <a:rPr lang="en-US" sz="1050" b="1" kern="0" spc="110" dirty="0">
                <a:solidFill>
                  <a:srgbClr val="9DB3CC"/>
                </a:solidFill>
                <a:latin typeface="Calibri" pitchFamily="34" charset="0"/>
                <a:ea typeface="Calibri" pitchFamily="34" charset="-122"/>
                <a:cs typeface="Calibri" pitchFamily="34" charset="-120"/>
              </a:rPr>
              <a:t>SPEAKER 1   ·   1:30 – 1:50</a:t>
            </a:r>
            <a:endParaRPr lang="en-US" sz="1050" dirty="0"/>
          </a:p>
        </p:txBody>
      </p:sp>
      <p:sp>
        <p:nvSpPr>
          <p:cNvPr id="31" name="Text 28"/>
          <p:cNvSpPr txBox="1"/>
          <p:nvPr/>
        </p:nvSpPr>
        <p:spPr>
          <a:xfrm>
            <a:off x="7052767" y="6309360"/>
            <a:ext cx="4572000" cy="256032"/>
          </a:xfrm>
          <a:prstGeom prst="rect">
            <a:avLst/>
          </a:prstGeom>
          <a:noFill/>
          <a:ln/>
        </p:spPr>
        <p:txBody>
          <a:bodyPr wrap="square" lIns="0" tIns="0" rIns="0" bIns="0" rtlCol="0" anchor="ctr"/>
          <a:lstStyle/>
          <a:p>
            <a:pPr marL="0" indent="0" algn="r">
              <a:buNone/>
            </a:pPr>
            <a:r>
              <a:rPr lang="en-US" sz="1050" dirty="0">
                <a:solidFill>
                  <a:srgbClr val="6A8098"/>
                </a:solidFill>
                <a:latin typeface="Calibri" pitchFamily="34" charset="0"/>
                <a:ea typeface="Calibri" pitchFamily="34" charset="-122"/>
                <a:cs typeface="Calibri" pitchFamily="34" charset="-120"/>
              </a:rPr>
              <a:t>NAZAR   ·   SIH 2026   ·   PS 26102   ·   4/16</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marL="0" indent="0">
              <a:buNone/>
            </a:pPr>
            <a:r>
              <a:rPr lang="en-US" sz="1150" b="1" kern="0" spc="220" dirty="0">
                <a:solidFill>
                  <a:srgbClr val="F2A03D"/>
                </a:solidFill>
                <a:latin typeface="Calibri" pitchFamily="34" charset="0"/>
                <a:ea typeface="Calibri" pitchFamily="34" charset="-122"/>
                <a:cs typeface="Calibri" pitchFamily="34" charset="-120"/>
              </a:rPr>
              <a:t>THE SOLUTION</a:t>
            </a:r>
            <a:endParaRPr lang="en-US" sz="1150" dirty="0"/>
          </a:p>
        </p:txBody>
      </p:sp>
      <p:sp>
        <p:nvSpPr>
          <p:cNvPr id="3" name="Text 1"/>
          <p:cNvSpPr txBox="1"/>
          <p:nvPr/>
        </p:nvSpPr>
        <p:spPr>
          <a:xfrm>
            <a:off x="566928" y="621792"/>
            <a:ext cx="11057839" cy="749808"/>
          </a:xfrm>
          <a:prstGeom prst="rect">
            <a:avLst/>
          </a:prstGeom>
          <a:noFill/>
          <a:ln/>
        </p:spPr>
        <p:txBody>
          <a:bodyPr wrap="square" lIns="0" tIns="0" rIns="0" bIns="0" rtlCol="0" anchor="ctr"/>
          <a:lstStyle/>
          <a:p>
            <a:pPr marL="0" indent="0">
              <a:buNone/>
            </a:pPr>
            <a:r>
              <a:rPr lang="en-US" sz="3200" b="1" dirty="0">
                <a:solidFill>
                  <a:srgbClr val="F4F7FA"/>
                </a:solidFill>
                <a:latin typeface="Cambria" pitchFamily="34" charset="0"/>
                <a:ea typeface="Cambria" pitchFamily="34" charset="-122"/>
                <a:cs typeface="Cambria" pitchFamily="34" charset="-120"/>
              </a:rPr>
              <a:t>NAZAR — a District Command Centre for MPLADS</a:t>
            </a:r>
            <a:endParaRPr lang="en-US" sz="3200" dirty="0"/>
          </a:p>
        </p:txBody>
      </p:sp>
      <p:sp>
        <p:nvSpPr>
          <p:cNvPr id="4" name="Shape 2"/>
          <p:cNvSpPr/>
          <p:nvPr/>
        </p:nvSpPr>
        <p:spPr>
          <a:xfrm>
            <a:off x="566928" y="1554480"/>
            <a:ext cx="11057839" cy="1371600"/>
          </a:xfrm>
          <a:prstGeom prst="roundRect">
            <a:avLst>
              <a:gd name="adj" fmla="val 4000"/>
            </a:avLst>
          </a:prstGeom>
          <a:solidFill>
            <a:srgbClr val="1D3350"/>
          </a:solidFill>
          <a:ln w="12700">
            <a:solidFill>
              <a:srgbClr val="1D3350"/>
            </a:solidFill>
            <a:prstDash val="solid"/>
          </a:ln>
        </p:spPr>
      </p:sp>
      <p:sp>
        <p:nvSpPr>
          <p:cNvPr id="5" name="Text 3"/>
          <p:cNvSpPr txBox="1"/>
          <p:nvPr/>
        </p:nvSpPr>
        <p:spPr>
          <a:xfrm>
            <a:off x="886968" y="1737360"/>
            <a:ext cx="10417759" cy="1051560"/>
          </a:xfrm>
          <a:prstGeom prst="rect">
            <a:avLst/>
          </a:prstGeom>
          <a:noFill/>
          <a:ln/>
        </p:spPr>
        <p:txBody>
          <a:bodyPr wrap="square" lIns="0" tIns="0" rIns="0" bIns="0" rtlCol="0" anchor="ctr"/>
          <a:lstStyle/>
          <a:p>
            <a:pPr marL="0" indent="0">
              <a:lnSpc>
                <a:spcPts val="2500"/>
              </a:lnSpc>
              <a:buNone/>
            </a:pPr>
            <a:r>
              <a:rPr lang="en-US" sz="1550" dirty="0">
                <a:solidFill>
                  <a:srgbClr val="F4F7FA"/>
                </a:solidFill>
                <a:latin typeface="Calibri" pitchFamily="34" charset="0"/>
                <a:ea typeface="Calibri" pitchFamily="34" charset="-122"/>
                <a:cs typeface="Calibri" pitchFamily="34" charset="-120"/>
              </a:rPr>
              <a:t>NAZAR ingests every MPLADS work and every attachment agencies upload, scores each work with five independent detection engines, and hands an officer a ranked queue in which every single flag carries the rule text, the peer-group statistic, or the side-by-side duplicate image that produced it.</a:t>
            </a:r>
            <a:endParaRPr lang="en-US" sz="1550" dirty="0"/>
          </a:p>
        </p:txBody>
      </p:sp>
      <p:sp>
        <p:nvSpPr>
          <p:cNvPr id="6" name="Shape 4"/>
          <p:cNvSpPr/>
          <p:nvPr/>
        </p:nvSpPr>
        <p:spPr>
          <a:xfrm>
            <a:off x="566928" y="3127248"/>
            <a:ext cx="3511296" cy="2606040"/>
          </a:xfrm>
          <a:prstGeom prst="roundRect">
            <a:avLst>
              <a:gd name="adj" fmla="val 2105"/>
            </a:avLst>
          </a:prstGeom>
          <a:solidFill>
            <a:srgbClr val="15263D"/>
          </a:solidFill>
          <a:ln w="12700">
            <a:solidFill>
              <a:srgbClr val="1D3350"/>
            </a:solidFill>
            <a:prstDash val="solid"/>
          </a:ln>
        </p:spPr>
      </p:sp>
      <p:sp>
        <p:nvSpPr>
          <p:cNvPr id="7" name="Shape 5"/>
          <p:cNvSpPr/>
          <p:nvPr/>
        </p:nvSpPr>
        <p:spPr>
          <a:xfrm>
            <a:off x="786384" y="3337560"/>
            <a:ext cx="365760" cy="365760"/>
          </a:xfrm>
          <a:prstGeom prst="ellipse">
            <a:avLst/>
          </a:prstGeom>
          <a:solidFill>
            <a:srgbClr val="F2A03D"/>
          </a:solidFill>
          <a:ln/>
        </p:spPr>
      </p:sp>
      <p:sp>
        <p:nvSpPr>
          <p:cNvPr id="8" name="Text 6"/>
          <p:cNvSpPr txBox="1"/>
          <p:nvPr/>
        </p:nvSpPr>
        <p:spPr>
          <a:xfrm>
            <a:off x="786384" y="3337560"/>
            <a:ext cx="365760" cy="365760"/>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243584" y="3337560"/>
            <a:ext cx="2651760" cy="365760"/>
          </a:xfrm>
          <a:prstGeom prst="rect">
            <a:avLst/>
          </a:prstGeom>
          <a:noFill/>
          <a:ln/>
        </p:spPr>
        <p:txBody>
          <a:bodyPr wrap="square" lIns="0" tIns="0" rIns="0" bIns="0" rtlCol="0" anchor="ctr"/>
          <a:lstStyle/>
          <a:p>
            <a:pPr marL="0" indent="0">
              <a:buNone/>
            </a:pPr>
            <a:r>
              <a:rPr lang="en-US" sz="1300" b="1" kern="0" spc="140" dirty="0">
                <a:solidFill>
                  <a:srgbClr val="F2A03D"/>
                </a:solidFill>
                <a:latin typeface="Calibri" pitchFamily="34" charset="0"/>
                <a:ea typeface="Calibri" pitchFamily="34" charset="-122"/>
                <a:cs typeface="Calibri" pitchFamily="34" charset="-120"/>
              </a:rPr>
              <a:t>EXPLAINABLE</a:t>
            </a:r>
            <a:endParaRPr lang="en-US" sz="1300" dirty="0"/>
          </a:p>
        </p:txBody>
      </p:sp>
      <p:sp>
        <p:nvSpPr>
          <p:cNvPr id="10" name="Text 8"/>
          <p:cNvSpPr txBox="1"/>
          <p:nvPr/>
        </p:nvSpPr>
        <p:spPr>
          <a:xfrm>
            <a:off x="786384" y="3840480"/>
            <a:ext cx="3108960" cy="1737360"/>
          </a:xfrm>
          <a:prstGeom prst="rect">
            <a:avLst/>
          </a:prstGeom>
          <a:noFill/>
          <a:ln/>
        </p:spPr>
        <p:txBody>
          <a:bodyPr wrap="square" lIns="0" tIns="0" rIns="0" bIns="0" rtlCol="0" anchor="ctr"/>
          <a:lstStyle/>
          <a:p>
            <a:pPr marL="0" indent="0">
              <a:lnSpc>
                <a:spcPts val="1900"/>
              </a:lnSpc>
              <a:buNone/>
            </a:pPr>
            <a:r>
              <a:rPr lang="en-US" sz="1250" dirty="0">
                <a:solidFill>
                  <a:srgbClr val="9DB3CC"/>
                </a:solidFill>
                <a:latin typeface="Calibri" pitchFamily="34" charset="0"/>
                <a:ea typeface="Calibri" pitchFamily="34" charset="-122"/>
                <a:cs typeface="Calibri" pitchFamily="34" charset="-120"/>
              </a:rPr>
              <a:t>Every risk score decomposes into named, citable contributions. An officer who cannot see why will not act — so “the model said so” is not an output we allow.</a:t>
            </a:r>
            <a:endParaRPr lang="en-US" sz="1250" dirty="0"/>
          </a:p>
        </p:txBody>
      </p:sp>
      <p:sp>
        <p:nvSpPr>
          <p:cNvPr id="11" name="Shape 9"/>
          <p:cNvSpPr/>
          <p:nvPr/>
        </p:nvSpPr>
        <p:spPr>
          <a:xfrm>
            <a:off x="4279392" y="3127248"/>
            <a:ext cx="3511296" cy="2606040"/>
          </a:xfrm>
          <a:prstGeom prst="roundRect">
            <a:avLst>
              <a:gd name="adj" fmla="val 2105"/>
            </a:avLst>
          </a:prstGeom>
          <a:solidFill>
            <a:srgbClr val="15263D"/>
          </a:solidFill>
          <a:ln w="12700">
            <a:solidFill>
              <a:srgbClr val="1D3350"/>
            </a:solidFill>
            <a:prstDash val="solid"/>
          </a:ln>
        </p:spPr>
      </p:sp>
      <p:sp>
        <p:nvSpPr>
          <p:cNvPr id="12" name="Shape 10"/>
          <p:cNvSpPr/>
          <p:nvPr/>
        </p:nvSpPr>
        <p:spPr>
          <a:xfrm>
            <a:off x="4498848" y="3337560"/>
            <a:ext cx="365760" cy="365760"/>
          </a:xfrm>
          <a:prstGeom prst="ellipse">
            <a:avLst/>
          </a:prstGeom>
          <a:solidFill>
            <a:srgbClr val="7FB2E5"/>
          </a:solidFill>
          <a:ln/>
        </p:spPr>
      </p:sp>
      <p:sp>
        <p:nvSpPr>
          <p:cNvPr id="13" name="Text 11"/>
          <p:cNvSpPr txBox="1"/>
          <p:nvPr/>
        </p:nvSpPr>
        <p:spPr>
          <a:xfrm>
            <a:off x="4498848" y="3337560"/>
            <a:ext cx="365760" cy="365760"/>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4956048" y="3337560"/>
            <a:ext cx="2651760" cy="365760"/>
          </a:xfrm>
          <a:prstGeom prst="rect">
            <a:avLst/>
          </a:prstGeom>
          <a:noFill/>
          <a:ln/>
        </p:spPr>
        <p:txBody>
          <a:bodyPr wrap="square" lIns="0" tIns="0" rIns="0" bIns="0" rtlCol="0" anchor="ctr"/>
          <a:lstStyle/>
          <a:p>
            <a:pPr marL="0" indent="0">
              <a:buNone/>
            </a:pPr>
            <a:r>
              <a:rPr lang="en-US" sz="1300" b="1" kern="0" spc="140" dirty="0">
                <a:solidFill>
                  <a:srgbClr val="7FB2E5"/>
                </a:solidFill>
                <a:latin typeface="Calibri" pitchFamily="34" charset="0"/>
                <a:ea typeface="Calibri" pitchFamily="34" charset="-122"/>
                <a:cs typeface="Calibri" pitchFamily="34" charset="-120"/>
              </a:rPr>
              <a:t>EVIDENCE-TIERED</a:t>
            </a:r>
            <a:endParaRPr lang="en-US" sz="1300" dirty="0"/>
          </a:p>
        </p:txBody>
      </p:sp>
      <p:sp>
        <p:nvSpPr>
          <p:cNvPr id="15" name="Text 13"/>
          <p:cNvSpPr txBox="1"/>
          <p:nvPr/>
        </p:nvSpPr>
        <p:spPr>
          <a:xfrm>
            <a:off x="4498848" y="3840480"/>
            <a:ext cx="3108960" cy="1737360"/>
          </a:xfrm>
          <a:prstGeom prst="rect">
            <a:avLst/>
          </a:prstGeom>
          <a:noFill/>
          <a:ln/>
        </p:spPr>
        <p:txBody>
          <a:bodyPr wrap="square" lIns="0" tIns="0" rIns="0" bIns="0" rtlCol="0" anchor="ctr"/>
          <a:lstStyle/>
          <a:p>
            <a:pPr marL="0" indent="0">
              <a:lnSpc>
                <a:spcPts val="1900"/>
              </a:lnSpc>
              <a:buNone/>
            </a:pPr>
            <a:r>
              <a:rPr lang="en-US" sz="1250" dirty="0">
                <a:solidFill>
                  <a:srgbClr val="9DB3CC"/>
                </a:solidFill>
                <a:latin typeface="Calibri" pitchFamily="34" charset="0"/>
                <a:ea typeface="Calibri" pitchFamily="34" charset="-122"/>
                <a:cs typeface="Calibri" pitchFamily="34" charset="-120"/>
              </a:rPr>
              <a:t>Byte-identical files, confirmed keypoint matches, and statistical similarity are three different strengths of claim. The system never collapses them into one number.</a:t>
            </a:r>
            <a:endParaRPr lang="en-US" sz="1250" dirty="0"/>
          </a:p>
        </p:txBody>
      </p:sp>
      <p:sp>
        <p:nvSpPr>
          <p:cNvPr id="16" name="Shape 14"/>
          <p:cNvSpPr/>
          <p:nvPr/>
        </p:nvSpPr>
        <p:spPr>
          <a:xfrm>
            <a:off x="7991856" y="3127248"/>
            <a:ext cx="3511296" cy="2606040"/>
          </a:xfrm>
          <a:prstGeom prst="roundRect">
            <a:avLst>
              <a:gd name="adj" fmla="val 2105"/>
            </a:avLst>
          </a:prstGeom>
          <a:solidFill>
            <a:srgbClr val="15263D"/>
          </a:solidFill>
          <a:ln w="12700">
            <a:solidFill>
              <a:srgbClr val="1D3350"/>
            </a:solidFill>
            <a:prstDash val="solid"/>
          </a:ln>
        </p:spPr>
      </p:sp>
      <p:sp>
        <p:nvSpPr>
          <p:cNvPr id="17" name="Shape 15"/>
          <p:cNvSpPr/>
          <p:nvPr/>
        </p:nvSpPr>
        <p:spPr>
          <a:xfrm>
            <a:off x="8211312" y="3337560"/>
            <a:ext cx="365760" cy="365760"/>
          </a:xfrm>
          <a:prstGeom prst="ellipse">
            <a:avLst/>
          </a:prstGeom>
          <a:solidFill>
            <a:srgbClr val="3FBF8F"/>
          </a:solidFill>
          <a:ln/>
        </p:spPr>
      </p:sp>
      <p:sp>
        <p:nvSpPr>
          <p:cNvPr id="18" name="Text 16"/>
          <p:cNvSpPr txBox="1"/>
          <p:nvPr/>
        </p:nvSpPr>
        <p:spPr>
          <a:xfrm>
            <a:off x="8211312" y="3337560"/>
            <a:ext cx="365760" cy="365760"/>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8668512" y="3337560"/>
            <a:ext cx="2651760" cy="365760"/>
          </a:xfrm>
          <a:prstGeom prst="rect">
            <a:avLst/>
          </a:prstGeom>
          <a:noFill/>
          <a:ln/>
        </p:spPr>
        <p:txBody>
          <a:bodyPr wrap="square" lIns="0" tIns="0" rIns="0" bIns="0" rtlCol="0" anchor="ctr"/>
          <a:lstStyle/>
          <a:p>
            <a:pPr marL="0" indent="0">
              <a:buNone/>
            </a:pPr>
            <a:r>
              <a:rPr lang="en-US" sz="1300" b="1" kern="0" spc="140" dirty="0">
                <a:solidFill>
                  <a:srgbClr val="3FBF8F"/>
                </a:solidFill>
                <a:latin typeface="Calibri" pitchFamily="34" charset="0"/>
                <a:ea typeface="Calibri" pitchFamily="34" charset="-122"/>
                <a:cs typeface="Calibri" pitchFamily="34" charset="-120"/>
              </a:rPr>
              <a:t>IT NEVER ACCUSES</a:t>
            </a:r>
            <a:endParaRPr lang="en-US" sz="1300" dirty="0"/>
          </a:p>
        </p:txBody>
      </p:sp>
      <p:sp>
        <p:nvSpPr>
          <p:cNvPr id="20" name="Text 18"/>
          <p:cNvSpPr txBox="1"/>
          <p:nvPr/>
        </p:nvSpPr>
        <p:spPr>
          <a:xfrm>
            <a:off x="8211312" y="3840480"/>
            <a:ext cx="3108960" cy="1737360"/>
          </a:xfrm>
          <a:prstGeom prst="rect">
            <a:avLst/>
          </a:prstGeom>
          <a:noFill/>
          <a:ln/>
        </p:spPr>
        <p:txBody>
          <a:bodyPr wrap="square" lIns="0" tIns="0" rIns="0" bIns="0" rtlCol="0" anchor="ctr"/>
          <a:lstStyle/>
          <a:p>
            <a:pPr marL="0" indent="0">
              <a:lnSpc>
                <a:spcPts val="1900"/>
              </a:lnSpc>
              <a:buNone/>
            </a:pPr>
            <a:r>
              <a:rPr lang="en-US" sz="1250" dirty="0">
                <a:solidFill>
                  <a:srgbClr val="9DB3CC"/>
                </a:solidFill>
                <a:latin typeface="Calibri" pitchFamily="34" charset="0"/>
                <a:ea typeface="Calibri" pitchFamily="34" charset="-122"/>
                <a:cs typeface="Calibri" pitchFamily="34" charset="-120"/>
              </a:rPr>
              <a:t>The vocabulary is “flagged for review” and “requires verification”. A human confirms or dismisses, and that decision calibrates the next run.</a:t>
            </a:r>
            <a:endParaRPr lang="en-US" sz="1250" dirty="0"/>
          </a:p>
        </p:txBody>
      </p:sp>
      <p:sp>
        <p:nvSpPr>
          <p:cNvPr id="22" name="Shape 19"/>
          <p:cNvSpPr/>
          <p:nvPr/>
        </p:nvSpPr>
        <p:spPr>
          <a:xfrm>
            <a:off x="566928" y="6309360"/>
            <a:ext cx="256032" cy="256032"/>
          </a:xfrm>
          <a:prstGeom prst="ellipse">
            <a:avLst/>
          </a:prstGeom>
          <a:solidFill>
            <a:srgbClr val="1D3350"/>
          </a:solidFill>
          <a:ln w="12700">
            <a:solidFill>
              <a:srgbClr val="F2A03D"/>
            </a:solidFill>
            <a:prstDash val="solid"/>
          </a:ln>
        </p:spPr>
      </p:sp>
      <p:sp>
        <p:nvSpPr>
          <p:cNvPr id="23" name="Text 20"/>
          <p:cNvSpPr txBox="1"/>
          <p:nvPr/>
        </p:nvSpPr>
        <p:spPr>
          <a:xfrm>
            <a:off x="566928" y="6309360"/>
            <a:ext cx="256032" cy="256032"/>
          </a:xfrm>
          <a:prstGeom prst="rect">
            <a:avLst/>
          </a:prstGeom>
          <a:noFill/>
          <a:ln/>
        </p:spPr>
        <p:txBody>
          <a:bodyPr wrap="square" lIns="0" tIns="0" rIns="0" bIns="0" rtlCol="0" anchor="ctr"/>
          <a:lstStyle/>
          <a:p>
            <a:pPr marL="0" indent="0" algn="ctr">
              <a:buNone/>
            </a:pPr>
            <a:r>
              <a:rPr lang="en-US" sz="1100" b="1" dirty="0">
                <a:solidFill>
                  <a:srgbClr val="F2A03D"/>
                </a:solidFill>
                <a:latin typeface="Calibri" pitchFamily="34" charset="0"/>
                <a:ea typeface="Calibri" pitchFamily="34" charset="-122"/>
                <a:cs typeface="Calibri" pitchFamily="34" charset="-120"/>
              </a:rPr>
              <a:t>2</a:t>
            </a:r>
            <a:endParaRPr lang="en-US" sz="1100" dirty="0"/>
          </a:p>
        </p:txBody>
      </p:sp>
      <p:sp>
        <p:nvSpPr>
          <p:cNvPr id="24" name="Text 21"/>
          <p:cNvSpPr txBox="1"/>
          <p:nvPr/>
        </p:nvSpPr>
        <p:spPr>
          <a:xfrm>
            <a:off x="914400" y="6309360"/>
            <a:ext cx="4572000" cy="256032"/>
          </a:xfrm>
          <a:prstGeom prst="rect">
            <a:avLst/>
          </a:prstGeom>
          <a:noFill/>
          <a:ln/>
        </p:spPr>
        <p:txBody>
          <a:bodyPr wrap="square" lIns="0" tIns="0" rIns="0" bIns="0" rtlCol="0" anchor="ctr"/>
          <a:lstStyle/>
          <a:p>
            <a:pPr marL="0" indent="0">
              <a:buNone/>
            </a:pPr>
            <a:r>
              <a:rPr lang="en-US" sz="1050" b="1" kern="0" spc="110" dirty="0">
                <a:solidFill>
                  <a:srgbClr val="9DB3CC"/>
                </a:solidFill>
                <a:latin typeface="Calibri" pitchFamily="34" charset="0"/>
                <a:ea typeface="Calibri" pitchFamily="34" charset="-122"/>
                <a:cs typeface="Calibri" pitchFamily="34" charset="-120"/>
              </a:rPr>
              <a:t>SPEAKER 2   ·   1:50 – 2:20</a:t>
            </a:r>
            <a:endParaRPr lang="en-US" sz="1050" dirty="0"/>
          </a:p>
        </p:txBody>
      </p:sp>
      <p:sp>
        <p:nvSpPr>
          <p:cNvPr id="25" name="Text 22"/>
          <p:cNvSpPr txBox="1"/>
          <p:nvPr/>
        </p:nvSpPr>
        <p:spPr>
          <a:xfrm>
            <a:off x="7052767" y="6309360"/>
            <a:ext cx="4572000" cy="256032"/>
          </a:xfrm>
          <a:prstGeom prst="rect">
            <a:avLst/>
          </a:prstGeom>
          <a:noFill/>
          <a:ln/>
        </p:spPr>
        <p:txBody>
          <a:bodyPr wrap="square" lIns="0" tIns="0" rIns="0" bIns="0" rtlCol="0" anchor="ctr"/>
          <a:lstStyle/>
          <a:p>
            <a:pPr marL="0" indent="0" algn="r">
              <a:buNone/>
            </a:pPr>
            <a:r>
              <a:rPr lang="en-US" sz="1050" dirty="0">
                <a:solidFill>
                  <a:srgbClr val="6A8098"/>
                </a:solidFill>
                <a:latin typeface="Calibri" pitchFamily="34" charset="0"/>
                <a:ea typeface="Calibri" pitchFamily="34" charset="-122"/>
                <a:cs typeface="Calibri" pitchFamily="34" charset="-120"/>
              </a:rPr>
              <a:t>NAZAR   ·   SIH 2026   ·   PS 26102   ·   5/16</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marL="0" indent="0">
              <a:buNone/>
            </a:pPr>
            <a:r>
              <a:rPr lang="en-US" sz="1150" b="1" kern="0" spc="220" dirty="0">
                <a:solidFill>
                  <a:srgbClr val="F2A03D"/>
                </a:solidFill>
                <a:latin typeface="Calibri" pitchFamily="34" charset="0"/>
                <a:ea typeface="Calibri" pitchFamily="34" charset="-122"/>
                <a:cs typeface="Calibri" pitchFamily="34" charset="-120"/>
              </a:rPr>
              <a:t>ARCHITECTURE</a:t>
            </a:r>
            <a:endParaRPr lang="en-US" sz="1150" dirty="0"/>
          </a:p>
        </p:txBody>
      </p:sp>
      <p:sp>
        <p:nvSpPr>
          <p:cNvPr id="3" name="Text 1"/>
          <p:cNvSpPr txBox="1"/>
          <p:nvPr/>
        </p:nvSpPr>
        <p:spPr>
          <a:xfrm>
            <a:off x="566928" y="621792"/>
            <a:ext cx="11057839" cy="749808"/>
          </a:xfrm>
          <a:prstGeom prst="rect">
            <a:avLst/>
          </a:prstGeom>
          <a:noFill/>
          <a:ln/>
        </p:spPr>
        <p:txBody>
          <a:bodyPr wrap="square" lIns="0" tIns="0" rIns="0" bIns="0" rtlCol="0" anchor="ctr"/>
          <a:lstStyle/>
          <a:p>
            <a:pPr marL="0" indent="0">
              <a:buNone/>
            </a:pPr>
            <a:r>
              <a:rPr lang="en-US" sz="3200" b="1" dirty="0">
                <a:solidFill>
                  <a:srgbClr val="F4F7FA"/>
                </a:solidFill>
                <a:latin typeface="Cambria" pitchFamily="34" charset="0"/>
                <a:ea typeface="Cambria" pitchFamily="34" charset="-122"/>
                <a:cs typeface="Cambria" pitchFamily="34" charset="-120"/>
              </a:rPr>
              <a:t>Portal to officer, in five stages</a:t>
            </a:r>
            <a:endParaRPr lang="en-US" sz="3200" dirty="0"/>
          </a:p>
        </p:txBody>
      </p:sp>
      <p:sp>
        <p:nvSpPr>
          <p:cNvPr id="4" name="Shape 2"/>
          <p:cNvSpPr/>
          <p:nvPr/>
        </p:nvSpPr>
        <p:spPr>
          <a:xfrm>
            <a:off x="566928" y="1783080"/>
            <a:ext cx="2084832" cy="2514600"/>
          </a:xfrm>
          <a:prstGeom prst="roundRect">
            <a:avLst>
              <a:gd name="adj" fmla="val 2632"/>
            </a:avLst>
          </a:prstGeom>
          <a:solidFill>
            <a:srgbClr val="15263D"/>
          </a:solidFill>
          <a:ln w="12700">
            <a:solidFill>
              <a:srgbClr val="1D3350"/>
            </a:solidFill>
            <a:prstDash val="solid"/>
          </a:ln>
        </p:spPr>
      </p:sp>
      <p:sp>
        <p:nvSpPr>
          <p:cNvPr id="5" name="Shape 3"/>
          <p:cNvSpPr/>
          <p:nvPr/>
        </p:nvSpPr>
        <p:spPr>
          <a:xfrm>
            <a:off x="713232" y="1938528"/>
            <a:ext cx="329184" cy="329184"/>
          </a:xfrm>
          <a:prstGeom prst="ellipse">
            <a:avLst/>
          </a:prstGeom>
          <a:solidFill>
            <a:srgbClr val="2A4260"/>
          </a:solidFill>
          <a:ln/>
        </p:spPr>
      </p:sp>
      <p:sp>
        <p:nvSpPr>
          <p:cNvPr id="6" name="Text 4"/>
          <p:cNvSpPr txBox="1"/>
          <p:nvPr/>
        </p:nvSpPr>
        <p:spPr>
          <a:xfrm>
            <a:off x="713232" y="1938528"/>
            <a:ext cx="329184" cy="329184"/>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713232" y="2359152"/>
            <a:ext cx="1792224" cy="384048"/>
          </a:xfrm>
          <a:prstGeom prst="rect">
            <a:avLst/>
          </a:prstGeom>
          <a:noFill/>
          <a:ln/>
        </p:spPr>
        <p:txBody>
          <a:bodyPr wrap="square" lIns="0" tIns="0" rIns="0" bIns="0" rtlCol="0" anchor="ctr"/>
          <a:lstStyle/>
          <a:p>
            <a:pPr marL="0" indent="0">
              <a:buNone/>
            </a:pPr>
            <a:r>
              <a:rPr lang="en-US" sz="1200" b="1" kern="0" spc="90" dirty="0">
                <a:solidFill>
                  <a:srgbClr val="F4F7FA"/>
                </a:solidFill>
                <a:latin typeface="Calibri" pitchFamily="34" charset="0"/>
                <a:ea typeface="Calibri" pitchFamily="34" charset="-122"/>
                <a:cs typeface="Calibri" pitchFamily="34" charset="-120"/>
              </a:rPr>
              <a:t>INGEST</a:t>
            </a:r>
            <a:endParaRPr lang="en-US" sz="1200" dirty="0"/>
          </a:p>
        </p:txBody>
      </p:sp>
      <p:sp>
        <p:nvSpPr>
          <p:cNvPr id="8" name="Text 6"/>
          <p:cNvSpPr txBox="1"/>
          <p:nvPr/>
        </p:nvSpPr>
        <p:spPr>
          <a:xfrm>
            <a:off x="713232" y="2743200"/>
            <a:ext cx="1792224" cy="1371600"/>
          </a:xfrm>
          <a:prstGeom prst="rect">
            <a:avLst/>
          </a:prstGeom>
          <a:noFill/>
          <a:ln/>
        </p:spPr>
        <p:txBody>
          <a:bodyPr wrap="square" lIns="0" tIns="0" rIns="0" bIns="0" rtlCol="0" anchor="ctr"/>
          <a:lstStyle/>
          <a:p>
            <a:pPr marL="0" indent="0">
              <a:lnSpc>
                <a:spcPts val="1600"/>
              </a:lnSpc>
              <a:buNone/>
            </a:pPr>
            <a:r>
              <a:rPr lang="en-US" sz="1100" dirty="0">
                <a:solidFill>
                  <a:srgbClr val="9DB3CC"/>
                </a:solidFill>
                <a:latin typeface="Calibri" pitchFamily="34" charset="0"/>
                <a:ea typeface="Calibri" pitchFamily="34" charset="-122"/>
                <a:cs typeface="Calibri" pitchFamily="34" charset="-120"/>
              </a:rPr>
              <a:t>MPLADS portal REST API</a:t>
            </a:r>
            <a:endParaRPr lang="en-US" sz="1100" dirty="0"/>
          </a:p>
          <a:p>
            <a:pPr marL="0" indent="0">
              <a:lnSpc>
                <a:spcPts val="1600"/>
              </a:lnSpc>
              <a:buNone/>
            </a:pPr>
            <a:r>
              <a:rPr lang="en-US" sz="1100" dirty="0">
                <a:solidFill>
                  <a:srgbClr val="9DB3CC"/>
                </a:solidFill>
                <a:latin typeface="Calibri" pitchFamily="34" charset="0"/>
                <a:ea typeface="Calibri" pitchFamily="34" charset="-122"/>
                <a:cs typeface="Calibri" pitchFamily="34" charset="-120"/>
              </a:rPr>
              <a:t>Throttled 0.6s, resumable</a:t>
            </a:r>
            <a:endParaRPr lang="en-US" sz="1100" dirty="0"/>
          </a:p>
          <a:p>
            <a:pPr marL="0" indent="0">
              <a:lnSpc>
                <a:spcPts val="1600"/>
              </a:lnSpc>
              <a:buNone/>
            </a:pPr>
            <a:r>
              <a:rPr lang="en-US" sz="1100" dirty="0">
                <a:solidFill>
                  <a:srgbClr val="9DB3CC"/>
                </a:solidFill>
                <a:latin typeface="Calibri" pitchFamily="34" charset="0"/>
                <a:ea typeface="Calibri" pitchFamily="34" charset="-122"/>
                <a:cs typeface="Calibri" pitchFamily="34" charset="-120"/>
              </a:rPr>
              <a:t>Built for all 543 constituencies</a:t>
            </a:r>
            <a:endParaRPr lang="en-US" sz="1100" dirty="0"/>
          </a:p>
        </p:txBody>
      </p:sp>
      <p:sp>
        <p:nvSpPr>
          <p:cNvPr id="9" name="Shape 7"/>
          <p:cNvSpPr/>
          <p:nvPr/>
        </p:nvSpPr>
        <p:spPr>
          <a:xfrm>
            <a:off x="2665476" y="2889504"/>
            <a:ext cx="146304" cy="201168"/>
          </a:xfrm>
          <a:prstGeom prst="rightArrow">
            <a:avLst/>
          </a:prstGeom>
          <a:solidFill>
            <a:srgbClr val="2C4A6B"/>
          </a:solidFill>
          <a:ln/>
        </p:spPr>
      </p:sp>
      <p:sp>
        <p:nvSpPr>
          <p:cNvPr id="10" name="Shape 8"/>
          <p:cNvSpPr/>
          <p:nvPr/>
        </p:nvSpPr>
        <p:spPr>
          <a:xfrm>
            <a:off x="2825496" y="1783080"/>
            <a:ext cx="2084832" cy="2514600"/>
          </a:xfrm>
          <a:prstGeom prst="roundRect">
            <a:avLst>
              <a:gd name="adj" fmla="val 2632"/>
            </a:avLst>
          </a:prstGeom>
          <a:solidFill>
            <a:srgbClr val="15263D"/>
          </a:solidFill>
          <a:ln w="12700">
            <a:solidFill>
              <a:srgbClr val="1D3350"/>
            </a:solidFill>
            <a:prstDash val="solid"/>
          </a:ln>
        </p:spPr>
      </p:sp>
      <p:sp>
        <p:nvSpPr>
          <p:cNvPr id="11" name="Shape 9"/>
          <p:cNvSpPr/>
          <p:nvPr/>
        </p:nvSpPr>
        <p:spPr>
          <a:xfrm>
            <a:off x="2971800" y="1938528"/>
            <a:ext cx="329184" cy="329184"/>
          </a:xfrm>
          <a:prstGeom prst="ellipse">
            <a:avLst/>
          </a:prstGeom>
          <a:solidFill>
            <a:srgbClr val="2A4260"/>
          </a:solidFill>
          <a:ln/>
        </p:spPr>
      </p:sp>
      <p:sp>
        <p:nvSpPr>
          <p:cNvPr id="12" name="Text 10"/>
          <p:cNvSpPr txBox="1"/>
          <p:nvPr/>
        </p:nvSpPr>
        <p:spPr>
          <a:xfrm>
            <a:off x="2971800" y="1938528"/>
            <a:ext cx="329184" cy="329184"/>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2971800" y="2359152"/>
            <a:ext cx="1792224" cy="384048"/>
          </a:xfrm>
          <a:prstGeom prst="rect">
            <a:avLst/>
          </a:prstGeom>
          <a:noFill/>
          <a:ln/>
        </p:spPr>
        <p:txBody>
          <a:bodyPr wrap="square" lIns="0" tIns="0" rIns="0" bIns="0" rtlCol="0" anchor="ctr"/>
          <a:lstStyle/>
          <a:p>
            <a:pPr marL="0" indent="0">
              <a:buNone/>
            </a:pPr>
            <a:r>
              <a:rPr lang="en-US" sz="1200" b="1" kern="0" spc="90" dirty="0">
                <a:solidFill>
                  <a:srgbClr val="F4F7FA"/>
                </a:solidFill>
                <a:latin typeface="Calibri" pitchFamily="34" charset="0"/>
                <a:ea typeface="Calibri" pitchFamily="34" charset="-122"/>
                <a:cs typeface="Calibri" pitchFamily="34" charset="-120"/>
              </a:rPr>
              <a:t>CANONICAL LAYER</a:t>
            </a:r>
            <a:endParaRPr lang="en-US" sz="1200" dirty="0"/>
          </a:p>
        </p:txBody>
      </p:sp>
      <p:sp>
        <p:nvSpPr>
          <p:cNvPr id="14" name="Text 12"/>
          <p:cNvSpPr txBox="1"/>
          <p:nvPr/>
        </p:nvSpPr>
        <p:spPr>
          <a:xfrm>
            <a:off x="2971800" y="2743200"/>
            <a:ext cx="1792224" cy="1371600"/>
          </a:xfrm>
          <a:prstGeom prst="rect">
            <a:avLst/>
          </a:prstGeom>
          <a:noFill/>
          <a:ln/>
        </p:spPr>
        <p:txBody>
          <a:bodyPr wrap="square" lIns="0" tIns="0" rIns="0" bIns="0" rtlCol="0" anchor="ctr"/>
          <a:lstStyle/>
          <a:p>
            <a:pPr marL="0" indent="0">
              <a:lnSpc>
                <a:spcPts val="1600"/>
              </a:lnSpc>
              <a:buNone/>
            </a:pPr>
            <a:r>
              <a:rPr lang="en-US" sz="1100" dirty="0">
                <a:solidFill>
                  <a:srgbClr val="9DB3CC"/>
                </a:solidFill>
                <a:latin typeface="Calibri" pitchFamily="34" charset="0"/>
                <a:ea typeface="Calibri" pitchFamily="34" charset="-122"/>
                <a:cs typeface="Calibri" pitchFamily="34" charset="-120"/>
              </a:rPr>
              <a:t>Completed ⇔ sanctioned join</a:t>
            </a:r>
            <a:endParaRPr lang="en-US" sz="1100" dirty="0"/>
          </a:p>
          <a:p>
            <a:pPr marL="0" indent="0">
              <a:lnSpc>
                <a:spcPts val="1600"/>
              </a:lnSpc>
              <a:buNone/>
            </a:pPr>
            <a:r>
              <a:rPr lang="en-US" sz="1100" dirty="0">
                <a:solidFill>
                  <a:srgbClr val="9DB3CC"/>
                </a:solidFill>
                <a:latin typeface="Calibri" pitchFamily="34" charset="0"/>
                <a:ea typeface="Calibri" pitchFamily="34" charset="-122"/>
                <a:cs typeface="Calibri" pitchFamily="34" charset="-120"/>
              </a:rPr>
              <a:t>Activity taxonomy + peer groups</a:t>
            </a:r>
            <a:endParaRPr lang="en-US" sz="1100" dirty="0"/>
          </a:p>
          <a:p>
            <a:pPr marL="0" indent="0">
              <a:lnSpc>
                <a:spcPts val="1600"/>
              </a:lnSpc>
              <a:buNone/>
            </a:pPr>
            <a:r>
              <a:rPr lang="en-US" sz="1100" dirty="0">
                <a:solidFill>
                  <a:srgbClr val="9DB3CC"/>
                </a:solidFill>
                <a:latin typeface="Calibri" pitchFamily="34" charset="0"/>
                <a:ea typeface="Calibri" pitchFamily="34" charset="-122"/>
                <a:cs typeface="Calibri" pitchFamily="34" charset="-120"/>
              </a:rPr>
              <a:t>Attachments unwrapped &amp; triaged</a:t>
            </a:r>
            <a:endParaRPr lang="en-US" sz="1100" dirty="0"/>
          </a:p>
        </p:txBody>
      </p:sp>
      <p:sp>
        <p:nvSpPr>
          <p:cNvPr id="15" name="Shape 13"/>
          <p:cNvSpPr/>
          <p:nvPr/>
        </p:nvSpPr>
        <p:spPr>
          <a:xfrm>
            <a:off x="4924044" y="2889504"/>
            <a:ext cx="146304" cy="201168"/>
          </a:xfrm>
          <a:prstGeom prst="rightArrow">
            <a:avLst/>
          </a:prstGeom>
          <a:solidFill>
            <a:srgbClr val="2C4A6B"/>
          </a:solidFill>
          <a:ln/>
        </p:spPr>
      </p:sp>
      <p:sp>
        <p:nvSpPr>
          <p:cNvPr id="16" name="Shape 14"/>
          <p:cNvSpPr/>
          <p:nvPr/>
        </p:nvSpPr>
        <p:spPr>
          <a:xfrm>
            <a:off x="5084064" y="1783080"/>
            <a:ext cx="2084832" cy="2514600"/>
          </a:xfrm>
          <a:prstGeom prst="roundRect">
            <a:avLst>
              <a:gd name="adj" fmla="val 2632"/>
            </a:avLst>
          </a:prstGeom>
          <a:solidFill>
            <a:srgbClr val="1D3350"/>
          </a:solidFill>
          <a:ln w="12700">
            <a:solidFill>
              <a:srgbClr val="1D3350"/>
            </a:solidFill>
            <a:prstDash val="solid"/>
          </a:ln>
        </p:spPr>
      </p:sp>
      <p:sp>
        <p:nvSpPr>
          <p:cNvPr id="17" name="Shape 15"/>
          <p:cNvSpPr/>
          <p:nvPr/>
        </p:nvSpPr>
        <p:spPr>
          <a:xfrm>
            <a:off x="5230368" y="1938528"/>
            <a:ext cx="329184" cy="329184"/>
          </a:xfrm>
          <a:prstGeom prst="ellipse">
            <a:avLst/>
          </a:prstGeom>
          <a:solidFill>
            <a:srgbClr val="F2A03D"/>
          </a:solidFill>
          <a:ln/>
        </p:spPr>
      </p:sp>
      <p:sp>
        <p:nvSpPr>
          <p:cNvPr id="18" name="Text 16"/>
          <p:cNvSpPr txBox="1"/>
          <p:nvPr/>
        </p:nvSpPr>
        <p:spPr>
          <a:xfrm>
            <a:off x="5230368" y="1938528"/>
            <a:ext cx="329184" cy="329184"/>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5230368" y="2359152"/>
            <a:ext cx="1792224" cy="384048"/>
          </a:xfrm>
          <a:prstGeom prst="rect">
            <a:avLst/>
          </a:prstGeom>
          <a:noFill/>
          <a:ln/>
        </p:spPr>
        <p:txBody>
          <a:bodyPr wrap="square" lIns="0" tIns="0" rIns="0" bIns="0" rtlCol="0" anchor="ctr"/>
          <a:lstStyle/>
          <a:p>
            <a:pPr marL="0" indent="0">
              <a:buNone/>
            </a:pPr>
            <a:r>
              <a:rPr lang="en-US" sz="1200" b="1" kern="0" spc="90" dirty="0">
                <a:solidFill>
                  <a:srgbClr val="F4F7FA"/>
                </a:solidFill>
                <a:latin typeface="Calibri" pitchFamily="34" charset="0"/>
                <a:ea typeface="Calibri" pitchFamily="34" charset="-122"/>
                <a:cs typeface="Calibri" pitchFamily="34" charset="-120"/>
              </a:rPr>
              <a:t>FIVE ENGINES</a:t>
            </a:r>
            <a:endParaRPr lang="en-US" sz="1200" dirty="0"/>
          </a:p>
        </p:txBody>
      </p:sp>
      <p:sp>
        <p:nvSpPr>
          <p:cNvPr id="20" name="Text 18"/>
          <p:cNvSpPr txBox="1"/>
          <p:nvPr/>
        </p:nvSpPr>
        <p:spPr>
          <a:xfrm>
            <a:off x="5230368" y="2743200"/>
            <a:ext cx="1792224" cy="1371600"/>
          </a:xfrm>
          <a:prstGeom prst="rect">
            <a:avLst/>
          </a:prstGeom>
          <a:noFill/>
          <a:ln/>
        </p:spPr>
        <p:txBody>
          <a:bodyPr wrap="square" lIns="0" tIns="0" rIns="0" bIns="0" rtlCol="0" anchor="ctr"/>
          <a:lstStyle/>
          <a:p>
            <a:pPr marL="0" indent="0">
              <a:lnSpc>
                <a:spcPts val="1600"/>
              </a:lnSpc>
              <a:buNone/>
            </a:pPr>
            <a:r>
              <a:rPr lang="en-US" sz="1100" dirty="0">
                <a:solidFill>
                  <a:srgbClr val="9DB3CC"/>
                </a:solidFill>
                <a:latin typeface="Calibri" pitchFamily="34" charset="0"/>
                <a:ea typeface="Calibri" pitchFamily="34" charset="-122"/>
                <a:cs typeface="Calibri" pitchFamily="34" charset="-120"/>
              </a:rPr>
              <a:t>Rules  ·  Anomaly</a:t>
            </a:r>
            <a:endParaRPr lang="en-US" sz="1100" dirty="0"/>
          </a:p>
          <a:p>
            <a:pPr marL="0" indent="0">
              <a:lnSpc>
                <a:spcPts val="1600"/>
              </a:lnSpc>
              <a:buNone/>
            </a:pPr>
            <a:r>
              <a:rPr lang="en-US" sz="1100" dirty="0">
                <a:solidFill>
                  <a:srgbClr val="9DB3CC"/>
                </a:solidFill>
                <a:latin typeface="Calibri" pitchFamily="34" charset="0"/>
                <a:ea typeface="Calibri" pitchFamily="34" charset="-122"/>
                <a:cs typeface="Calibri" pitchFamily="34" charset="-120"/>
              </a:rPr>
              <a:t>Photo reuse  ·  Text duplicates</a:t>
            </a:r>
            <a:endParaRPr lang="en-US" sz="1100" dirty="0"/>
          </a:p>
          <a:p>
            <a:pPr marL="0" indent="0">
              <a:lnSpc>
                <a:spcPts val="1600"/>
              </a:lnSpc>
              <a:buNone/>
            </a:pPr>
            <a:r>
              <a:rPr lang="en-US" sz="1100" dirty="0">
                <a:solidFill>
                  <a:srgbClr val="9DB3CC"/>
                </a:solidFill>
                <a:latin typeface="Calibri" pitchFamily="34" charset="0"/>
                <a:ea typeface="Calibri" pitchFamily="34" charset="-122"/>
                <a:cs typeface="Calibri" pitchFamily="34" charset="-120"/>
              </a:rPr>
              <a:t>Benford digit analysis</a:t>
            </a:r>
            <a:endParaRPr lang="en-US" sz="1100" dirty="0"/>
          </a:p>
        </p:txBody>
      </p:sp>
      <p:sp>
        <p:nvSpPr>
          <p:cNvPr id="21" name="Shape 19"/>
          <p:cNvSpPr/>
          <p:nvPr/>
        </p:nvSpPr>
        <p:spPr>
          <a:xfrm>
            <a:off x="7182612" y="2889504"/>
            <a:ext cx="146304" cy="201168"/>
          </a:xfrm>
          <a:prstGeom prst="rightArrow">
            <a:avLst/>
          </a:prstGeom>
          <a:solidFill>
            <a:srgbClr val="2C4A6B"/>
          </a:solidFill>
          <a:ln/>
        </p:spPr>
      </p:sp>
      <p:sp>
        <p:nvSpPr>
          <p:cNvPr id="22" name="Shape 20"/>
          <p:cNvSpPr/>
          <p:nvPr/>
        </p:nvSpPr>
        <p:spPr>
          <a:xfrm>
            <a:off x="7342632" y="1783080"/>
            <a:ext cx="2084832" cy="2514600"/>
          </a:xfrm>
          <a:prstGeom prst="roundRect">
            <a:avLst>
              <a:gd name="adj" fmla="val 2632"/>
            </a:avLst>
          </a:prstGeom>
          <a:solidFill>
            <a:srgbClr val="15263D"/>
          </a:solidFill>
          <a:ln w="12700">
            <a:solidFill>
              <a:srgbClr val="1D3350"/>
            </a:solidFill>
            <a:prstDash val="solid"/>
          </a:ln>
        </p:spPr>
      </p:sp>
      <p:sp>
        <p:nvSpPr>
          <p:cNvPr id="23" name="Shape 21"/>
          <p:cNvSpPr/>
          <p:nvPr/>
        </p:nvSpPr>
        <p:spPr>
          <a:xfrm>
            <a:off x="7488936" y="1938528"/>
            <a:ext cx="329184" cy="329184"/>
          </a:xfrm>
          <a:prstGeom prst="ellipse">
            <a:avLst/>
          </a:prstGeom>
          <a:solidFill>
            <a:srgbClr val="2A4260"/>
          </a:solidFill>
          <a:ln/>
        </p:spPr>
      </p:sp>
      <p:sp>
        <p:nvSpPr>
          <p:cNvPr id="24" name="Text 22"/>
          <p:cNvSpPr txBox="1"/>
          <p:nvPr/>
        </p:nvSpPr>
        <p:spPr>
          <a:xfrm>
            <a:off x="7488936" y="1938528"/>
            <a:ext cx="329184" cy="329184"/>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7488936" y="2359152"/>
            <a:ext cx="1792224" cy="384048"/>
          </a:xfrm>
          <a:prstGeom prst="rect">
            <a:avLst/>
          </a:prstGeom>
          <a:noFill/>
          <a:ln/>
        </p:spPr>
        <p:txBody>
          <a:bodyPr wrap="square" lIns="0" tIns="0" rIns="0" bIns="0" rtlCol="0" anchor="ctr"/>
          <a:lstStyle/>
          <a:p>
            <a:pPr marL="0" indent="0">
              <a:buNone/>
            </a:pPr>
            <a:r>
              <a:rPr lang="en-US" sz="1200" b="1" kern="0" spc="90" dirty="0">
                <a:solidFill>
                  <a:srgbClr val="F4F7FA"/>
                </a:solidFill>
                <a:latin typeface="Calibri" pitchFamily="34" charset="0"/>
                <a:ea typeface="Calibri" pitchFamily="34" charset="-122"/>
                <a:cs typeface="Calibri" pitchFamily="34" charset="-120"/>
              </a:rPr>
              <a:t>FUSION</a:t>
            </a:r>
            <a:endParaRPr lang="en-US" sz="1200" dirty="0"/>
          </a:p>
        </p:txBody>
      </p:sp>
      <p:sp>
        <p:nvSpPr>
          <p:cNvPr id="26" name="Text 24"/>
          <p:cNvSpPr txBox="1"/>
          <p:nvPr/>
        </p:nvSpPr>
        <p:spPr>
          <a:xfrm>
            <a:off x="7488936" y="2743200"/>
            <a:ext cx="1792224" cy="1371600"/>
          </a:xfrm>
          <a:prstGeom prst="rect">
            <a:avLst/>
          </a:prstGeom>
          <a:noFill/>
          <a:ln/>
        </p:spPr>
        <p:txBody>
          <a:bodyPr wrap="square" lIns="0" tIns="0" rIns="0" bIns="0" rtlCol="0" anchor="ctr"/>
          <a:lstStyle/>
          <a:p>
            <a:pPr marL="0" indent="0">
              <a:lnSpc>
                <a:spcPts val="1600"/>
              </a:lnSpc>
              <a:buNone/>
            </a:pPr>
            <a:r>
              <a:rPr lang="en-US" sz="1100" dirty="0">
                <a:solidFill>
                  <a:srgbClr val="9DB3CC"/>
                </a:solidFill>
                <a:latin typeface="Calibri" pitchFamily="34" charset="0"/>
                <a:ea typeface="Calibri" pitchFamily="34" charset="-122"/>
                <a:cs typeface="Calibri" pitchFamily="34" charset="-120"/>
              </a:rPr>
              <a:t>Normalised 0–1 signals</a:t>
            </a:r>
            <a:endParaRPr lang="en-US" sz="1100" dirty="0"/>
          </a:p>
          <a:p>
            <a:pPr marL="0" indent="0">
              <a:lnSpc>
                <a:spcPts val="1600"/>
              </a:lnSpc>
              <a:buNone/>
            </a:pPr>
            <a:r>
              <a:rPr lang="en-US" sz="1100" dirty="0">
                <a:solidFill>
                  <a:srgbClr val="9DB3CC"/>
                </a:solidFill>
                <a:latin typeface="Calibri" pitchFamily="34" charset="0"/>
                <a:ea typeface="Calibri" pitchFamily="34" charset="-122"/>
                <a:cs typeface="Calibri" pitchFamily="34" charset="-120"/>
              </a:rPr>
              <a:t>Weighted, with a severity floor</a:t>
            </a:r>
            <a:endParaRPr lang="en-US" sz="1100" dirty="0"/>
          </a:p>
          <a:p>
            <a:pPr marL="0" indent="0">
              <a:lnSpc>
                <a:spcPts val="1600"/>
              </a:lnSpc>
              <a:buNone/>
            </a:pPr>
            <a:r>
              <a:rPr lang="en-US" sz="1100" dirty="0">
                <a:solidFill>
                  <a:srgbClr val="9DB3CC"/>
                </a:solidFill>
                <a:latin typeface="Calibri" pitchFamily="34" charset="0"/>
                <a:ea typeface="Calibri" pitchFamily="34" charset="-122"/>
                <a:cs typeface="Calibri" pitchFamily="34" charset="-120"/>
              </a:rPr>
              <a:t>Named contribution per signal</a:t>
            </a:r>
            <a:endParaRPr lang="en-US" sz="1100" dirty="0"/>
          </a:p>
        </p:txBody>
      </p:sp>
      <p:sp>
        <p:nvSpPr>
          <p:cNvPr id="27" name="Shape 25"/>
          <p:cNvSpPr/>
          <p:nvPr/>
        </p:nvSpPr>
        <p:spPr>
          <a:xfrm>
            <a:off x="9441180" y="2889504"/>
            <a:ext cx="146304" cy="201168"/>
          </a:xfrm>
          <a:prstGeom prst="rightArrow">
            <a:avLst/>
          </a:prstGeom>
          <a:solidFill>
            <a:srgbClr val="2C4A6B"/>
          </a:solidFill>
          <a:ln/>
        </p:spPr>
      </p:sp>
      <p:sp>
        <p:nvSpPr>
          <p:cNvPr id="28" name="Shape 26"/>
          <p:cNvSpPr/>
          <p:nvPr/>
        </p:nvSpPr>
        <p:spPr>
          <a:xfrm>
            <a:off x="9601200" y="1783080"/>
            <a:ext cx="2084832" cy="2514600"/>
          </a:xfrm>
          <a:prstGeom prst="roundRect">
            <a:avLst>
              <a:gd name="adj" fmla="val 2632"/>
            </a:avLst>
          </a:prstGeom>
          <a:solidFill>
            <a:srgbClr val="15263D"/>
          </a:solidFill>
          <a:ln w="12700">
            <a:solidFill>
              <a:srgbClr val="1D3350"/>
            </a:solidFill>
            <a:prstDash val="solid"/>
          </a:ln>
        </p:spPr>
      </p:sp>
      <p:sp>
        <p:nvSpPr>
          <p:cNvPr id="29" name="Shape 27"/>
          <p:cNvSpPr/>
          <p:nvPr/>
        </p:nvSpPr>
        <p:spPr>
          <a:xfrm>
            <a:off x="9747504" y="1938528"/>
            <a:ext cx="329184" cy="329184"/>
          </a:xfrm>
          <a:prstGeom prst="ellipse">
            <a:avLst/>
          </a:prstGeom>
          <a:solidFill>
            <a:srgbClr val="2A4260"/>
          </a:solidFill>
          <a:ln/>
        </p:spPr>
      </p:sp>
      <p:sp>
        <p:nvSpPr>
          <p:cNvPr id="30" name="Text 28"/>
          <p:cNvSpPr txBox="1"/>
          <p:nvPr/>
        </p:nvSpPr>
        <p:spPr>
          <a:xfrm>
            <a:off x="9747504" y="1938528"/>
            <a:ext cx="329184" cy="329184"/>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5</a:t>
            </a:r>
            <a:endParaRPr lang="en-US" sz="1300" dirty="0"/>
          </a:p>
        </p:txBody>
      </p:sp>
      <p:sp>
        <p:nvSpPr>
          <p:cNvPr id="31" name="Text 29"/>
          <p:cNvSpPr txBox="1"/>
          <p:nvPr/>
        </p:nvSpPr>
        <p:spPr>
          <a:xfrm>
            <a:off x="9747504" y="2359152"/>
            <a:ext cx="1792224" cy="384048"/>
          </a:xfrm>
          <a:prstGeom prst="rect">
            <a:avLst/>
          </a:prstGeom>
          <a:noFill/>
          <a:ln/>
        </p:spPr>
        <p:txBody>
          <a:bodyPr wrap="square" lIns="0" tIns="0" rIns="0" bIns="0" rtlCol="0" anchor="ctr"/>
          <a:lstStyle/>
          <a:p>
            <a:pPr marL="0" indent="0">
              <a:buNone/>
            </a:pPr>
            <a:r>
              <a:rPr lang="en-US" sz="1200" b="1" kern="0" spc="90" dirty="0">
                <a:solidFill>
                  <a:srgbClr val="F4F7FA"/>
                </a:solidFill>
                <a:latin typeface="Calibri" pitchFamily="34" charset="0"/>
                <a:ea typeface="Calibri" pitchFamily="34" charset="-122"/>
                <a:cs typeface="Calibri" pitchFamily="34" charset="-120"/>
              </a:rPr>
              <a:t>COMMAND CENTRE</a:t>
            </a:r>
            <a:endParaRPr lang="en-US" sz="1200" dirty="0"/>
          </a:p>
        </p:txBody>
      </p:sp>
      <p:sp>
        <p:nvSpPr>
          <p:cNvPr id="32" name="Text 30"/>
          <p:cNvSpPr txBox="1"/>
          <p:nvPr/>
        </p:nvSpPr>
        <p:spPr>
          <a:xfrm>
            <a:off x="9747504" y="2743200"/>
            <a:ext cx="1792224" cy="1371600"/>
          </a:xfrm>
          <a:prstGeom prst="rect">
            <a:avLst/>
          </a:prstGeom>
          <a:noFill/>
          <a:ln/>
        </p:spPr>
        <p:txBody>
          <a:bodyPr wrap="square" lIns="0" tIns="0" rIns="0" bIns="0" rtlCol="0" anchor="ctr"/>
          <a:lstStyle/>
          <a:p>
            <a:pPr marL="0" indent="0">
              <a:lnSpc>
                <a:spcPts val="1600"/>
              </a:lnSpc>
              <a:buNone/>
            </a:pPr>
            <a:r>
              <a:rPr lang="en-US" sz="1100" dirty="0">
                <a:solidFill>
                  <a:srgbClr val="9DB3CC"/>
                </a:solidFill>
                <a:latin typeface="Calibri" pitchFamily="34" charset="0"/>
                <a:ea typeface="Calibri" pitchFamily="34" charset="-122"/>
                <a:cs typeface="Calibri" pitchFamily="34" charset="-120"/>
              </a:rPr>
              <a:t>Role-scoped ranked queue</a:t>
            </a:r>
            <a:endParaRPr lang="en-US" sz="1100" dirty="0"/>
          </a:p>
          <a:p>
            <a:pPr marL="0" indent="0">
              <a:lnSpc>
                <a:spcPts val="1600"/>
              </a:lnSpc>
              <a:buNone/>
            </a:pPr>
            <a:r>
              <a:rPr lang="en-US" sz="1100" dirty="0">
                <a:solidFill>
                  <a:srgbClr val="9DB3CC"/>
                </a:solidFill>
                <a:latin typeface="Calibri" pitchFamily="34" charset="0"/>
                <a:ea typeface="Calibri" pitchFamily="34" charset="-122"/>
                <a:cs typeface="Calibri" pitchFamily="34" charset="-120"/>
              </a:rPr>
              <a:t>Evidence shown, not asserted</a:t>
            </a:r>
            <a:endParaRPr lang="en-US" sz="1100" dirty="0"/>
          </a:p>
          <a:p>
            <a:pPr marL="0" indent="0">
              <a:lnSpc>
                <a:spcPts val="1600"/>
              </a:lnSpc>
              <a:buNone/>
            </a:pPr>
            <a:r>
              <a:rPr lang="en-US" sz="1100" dirty="0">
                <a:solidFill>
                  <a:srgbClr val="9DB3CC"/>
                </a:solidFill>
                <a:latin typeface="Calibri" pitchFamily="34" charset="0"/>
                <a:ea typeface="Calibri" pitchFamily="34" charset="-122"/>
                <a:cs typeface="Calibri" pitchFamily="34" charset="-120"/>
              </a:rPr>
              <a:t>Confirm / Dismiss feedback</a:t>
            </a:r>
            <a:endParaRPr lang="en-US" sz="1100" dirty="0"/>
          </a:p>
        </p:txBody>
      </p:sp>
      <p:sp>
        <p:nvSpPr>
          <p:cNvPr id="33" name="Shape 31"/>
          <p:cNvSpPr/>
          <p:nvPr/>
        </p:nvSpPr>
        <p:spPr>
          <a:xfrm>
            <a:off x="566928" y="4572000"/>
            <a:ext cx="11057839" cy="1207008"/>
          </a:xfrm>
          <a:prstGeom prst="roundRect">
            <a:avLst>
              <a:gd name="adj" fmla="val 4545"/>
            </a:avLst>
          </a:prstGeom>
          <a:solidFill>
            <a:srgbClr val="1D3350"/>
          </a:solidFill>
          <a:ln w="12700">
            <a:solidFill>
              <a:srgbClr val="1D3350"/>
            </a:solidFill>
            <a:prstDash val="solid"/>
          </a:ln>
        </p:spPr>
      </p:sp>
      <p:sp>
        <p:nvSpPr>
          <p:cNvPr id="34" name="Text 32"/>
          <p:cNvSpPr txBox="1"/>
          <p:nvPr/>
        </p:nvSpPr>
        <p:spPr>
          <a:xfrm>
            <a:off x="841248" y="4709160"/>
            <a:ext cx="10509199" cy="365760"/>
          </a:xfrm>
          <a:prstGeom prst="rect">
            <a:avLst/>
          </a:prstGeom>
          <a:noFill/>
          <a:ln/>
        </p:spPr>
        <p:txBody>
          <a:bodyPr wrap="square" lIns="0" tIns="0" rIns="0" bIns="0" rtlCol="0" anchor="ctr"/>
          <a:lstStyle/>
          <a:p>
            <a:pPr marL="0" indent="0">
              <a:buNone/>
            </a:pPr>
            <a:r>
              <a:rPr lang="en-US" sz="1700" b="1" dirty="0">
                <a:solidFill>
                  <a:srgbClr val="F2A03D"/>
                </a:solidFill>
                <a:latin typeface="Cambria" pitchFamily="34" charset="0"/>
                <a:ea typeface="Cambria" pitchFamily="34" charset="-122"/>
                <a:cs typeface="Cambria" pitchFamily="34" charset="-120"/>
              </a:rPr>
              <a:t>The evaluation harness sits across the whole chain.</a:t>
            </a:r>
            <a:endParaRPr lang="en-US" sz="1700" dirty="0"/>
          </a:p>
        </p:txBody>
      </p:sp>
      <p:sp>
        <p:nvSpPr>
          <p:cNvPr id="35" name="Text 33"/>
          <p:cNvSpPr txBox="1"/>
          <p:nvPr/>
        </p:nvSpPr>
        <p:spPr>
          <a:xfrm>
            <a:off x="841248" y="5084064"/>
            <a:ext cx="10509199" cy="566928"/>
          </a:xfrm>
          <a:prstGeom prst="rect">
            <a:avLst/>
          </a:prstGeom>
          <a:noFill/>
          <a:ln/>
        </p:spPr>
        <p:txBody>
          <a:bodyPr wrap="square" lIns="0" tIns="0" rIns="0" bIns="0" rtlCol="0" anchor="ctr"/>
          <a:lstStyle/>
          <a:p>
            <a:pPr marL="0" indent="0">
              <a:lnSpc>
                <a:spcPts val="1800"/>
              </a:lnSpc>
              <a:buNone/>
            </a:pPr>
            <a:r>
              <a:rPr lang="en-US" sz="1250" dirty="0">
                <a:solidFill>
                  <a:srgbClr val="9DB3CC"/>
                </a:solidFill>
                <a:latin typeface="Calibri" pitchFamily="34" charset="0"/>
                <a:ea typeface="Calibri" pitchFamily="34" charset="-122"/>
                <a:cs typeface="Calibri" pitchFamily="34" charset="-120"/>
              </a:rPr>
              <a:t>It was built before any detector existed, so every engine is born measurable and no threshold in this system was ever tuned by intuition. Speaker 5 will show you exactly how we test a fraud detector when no fraud labels exist.</a:t>
            </a:r>
            <a:endParaRPr lang="en-US" sz="1250" dirty="0"/>
          </a:p>
        </p:txBody>
      </p:sp>
      <p:sp>
        <p:nvSpPr>
          <p:cNvPr id="37" name="Shape 34"/>
          <p:cNvSpPr/>
          <p:nvPr/>
        </p:nvSpPr>
        <p:spPr>
          <a:xfrm>
            <a:off x="566928" y="6309360"/>
            <a:ext cx="256032" cy="256032"/>
          </a:xfrm>
          <a:prstGeom prst="ellipse">
            <a:avLst/>
          </a:prstGeom>
          <a:solidFill>
            <a:srgbClr val="1D3350"/>
          </a:solidFill>
          <a:ln w="12700">
            <a:solidFill>
              <a:srgbClr val="F2A03D"/>
            </a:solidFill>
            <a:prstDash val="solid"/>
          </a:ln>
        </p:spPr>
      </p:sp>
      <p:sp>
        <p:nvSpPr>
          <p:cNvPr id="38" name="Text 35"/>
          <p:cNvSpPr txBox="1"/>
          <p:nvPr/>
        </p:nvSpPr>
        <p:spPr>
          <a:xfrm>
            <a:off x="566928" y="6309360"/>
            <a:ext cx="256032" cy="256032"/>
          </a:xfrm>
          <a:prstGeom prst="rect">
            <a:avLst/>
          </a:prstGeom>
          <a:noFill/>
          <a:ln/>
        </p:spPr>
        <p:txBody>
          <a:bodyPr wrap="square" lIns="0" tIns="0" rIns="0" bIns="0" rtlCol="0" anchor="ctr"/>
          <a:lstStyle/>
          <a:p>
            <a:pPr marL="0" indent="0" algn="ctr">
              <a:buNone/>
            </a:pPr>
            <a:r>
              <a:rPr lang="en-US" sz="1100" b="1" dirty="0">
                <a:solidFill>
                  <a:srgbClr val="F2A03D"/>
                </a:solidFill>
                <a:latin typeface="Calibri" pitchFamily="34" charset="0"/>
                <a:ea typeface="Calibri" pitchFamily="34" charset="-122"/>
                <a:cs typeface="Calibri" pitchFamily="34" charset="-120"/>
              </a:rPr>
              <a:t>2</a:t>
            </a:r>
            <a:endParaRPr lang="en-US" sz="1100" dirty="0"/>
          </a:p>
        </p:txBody>
      </p:sp>
      <p:sp>
        <p:nvSpPr>
          <p:cNvPr id="39" name="Text 36"/>
          <p:cNvSpPr txBox="1"/>
          <p:nvPr/>
        </p:nvSpPr>
        <p:spPr>
          <a:xfrm>
            <a:off x="914400" y="6309360"/>
            <a:ext cx="4572000" cy="256032"/>
          </a:xfrm>
          <a:prstGeom prst="rect">
            <a:avLst/>
          </a:prstGeom>
          <a:noFill/>
          <a:ln/>
        </p:spPr>
        <p:txBody>
          <a:bodyPr wrap="square" lIns="0" tIns="0" rIns="0" bIns="0" rtlCol="0" anchor="ctr"/>
          <a:lstStyle/>
          <a:p>
            <a:pPr marL="0" indent="0">
              <a:buNone/>
            </a:pPr>
            <a:r>
              <a:rPr lang="en-US" sz="1050" b="1" kern="0" spc="110" dirty="0">
                <a:solidFill>
                  <a:srgbClr val="9DB3CC"/>
                </a:solidFill>
                <a:latin typeface="Calibri" pitchFamily="34" charset="0"/>
                <a:ea typeface="Calibri" pitchFamily="34" charset="-122"/>
                <a:cs typeface="Calibri" pitchFamily="34" charset="-120"/>
              </a:rPr>
              <a:t>SPEAKER 2   ·   2:20 – 2:50</a:t>
            </a:r>
            <a:endParaRPr lang="en-US" sz="1050" dirty="0"/>
          </a:p>
        </p:txBody>
      </p:sp>
      <p:sp>
        <p:nvSpPr>
          <p:cNvPr id="40" name="Text 37"/>
          <p:cNvSpPr txBox="1"/>
          <p:nvPr/>
        </p:nvSpPr>
        <p:spPr>
          <a:xfrm>
            <a:off x="7052767" y="6309360"/>
            <a:ext cx="4572000" cy="256032"/>
          </a:xfrm>
          <a:prstGeom prst="rect">
            <a:avLst/>
          </a:prstGeom>
          <a:noFill/>
          <a:ln/>
        </p:spPr>
        <p:txBody>
          <a:bodyPr wrap="square" lIns="0" tIns="0" rIns="0" bIns="0" rtlCol="0" anchor="ctr"/>
          <a:lstStyle/>
          <a:p>
            <a:pPr marL="0" indent="0" algn="r">
              <a:buNone/>
            </a:pPr>
            <a:r>
              <a:rPr lang="en-US" sz="1050" dirty="0">
                <a:solidFill>
                  <a:srgbClr val="6A8098"/>
                </a:solidFill>
                <a:latin typeface="Calibri" pitchFamily="34" charset="0"/>
                <a:ea typeface="Calibri" pitchFamily="34" charset="-122"/>
                <a:cs typeface="Calibri" pitchFamily="34" charset="-120"/>
              </a:rPr>
              <a:t>NAZAR   ·   SIH 2026   ·   PS 26102   ·   6/16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9"/>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marL="0" indent="0">
              <a:buNone/>
            </a:pPr>
            <a:r>
              <a:rPr lang="en-US" sz="1150" b="1" kern="0" spc="220" dirty="0">
                <a:solidFill>
                  <a:srgbClr val="F2A03D"/>
                </a:solidFill>
                <a:latin typeface="Calibri" pitchFamily="34" charset="0"/>
                <a:ea typeface="Calibri" pitchFamily="34" charset="-122"/>
                <a:cs typeface="Calibri" pitchFamily="34" charset="-120"/>
              </a:rPr>
              <a:t>DATA</a:t>
            </a:r>
            <a:endParaRPr lang="en-US" sz="1150" dirty="0"/>
          </a:p>
        </p:txBody>
      </p:sp>
      <p:sp>
        <p:nvSpPr>
          <p:cNvPr id="3" name="Text 1"/>
          <p:cNvSpPr txBox="1"/>
          <p:nvPr/>
        </p:nvSpPr>
        <p:spPr>
          <a:xfrm>
            <a:off x="566928" y="621792"/>
            <a:ext cx="11057839" cy="749808"/>
          </a:xfrm>
          <a:prstGeom prst="rect">
            <a:avLst/>
          </a:prstGeom>
          <a:noFill/>
          <a:ln/>
        </p:spPr>
        <p:txBody>
          <a:bodyPr wrap="square" lIns="0" tIns="0" rIns="0" bIns="0" rtlCol="0" anchor="ctr"/>
          <a:lstStyle/>
          <a:p>
            <a:pPr marL="0" indent="0">
              <a:buNone/>
            </a:pPr>
            <a:r>
              <a:rPr lang="en-US" sz="3200" b="1" dirty="0">
                <a:solidFill>
                  <a:srgbClr val="0A1628"/>
                </a:solidFill>
                <a:latin typeface="Cambria" pitchFamily="34" charset="0"/>
                <a:ea typeface="Cambria" pitchFamily="34" charset="-122"/>
                <a:cs typeface="Cambria" pitchFamily="34" charset="-120"/>
              </a:rPr>
              <a:t>Dataset from the official E-Sakshi portal.</a:t>
            </a:r>
            <a:endParaRPr lang="en-US" sz="3200" dirty="0"/>
          </a:p>
        </p:txBody>
      </p:sp>
      <p:sp>
        <p:nvSpPr>
          <p:cNvPr id="4" name="Shape 2"/>
          <p:cNvSpPr/>
          <p:nvPr/>
        </p:nvSpPr>
        <p:spPr>
          <a:xfrm>
            <a:off x="566928" y="1572768"/>
            <a:ext cx="2048256" cy="896112"/>
          </a:xfrm>
          <a:prstGeom prst="roundRect">
            <a:avLst>
              <a:gd name="adj" fmla="val 6122"/>
            </a:avLst>
          </a:prstGeom>
          <a:solidFill>
            <a:srgbClr val="FFFFFF"/>
          </a:solidFill>
          <a:ln w="12700">
            <a:solidFill>
              <a:srgbClr val="DDE4EA"/>
            </a:solidFill>
            <a:prstDash val="solid"/>
          </a:ln>
          <a:effectLst>
            <a:outerShdw blurRad="127000" dist="25400" dir="5400000" algn="bl" rotWithShape="0">
              <a:srgbClr val="0A1628">
                <a:alpha val="13000"/>
              </a:srgbClr>
            </a:outerShdw>
          </a:effectLst>
        </p:spPr>
      </p:sp>
      <p:sp>
        <p:nvSpPr>
          <p:cNvPr id="5" name="Text 3"/>
          <p:cNvSpPr txBox="1"/>
          <p:nvPr/>
        </p:nvSpPr>
        <p:spPr>
          <a:xfrm>
            <a:off x="731520" y="1664208"/>
            <a:ext cx="1737360" cy="384048"/>
          </a:xfrm>
          <a:prstGeom prst="rect">
            <a:avLst/>
          </a:prstGeom>
          <a:noFill/>
          <a:ln/>
        </p:spPr>
        <p:txBody>
          <a:bodyPr wrap="square" lIns="0" tIns="0" rIns="0" bIns="0" rtlCol="0" anchor="ctr"/>
          <a:lstStyle/>
          <a:p>
            <a:pPr marL="0" indent="0">
              <a:buNone/>
            </a:pPr>
            <a:r>
              <a:rPr lang="en-US" sz="2200" b="1" dirty="0">
                <a:solidFill>
                  <a:srgbClr val="0A1628"/>
                </a:solidFill>
                <a:latin typeface="Cambria" pitchFamily="34" charset="0"/>
                <a:ea typeface="Cambria" pitchFamily="34" charset="-122"/>
                <a:cs typeface="Cambria" pitchFamily="34" charset="-120"/>
              </a:rPr>
              <a:t>5,133</a:t>
            </a:r>
            <a:endParaRPr lang="en-US" sz="2200" dirty="0"/>
          </a:p>
        </p:txBody>
      </p:sp>
      <p:sp>
        <p:nvSpPr>
          <p:cNvPr id="6" name="Text 4"/>
          <p:cNvSpPr txBox="1"/>
          <p:nvPr/>
        </p:nvSpPr>
        <p:spPr>
          <a:xfrm>
            <a:off x="731520" y="2048256"/>
            <a:ext cx="1737360" cy="310896"/>
          </a:xfrm>
          <a:prstGeom prst="rect">
            <a:avLst/>
          </a:prstGeom>
          <a:noFill/>
          <a:ln/>
        </p:spPr>
        <p:txBody>
          <a:bodyPr wrap="square" lIns="0" tIns="0" rIns="0" bIns="0" rtlCol="0" anchor="ctr"/>
          <a:lstStyle/>
          <a:p>
            <a:pPr marL="0" indent="0">
              <a:buNone/>
            </a:pPr>
            <a:r>
              <a:rPr lang="en-US" sz="1100" dirty="0">
                <a:solidFill>
                  <a:srgbClr val="5B7086"/>
                </a:solidFill>
                <a:latin typeface="Calibri" pitchFamily="34" charset="0"/>
                <a:ea typeface="Calibri" pitchFamily="34" charset="-122"/>
                <a:cs typeface="Calibri" pitchFamily="34" charset="-120"/>
              </a:rPr>
              <a:t>completed works</a:t>
            </a:r>
            <a:endParaRPr lang="en-US" sz="1100" dirty="0"/>
          </a:p>
        </p:txBody>
      </p:sp>
      <p:sp>
        <p:nvSpPr>
          <p:cNvPr id="7" name="Shape 5"/>
          <p:cNvSpPr/>
          <p:nvPr/>
        </p:nvSpPr>
        <p:spPr>
          <a:xfrm>
            <a:off x="2761488" y="1572768"/>
            <a:ext cx="2048256" cy="896112"/>
          </a:xfrm>
          <a:prstGeom prst="roundRect">
            <a:avLst>
              <a:gd name="adj" fmla="val 6122"/>
            </a:avLst>
          </a:prstGeom>
          <a:solidFill>
            <a:srgbClr val="FFFFFF"/>
          </a:solidFill>
          <a:ln w="12700">
            <a:solidFill>
              <a:srgbClr val="DDE4EA"/>
            </a:solidFill>
            <a:prstDash val="solid"/>
          </a:ln>
          <a:effectLst>
            <a:outerShdw blurRad="127000" dist="25400" dir="5400000" algn="bl" rotWithShape="0">
              <a:srgbClr val="0A1628">
                <a:alpha val="13000"/>
              </a:srgbClr>
            </a:outerShdw>
          </a:effectLst>
        </p:spPr>
      </p:sp>
      <p:sp>
        <p:nvSpPr>
          <p:cNvPr id="8" name="Text 6"/>
          <p:cNvSpPr txBox="1"/>
          <p:nvPr/>
        </p:nvSpPr>
        <p:spPr>
          <a:xfrm>
            <a:off x="2926080" y="1664208"/>
            <a:ext cx="1737360" cy="384048"/>
          </a:xfrm>
          <a:prstGeom prst="rect">
            <a:avLst/>
          </a:prstGeom>
          <a:noFill/>
          <a:ln/>
        </p:spPr>
        <p:txBody>
          <a:bodyPr wrap="square" lIns="0" tIns="0" rIns="0" bIns="0" rtlCol="0" anchor="ctr"/>
          <a:lstStyle/>
          <a:p>
            <a:pPr marL="0" indent="0">
              <a:buNone/>
            </a:pPr>
            <a:r>
              <a:rPr lang="en-US" sz="2200" b="1" dirty="0">
                <a:solidFill>
                  <a:srgbClr val="0A1628"/>
                </a:solidFill>
                <a:latin typeface="Cambria" pitchFamily="34" charset="0"/>
                <a:ea typeface="Cambria" pitchFamily="34" charset="-122"/>
                <a:cs typeface="Cambria" pitchFamily="34" charset="-120"/>
              </a:rPr>
              <a:t>76</a:t>
            </a:r>
            <a:endParaRPr lang="en-US" sz="2200" dirty="0"/>
          </a:p>
        </p:txBody>
      </p:sp>
      <p:sp>
        <p:nvSpPr>
          <p:cNvPr id="9" name="Text 7"/>
          <p:cNvSpPr txBox="1"/>
          <p:nvPr/>
        </p:nvSpPr>
        <p:spPr>
          <a:xfrm>
            <a:off x="2926080" y="2048256"/>
            <a:ext cx="1737360" cy="310896"/>
          </a:xfrm>
          <a:prstGeom prst="rect">
            <a:avLst/>
          </a:prstGeom>
          <a:noFill/>
          <a:ln/>
        </p:spPr>
        <p:txBody>
          <a:bodyPr wrap="square" lIns="0" tIns="0" rIns="0" bIns="0" rtlCol="0" anchor="ctr"/>
          <a:lstStyle/>
          <a:p>
            <a:pPr marL="0" indent="0">
              <a:buNone/>
            </a:pPr>
            <a:r>
              <a:rPr lang="en-US" sz="1100" dirty="0">
                <a:solidFill>
                  <a:srgbClr val="5B7086"/>
                </a:solidFill>
                <a:latin typeface="Calibri" pitchFamily="34" charset="0"/>
                <a:ea typeface="Calibri" pitchFamily="34" charset="-122"/>
                <a:cs typeface="Calibri" pitchFamily="34" charset="-120"/>
              </a:rPr>
              <a:t>constituencies, 5 states</a:t>
            </a:r>
            <a:endParaRPr lang="en-US" sz="1100" dirty="0"/>
          </a:p>
        </p:txBody>
      </p:sp>
      <p:sp>
        <p:nvSpPr>
          <p:cNvPr id="10" name="Shape 8"/>
          <p:cNvSpPr/>
          <p:nvPr/>
        </p:nvSpPr>
        <p:spPr>
          <a:xfrm>
            <a:off x="566928" y="2596896"/>
            <a:ext cx="2048256" cy="896112"/>
          </a:xfrm>
          <a:prstGeom prst="roundRect">
            <a:avLst>
              <a:gd name="adj" fmla="val 6122"/>
            </a:avLst>
          </a:prstGeom>
          <a:solidFill>
            <a:srgbClr val="FFFFFF"/>
          </a:solidFill>
          <a:ln w="12700">
            <a:solidFill>
              <a:srgbClr val="DDE4EA"/>
            </a:solidFill>
            <a:prstDash val="solid"/>
          </a:ln>
          <a:effectLst>
            <a:outerShdw blurRad="127000" dist="25400" dir="5400000" algn="bl" rotWithShape="0">
              <a:srgbClr val="0A1628">
                <a:alpha val="13000"/>
              </a:srgbClr>
            </a:outerShdw>
          </a:effectLst>
        </p:spPr>
      </p:sp>
      <p:sp>
        <p:nvSpPr>
          <p:cNvPr id="11" name="Text 9"/>
          <p:cNvSpPr txBox="1"/>
          <p:nvPr/>
        </p:nvSpPr>
        <p:spPr>
          <a:xfrm>
            <a:off x="731520" y="2688336"/>
            <a:ext cx="1737360" cy="384048"/>
          </a:xfrm>
          <a:prstGeom prst="rect">
            <a:avLst/>
          </a:prstGeom>
          <a:noFill/>
          <a:ln/>
        </p:spPr>
        <p:txBody>
          <a:bodyPr wrap="square" lIns="0" tIns="0" rIns="0" bIns="0" rtlCol="0" anchor="ctr"/>
          <a:lstStyle/>
          <a:p>
            <a:pPr marL="0" indent="0">
              <a:buNone/>
            </a:pPr>
            <a:r>
              <a:rPr lang="en-US" sz="2200" b="1" dirty="0">
                <a:solidFill>
                  <a:srgbClr val="0A1628"/>
                </a:solidFill>
                <a:latin typeface="Cambria" pitchFamily="34" charset="0"/>
                <a:ea typeface="Cambria" pitchFamily="34" charset="-122"/>
                <a:cs typeface="Cambria" pitchFamily="34" charset="-120"/>
              </a:rPr>
              <a:t>1,763</a:t>
            </a:r>
            <a:endParaRPr lang="en-US" sz="2200" dirty="0"/>
          </a:p>
        </p:txBody>
      </p:sp>
      <p:sp>
        <p:nvSpPr>
          <p:cNvPr id="12" name="Text 10"/>
          <p:cNvSpPr txBox="1"/>
          <p:nvPr/>
        </p:nvSpPr>
        <p:spPr>
          <a:xfrm>
            <a:off x="731520" y="3072384"/>
            <a:ext cx="1737360" cy="310896"/>
          </a:xfrm>
          <a:prstGeom prst="rect">
            <a:avLst/>
          </a:prstGeom>
          <a:noFill/>
          <a:ln/>
        </p:spPr>
        <p:txBody>
          <a:bodyPr wrap="square" lIns="0" tIns="0" rIns="0" bIns="0" rtlCol="0" anchor="ctr"/>
          <a:lstStyle/>
          <a:p>
            <a:pPr marL="0" indent="0">
              <a:buNone/>
            </a:pPr>
            <a:r>
              <a:rPr lang="en-US" sz="1100" dirty="0">
                <a:solidFill>
                  <a:srgbClr val="5B7086"/>
                </a:solidFill>
                <a:latin typeface="Calibri" pitchFamily="34" charset="0"/>
                <a:ea typeface="Calibri" pitchFamily="34" charset="-122"/>
                <a:cs typeface="Calibri" pitchFamily="34" charset="-120"/>
              </a:rPr>
              <a:t>sanction records</a:t>
            </a:r>
            <a:endParaRPr lang="en-US" sz="1100" dirty="0"/>
          </a:p>
        </p:txBody>
      </p:sp>
      <p:sp>
        <p:nvSpPr>
          <p:cNvPr id="13" name="Shape 11"/>
          <p:cNvSpPr/>
          <p:nvPr/>
        </p:nvSpPr>
        <p:spPr>
          <a:xfrm>
            <a:off x="2761488" y="2596896"/>
            <a:ext cx="2048256" cy="896112"/>
          </a:xfrm>
          <a:prstGeom prst="roundRect">
            <a:avLst>
              <a:gd name="adj" fmla="val 6122"/>
            </a:avLst>
          </a:prstGeom>
          <a:solidFill>
            <a:srgbClr val="FFFFFF"/>
          </a:solidFill>
          <a:ln w="12700">
            <a:solidFill>
              <a:srgbClr val="DDE4EA"/>
            </a:solidFill>
            <a:prstDash val="solid"/>
          </a:ln>
          <a:effectLst>
            <a:outerShdw blurRad="127000" dist="25400" dir="5400000" algn="bl" rotWithShape="0">
              <a:srgbClr val="0A1628">
                <a:alpha val="13000"/>
              </a:srgbClr>
            </a:outerShdw>
          </a:effectLst>
        </p:spPr>
      </p:sp>
      <p:sp>
        <p:nvSpPr>
          <p:cNvPr id="14" name="Text 12"/>
          <p:cNvSpPr txBox="1"/>
          <p:nvPr/>
        </p:nvSpPr>
        <p:spPr>
          <a:xfrm>
            <a:off x="2926080" y="2688336"/>
            <a:ext cx="1737360" cy="384048"/>
          </a:xfrm>
          <a:prstGeom prst="rect">
            <a:avLst/>
          </a:prstGeom>
          <a:noFill/>
          <a:ln/>
        </p:spPr>
        <p:txBody>
          <a:bodyPr wrap="square" lIns="0" tIns="0" rIns="0" bIns="0" rtlCol="0" anchor="ctr"/>
          <a:lstStyle/>
          <a:p>
            <a:pPr marL="0" indent="0">
              <a:buNone/>
            </a:pPr>
            <a:r>
              <a:rPr lang="en-US" sz="2200" b="1" dirty="0">
                <a:solidFill>
                  <a:srgbClr val="0A1628"/>
                </a:solidFill>
                <a:latin typeface="Cambria" pitchFamily="34" charset="0"/>
                <a:ea typeface="Cambria" pitchFamily="34" charset="-122"/>
                <a:cs typeface="Cambria" pitchFamily="34" charset="-120"/>
              </a:rPr>
              <a:t>3,909</a:t>
            </a:r>
            <a:endParaRPr lang="en-US" sz="2200" dirty="0"/>
          </a:p>
        </p:txBody>
      </p:sp>
      <p:sp>
        <p:nvSpPr>
          <p:cNvPr id="15" name="Text 13"/>
          <p:cNvSpPr txBox="1"/>
          <p:nvPr/>
        </p:nvSpPr>
        <p:spPr>
          <a:xfrm>
            <a:off x="2926080" y="3072384"/>
            <a:ext cx="1737360" cy="310896"/>
          </a:xfrm>
          <a:prstGeom prst="rect">
            <a:avLst/>
          </a:prstGeom>
          <a:noFill/>
          <a:ln/>
        </p:spPr>
        <p:txBody>
          <a:bodyPr wrap="square" lIns="0" tIns="0" rIns="0" bIns="0" rtlCol="0" anchor="ctr"/>
          <a:lstStyle/>
          <a:p>
            <a:pPr marL="0" indent="0">
              <a:buNone/>
            </a:pPr>
            <a:r>
              <a:rPr lang="en-US" sz="1100" dirty="0">
                <a:solidFill>
                  <a:srgbClr val="5B7086"/>
                </a:solidFill>
                <a:latin typeface="Calibri" pitchFamily="34" charset="0"/>
                <a:ea typeface="Calibri" pitchFamily="34" charset="-122"/>
                <a:cs typeface="Calibri" pitchFamily="34" charset="-120"/>
              </a:rPr>
              <a:t>attachment files</a:t>
            </a:r>
            <a:endParaRPr lang="en-US" sz="1100" dirty="0"/>
          </a:p>
        </p:txBody>
      </p:sp>
      <p:sp>
        <p:nvSpPr>
          <p:cNvPr id="16" name="Shape 14"/>
          <p:cNvSpPr/>
          <p:nvPr/>
        </p:nvSpPr>
        <p:spPr>
          <a:xfrm>
            <a:off x="566928" y="3621024"/>
            <a:ext cx="2048256" cy="896112"/>
          </a:xfrm>
          <a:prstGeom prst="roundRect">
            <a:avLst>
              <a:gd name="adj" fmla="val 6122"/>
            </a:avLst>
          </a:prstGeom>
          <a:solidFill>
            <a:srgbClr val="FFFFFF"/>
          </a:solidFill>
          <a:ln w="12700">
            <a:solidFill>
              <a:srgbClr val="DDE4EA"/>
            </a:solidFill>
            <a:prstDash val="solid"/>
          </a:ln>
          <a:effectLst>
            <a:outerShdw blurRad="127000" dist="25400" dir="5400000" algn="bl" rotWithShape="0">
              <a:srgbClr val="0A1628">
                <a:alpha val="13000"/>
              </a:srgbClr>
            </a:outerShdw>
          </a:effectLst>
        </p:spPr>
      </p:sp>
      <p:sp>
        <p:nvSpPr>
          <p:cNvPr id="17" name="Text 15"/>
          <p:cNvSpPr txBox="1"/>
          <p:nvPr/>
        </p:nvSpPr>
        <p:spPr>
          <a:xfrm>
            <a:off x="731520" y="3712464"/>
            <a:ext cx="1737360" cy="384048"/>
          </a:xfrm>
          <a:prstGeom prst="rect">
            <a:avLst/>
          </a:prstGeom>
          <a:noFill/>
          <a:ln/>
        </p:spPr>
        <p:txBody>
          <a:bodyPr wrap="square" lIns="0" tIns="0" rIns="0" bIns="0" rtlCol="0" anchor="ctr"/>
          <a:lstStyle/>
          <a:p>
            <a:pPr marL="0" indent="0">
              <a:buNone/>
            </a:pPr>
            <a:r>
              <a:rPr lang="en-US" sz="2200" b="1" dirty="0">
                <a:solidFill>
                  <a:srgbClr val="0A1628"/>
                </a:solidFill>
                <a:latin typeface="Cambria" pitchFamily="34" charset="0"/>
                <a:ea typeface="Cambria" pitchFamily="34" charset="-122"/>
                <a:cs typeface="Cambria" pitchFamily="34" charset="-120"/>
              </a:rPr>
              <a:t>3,550</a:t>
            </a:r>
            <a:endParaRPr lang="en-US" sz="2200" dirty="0"/>
          </a:p>
        </p:txBody>
      </p:sp>
      <p:sp>
        <p:nvSpPr>
          <p:cNvPr id="18" name="Text 16"/>
          <p:cNvSpPr txBox="1"/>
          <p:nvPr/>
        </p:nvSpPr>
        <p:spPr>
          <a:xfrm>
            <a:off x="731520" y="4096512"/>
            <a:ext cx="1737360" cy="310896"/>
          </a:xfrm>
          <a:prstGeom prst="rect">
            <a:avLst/>
          </a:prstGeom>
          <a:noFill/>
          <a:ln/>
        </p:spPr>
        <p:txBody>
          <a:bodyPr wrap="square" lIns="0" tIns="0" rIns="0" bIns="0" rtlCol="0" anchor="ctr"/>
          <a:lstStyle/>
          <a:p>
            <a:pPr marL="0" indent="0">
              <a:buNone/>
            </a:pPr>
            <a:r>
              <a:rPr lang="en-US" sz="1100" dirty="0">
                <a:solidFill>
                  <a:srgbClr val="5B7086"/>
                </a:solidFill>
                <a:latin typeface="Calibri" pitchFamily="34" charset="0"/>
                <a:ea typeface="Calibri" pitchFamily="34" charset="-122"/>
                <a:cs typeface="Calibri" pitchFamily="34" charset="-120"/>
              </a:rPr>
              <a:t>usable images extracted</a:t>
            </a:r>
            <a:endParaRPr lang="en-US" sz="1100" dirty="0"/>
          </a:p>
        </p:txBody>
      </p:sp>
      <p:sp>
        <p:nvSpPr>
          <p:cNvPr id="19" name="Shape 17"/>
          <p:cNvSpPr/>
          <p:nvPr/>
        </p:nvSpPr>
        <p:spPr>
          <a:xfrm>
            <a:off x="2761488" y="3621024"/>
            <a:ext cx="2048256" cy="896112"/>
          </a:xfrm>
          <a:prstGeom prst="roundRect">
            <a:avLst>
              <a:gd name="adj" fmla="val 6122"/>
            </a:avLst>
          </a:prstGeom>
          <a:solidFill>
            <a:srgbClr val="FFFFFF"/>
          </a:solidFill>
          <a:ln w="12700">
            <a:solidFill>
              <a:srgbClr val="DDE4EA"/>
            </a:solidFill>
            <a:prstDash val="solid"/>
          </a:ln>
          <a:effectLst>
            <a:outerShdw blurRad="127000" dist="25400" dir="5400000" algn="bl" rotWithShape="0">
              <a:srgbClr val="0A1628">
                <a:alpha val="13000"/>
              </a:srgbClr>
            </a:outerShdw>
          </a:effectLst>
        </p:spPr>
      </p:sp>
      <p:sp>
        <p:nvSpPr>
          <p:cNvPr id="20" name="Text 18"/>
          <p:cNvSpPr txBox="1"/>
          <p:nvPr/>
        </p:nvSpPr>
        <p:spPr>
          <a:xfrm>
            <a:off x="2926080" y="3712464"/>
            <a:ext cx="1737360" cy="384048"/>
          </a:xfrm>
          <a:prstGeom prst="rect">
            <a:avLst/>
          </a:prstGeom>
          <a:noFill/>
          <a:ln/>
        </p:spPr>
        <p:txBody>
          <a:bodyPr wrap="square" lIns="0" tIns="0" rIns="0" bIns="0" rtlCol="0" anchor="ctr"/>
          <a:lstStyle/>
          <a:p>
            <a:pPr marL="0" indent="0">
              <a:buNone/>
            </a:pPr>
            <a:r>
              <a:rPr lang="en-US" sz="2200" b="1" dirty="0">
                <a:solidFill>
                  <a:srgbClr val="0A1628"/>
                </a:solidFill>
                <a:latin typeface="Cambria" pitchFamily="34" charset="0"/>
                <a:ea typeface="Cambria" pitchFamily="34" charset="-122"/>
                <a:cs typeface="Cambria" pitchFamily="34" charset="-120"/>
              </a:rPr>
              <a:t>543</a:t>
            </a:r>
            <a:endParaRPr lang="en-US" sz="2200" dirty="0"/>
          </a:p>
        </p:txBody>
      </p:sp>
      <p:sp>
        <p:nvSpPr>
          <p:cNvPr id="21" name="Text 19"/>
          <p:cNvSpPr txBox="1"/>
          <p:nvPr/>
        </p:nvSpPr>
        <p:spPr>
          <a:xfrm>
            <a:off x="2926080" y="4096512"/>
            <a:ext cx="1737360" cy="310896"/>
          </a:xfrm>
          <a:prstGeom prst="rect">
            <a:avLst/>
          </a:prstGeom>
          <a:noFill/>
          <a:ln/>
        </p:spPr>
        <p:txBody>
          <a:bodyPr wrap="square" lIns="0" tIns="0" rIns="0" bIns="0" rtlCol="0" anchor="ctr"/>
          <a:lstStyle/>
          <a:p>
            <a:pPr marL="0" indent="0">
              <a:buNone/>
            </a:pPr>
            <a:r>
              <a:rPr lang="en-US" sz="1100" dirty="0">
                <a:solidFill>
                  <a:srgbClr val="5B7086"/>
                </a:solidFill>
                <a:latin typeface="Calibri" pitchFamily="34" charset="0"/>
                <a:ea typeface="Calibri" pitchFamily="34" charset="-122"/>
                <a:cs typeface="Calibri" pitchFamily="34" charset="-120"/>
              </a:rPr>
              <a:t>constituencies in scraper scope</a:t>
            </a:r>
            <a:endParaRPr lang="en-US" sz="1100" dirty="0"/>
          </a:p>
        </p:txBody>
      </p:sp>
      <p:sp>
        <p:nvSpPr>
          <p:cNvPr id="22" name="Text 20"/>
          <p:cNvSpPr txBox="1"/>
          <p:nvPr/>
        </p:nvSpPr>
        <p:spPr>
          <a:xfrm>
            <a:off x="566928" y="4709160"/>
            <a:ext cx="4023360" cy="731520"/>
          </a:xfrm>
          <a:prstGeom prst="rect">
            <a:avLst/>
          </a:prstGeom>
          <a:noFill/>
          <a:ln/>
        </p:spPr>
        <p:txBody>
          <a:bodyPr wrap="square" lIns="0" tIns="0" rIns="0" bIns="0" rtlCol="0" anchor="ctr"/>
          <a:lstStyle/>
          <a:p>
            <a:pPr marL="0" indent="0">
              <a:lnSpc>
                <a:spcPts val="1800"/>
              </a:lnSpc>
              <a:buNone/>
            </a:pPr>
            <a:r>
              <a:rPr lang="en-US" sz="1250" i="1" dirty="0">
                <a:solidFill>
                  <a:srgbClr val="5B7086"/>
                </a:solidFill>
                <a:latin typeface="Calibri" pitchFamily="34" charset="0"/>
                <a:ea typeface="Calibri" pitchFamily="34" charset="-122"/>
                <a:cs typeface="Calibri" pitchFamily="34" charset="-120"/>
              </a:rPr>
              <a:t>Scraped from the MPLADS portal's own REST API. Nobody handed us this.</a:t>
            </a:r>
            <a:endParaRPr lang="en-US" sz="1250" dirty="0"/>
          </a:p>
        </p:txBody>
      </p:sp>
      <p:sp>
        <p:nvSpPr>
          <p:cNvPr id="23" name="Shape 21"/>
          <p:cNvSpPr/>
          <p:nvPr/>
        </p:nvSpPr>
        <p:spPr>
          <a:xfrm>
            <a:off x="4864608" y="1572768"/>
            <a:ext cx="3154680" cy="4114800"/>
          </a:xfrm>
          <a:prstGeom prst="roundRect">
            <a:avLst>
              <a:gd name="adj" fmla="val 1739"/>
            </a:avLst>
          </a:prstGeom>
          <a:solidFill>
            <a:srgbClr val="FFFFFF"/>
          </a:solidFill>
          <a:ln w="12700">
            <a:solidFill>
              <a:srgbClr val="DDE4EA"/>
            </a:solidFill>
            <a:prstDash val="solid"/>
          </a:ln>
          <a:effectLst>
            <a:outerShdw blurRad="127000" dist="25400" dir="5400000" algn="bl" rotWithShape="0">
              <a:srgbClr val="0A1628">
                <a:alpha val="13000"/>
              </a:srgbClr>
            </a:outerShdw>
          </a:effectLst>
        </p:spPr>
      </p:sp>
      <p:sp>
        <p:nvSpPr>
          <p:cNvPr id="24" name="Text 22"/>
          <p:cNvSpPr txBox="1"/>
          <p:nvPr/>
        </p:nvSpPr>
        <p:spPr>
          <a:xfrm>
            <a:off x="5074920" y="1737360"/>
            <a:ext cx="2743200" cy="621792"/>
          </a:xfrm>
          <a:prstGeom prst="rect">
            <a:avLst/>
          </a:prstGeom>
          <a:noFill/>
          <a:ln/>
        </p:spPr>
        <p:txBody>
          <a:bodyPr wrap="square" lIns="0" tIns="0" rIns="0" bIns="0" rtlCol="0" anchor="ctr"/>
          <a:lstStyle/>
          <a:p>
            <a:pPr marL="0" indent="0">
              <a:lnSpc>
                <a:spcPts val="2100"/>
              </a:lnSpc>
              <a:buNone/>
            </a:pPr>
            <a:r>
              <a:rPr lang="en-US" sz="1550" b="1" dirty="0">
                <a:solidFill>
                  <a:srgbClr val="0A1628"/>
                </a:solidFill>
                <a:latin typeface="Cambria" pitchFamily="34" charset="0"/>
                <a:ea typeface="Cambria" pitchFamily="34" charset="-122"/>
                <a:cs typeface="Cambria" pitchFamily="34" charset="-120"/>
              </a:rPr>
              <a:t>Then we measured it — before modelling anything</a:t>
            </a:r>
            <a:endParaRPr lang="en-US" sz="1550" dirty="0"/>
          </a:p>
        </p:txBody>
      </p:sp>
      <p:sp>
        <p:nvSpPr>
          <p:cNvPr id="25" name="Text 23"/>
          <p:cNvSpPr txBox="1"/>
          <p:nvPr/>
        </p:nvSpPr>
        <p:spPr>
          <a:xfrm>
            <a:off x="5074920" y="2450592"/>
            <a:ext cx="2743200" cy="475488"/>
          </a:xfrm>
          <a:prstGeom prst="rect">
            <a:avLst/>
          </a:prstGeom>
          <a:noFill/>
          <a:ln/>
        </p:spPr>
        <p:txBody>
          <a:bodyPr wrap="square" lIns="0" tIns="0" rIns="0" bIns="0" rtlCol="0" anchor="ctr"/>
          <a:lstStyle/>
          <a:p>
            <a:pPr marL="0" indent="0">
              <a:lnSpc>
                <a:spcPts val="1600"/>
              </a:lnSpc>
              <a:buNone/>
            </a:pPr>
            <a:r>
              <a:rPr lang="en-US" sz="1200" b="1" dirty="0">
                <a:solidFill>
                  <a:srgbClr val="0A1628"/>
                </a:solidFill>
                <a:latin typeface="Calibri" pitchFamily="34" charset="0"/>
                <a:ea typeface="Calibri" pitchFamily="34" charset="-122"/>
                <a:cs typeface="Calibri" pitchFamily="34" charset="-120"/>
              </a:rPr>
              <a:t>WORK_CATEGORY is 98.6% one value.</a:t>
            </a:r>
            <a:endParaRPr lang="en-US" sz="1200" dirty="0"/>
          </a:p>
        </p:txBody>
      </p:sp>
      <p:sp>
        <p:nvSpPr>
          <p:cNvPr id="26" name="Text 24"/>
          <p:cNvSpPr txBox="1"/>
          <p:nvPr/>
        </p:nvSpPr>
        <p:spPr>
          <a:xfrm>
            <a:off x="5074920" y="2907792"/>
            <a:ext cx="2743200" cy="566928"/>
          </a:xfrm>
          <a:prstGeom prst="rect">
            <a:avLst/>
          </a:prstGeom>
          <a:noFill/>
          <a:ln/>
        </p:spPr>
        <p:txBody>
          <a:bodyPr wrap="square" lIns="0" tIns="0" rIns="0" bIns="0" rtlCol="0" anchor="ctr"/>
          <a:lstStyle/>
          <a:p>
            <a:pPr marL="0" indent="0">
              <a:lnSpc>
                <a:spcPts val="1500"/>
              </a:lnSpc>
              <a:buNone/>
            </a:pPr>
            <a:r>
              <a:rPr lang="en-US" sz="1150" dirty="0">
                <a:solidFill>
                  <a:srgbClr val="5B7086"/>
                </a:solidFill>
                <a:latin typeface="Calibri" pitchFamily="34" charset="0"/>
                <a:ea typeface="Calibri" pitchFamily="34" charset="-122"/>
                <a:cs typeface="Calibri" pitchFamily="34" charset="-120"/>
              </a:rPr>
              <a:t>Grouping a model on it produces one global model wearing a costume.</a:t>
            </a:r>
            <a:endParaRPr lang="en-US" sz="1150" dirty="0"/>
          </a:p>
        </p:txBody>
      </p:sp>
      <p:sp>
        <p:nvSpPr>
          <p:cNvPr id="27" name="Text 25"/>
          <p:cNvSpPr txBox="1"/>
          <p:nvPr/>
        </p:nvSpPr>
        <p:spPr>
          <a:xfrm>
            <a:off x="5074920" y="3529584"/>
            <a:ext cx="2743200" cy="475488"/>
          </a:xfrm>
          <a:prstGeom prst="rect">
            <a:avLst/>
          </a:prstGeom>
          <a:noFill/>
          <a:ln/>
        </p:spPr>
        <p:txBody>
          <a:bodyPr wrap="square" lIns="0" tIns="0" rIns="0" bIns="0" rtlCol="0" anchor="ctr"/>
          <a:lstStyle/>
          <a:p>
            <a:pPr marL="0" indent="0">
              <a:lnSpc>
                <a:spcPts val="1600"/>
              </a:lnSpc>
              <a:buNone/>
            </a:pPr>
            <a:r>
              <a:rPr lang="en-US" sz="1200" b="1" dirty="0">
                <a:solidFill>
                  <a:srgbClr val="0A1628"/>
                </a:solidFill>
                <a:latin typeface="Calibri" pitchFamily="34" charset="0"/>
                <a:ea typeface="Calibri" pitchFamily="34" charset="-122"/>
                <a:cs typeface="Calibri" pitchFamily="34" charset="-120"/>
              </a:rPr>
              <a:t>The real taxonomy hides in ACTIVITY_NAME.</a:t>
            </a:r>
            <a:endParaRPr lang="en-US" sz="1200" dirty="0"/>
          </a:p>
        </p:txBody>
      </p:sp>
      <p:sp>
        <p:nvSpPr>
          <p:cNvPr id="28" name="Text 26"/>
          <p:cNvSpPr txBox="1"/>
          <p:nvPr/>
        </p:nvSpPr>
        <p:spPr>
          <a:xfrm>
            <a:off x="5074920" y="3986784"/>
            <a:ext cx="2743200" cy="566928"/>
          </a:xfrm>
          <a:prstGeom prst="rect">
            <a:avLst/>
          </a:prstGeom>
          <a:noFill/>
          <a:ln/>
        </p:spPr>
        <p:txBody>
          <a:bodyPr wrap="square" lIns="0" tIns="0" rIns="0" bIns="0" rtlCol="0" anchor="ctr"/>
          <a:lstStyle/>
          <a:p>
            <a:pPr marL="0" indent="0">
              <a:lnSpc>
                <a:spcPts val="1500"/>
              </a:lnSpc>
              <a:buNone/>
            </a:pPr>
            <a:r>
              <a:rPr lang="en-US" sz="1150" dirty="0">
                <a:solidFill>
                  <a:srgbClr val="5B7086"/>
                </a:solidFill>
                <a:latin typeface="Calibri" pitchFamily="34" charset="0"/>
                <a:ea typeface="Calibri" pitchFamily="34" charset="-122"/>
                <a:cs typeface="Calibri" pitchFamily="34" charset="-120"/>
              </a:rPr>
              <a:t>Strip the sanction prefix and 205 distinct activities appear.</a:t>
            </a:r>
            <a:endParaRPr lang="en-US" sz="1150" dirty="0"/>
          </a:p>
        </p:txBody>
      </p:sp>
      <p:sp>
        <p:nvSpPr>
          <p:cNvPr id="29" name="Text 27"/>
          <p:cNvSpPr txBox="1"/>
          <p:nvPr/>
        </p:nvSpPr>
        <p:spPr>
          <a:xfrm>
            <a:off x="5074920" y="4608576"/>
            <a:ext cx="2743200" cy="475488"/>
          </a:xfrm>
          <a:prstGeom prst="rect">
            <a:avLst/>
          </a:prstGeom>
          <a:noFill/>
          <a:ln/>
        </p:spPr>
        <p:txBody>
          <a:bodyPr wrap="square" lIns="0" tIns="0" rIns="0" bIns="0" rtlCol="0" anchor="ctr"/>
          <a:lstStyle/>
          <a:p>
            <a:pPr marL="0" indent="0">
              <a:lnSpc>
                <a:spcPts val="1600"/>
              </a:lnSpc>
              <a:buNone/>
            </a:pPr>
            <a:r>
              <a:rPr lang="en-US" sz="1200" b="1" dirty="0">
                <a:solidFill>
                  <a:srgbClr val="0A1628"/>
                </a:solidFill>
                <a:latin typeface="Calibri" pitchFamily="34" charset="0"/>
                <a:ea typeface="Calibri" pitchFamily="34" charset="-122"/>
                <a:cs typeface="Calibri" pitchFamily="34" charset="-120"/>
              </a:rPr>
              <a:t>AVERAGE_RATING is 0.0 on all 5,133 rows.</a:t>
            </a:r>
            <a:endParaRPr lang="en-US" sz="1200" dirty="0"/>
          </a:p>
        </p:txBody>
      </p:sp>
      <p:sp>
        <p:nvSpPr>
          <p:cNvPr id="30" name="Text 28"/>
          <p:cNvSpPr txBox="1"/>
          <p:nvPr/>
        </p:nvSpPr>
        <p:spPr>
          <a:xfrm>
            <a:off x="5074920" y="5065776"/>
            <a:ext cx="2743200" cy="566928"/>
          </a:xfrm>
          <a:prstGeom prst="rect">
            <a:avLst/>
          </a:prstGeom>
          <a:noFill/>
          <a:ln/>
        </p:spPr>
        <p:txBody>
          <a:bodyPr wrap="square" lIns="0" tIns="0" rIns="0" bIns="0" rtlCol="0" anchor="ctr"/>
          <a:lstStyle/>
          <a:p>
            <a:pPr marL="0" indent="0">
              <a:lnSpc>
                <a:spcPts val="1500"/>
              </a:lnSpc>
              <a:buNone/>
            </a:pPr>
            <a:r>
              <a:rPr lang="en-US" sz="1150" dirty="0">
                <a:solidFill>
                  <a:srgbClr val="5B7086"/>
                </a:solidFill>
                <a:latin typeface="Calibri" pitchFamily="34" charset="0"/>
                <a:ea typeface="Calibri" pitchFamily="34" charset="-122"/>
                <a:cs typeface="Calibri" pitchFamily="34" charset="-120"/>
              </a:rPr>
              <a:t>FLAG is constant. Both dropped, and documented as dropped.</a:t>
            </a:r>
            <a:endParaRPr lang="en-US" sz="1150" dirty="0"/>
          </a:p>
        </p:txBody>
      </p:sp>
      <p:sp>
        <p:nvSpPr>
          <p:cNvPr id="31" name="Shape 29"/>
          <p:cNvSpPr/>
          <p:nvPr/>
        </p:nvSpPr>
        <p:spPr>
          <a:xfrm>
            <a:off x="8183880" y="1572768"/>
            <a:ext cx="3438144" cy="4114800"/>
          </a:xfrm>
          <a:prstGeom prst="roundRect">
            <a:avLst>
              <a:gd name="adj" fmla="val 1596"/>
            </a:avLst>
          </a:prstGeom>
          <a:solidFill>
            <a:srgbClr val="FFFFFF"/>
          </a:solidFill>
          <a:ln w="12700">
            <a:solidFill>
              <a:srgbClr val="DDE4EA"/>
            </a:solidFill>
            <a:prstDash val="solid"/>
          </a:ln>
          <a:effectLst>
            <a:outerShdw blurRad="127000" dist="25400" dir="5400000" algn="bl" rotWithShape="0">
              <a:srgbClr val="0A1628">
                <a:alpha val="13000"/>
              </a:srgbClr>
            </a:outerShdw>
          </a:effectLst>
        </p:spPr>
      </p:sp>
      <p:graphicFrame>
        <p:nvGraphicFramePr>
          <p:cNvPr id="32" name="Chart 0"/>
          <p:cNvGraphicFramePr/>
          <p:nvPr/>
        </p:nvGraphicFramePr>
        <p:xfrm>
          <a:off x="8229600" y="2121408"/>
          <a:ext cx="3346704"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33" name="Text 30"/>
          <p:cNvSpPr txBox="1"/>
          <p:nvPr/>
        </p:nvSpPr>
        <p:spPr>
          <a:xfrm>
            <a:off x="8394192" y="1755648"/>
            <a:ext cx="3017520" cy="310896"/>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Top activities in the ingested corpus</a:t>
            </a:r>
            <a:endParaRPr lang="en-US" sz="1200" dirty="0"/>
          </a:p>
        </p:txBody>
      </p:sp>
      <p:sp>
        <p:nvSpPr>
          <p:cNvPr id="35" name="Shape 31"/>
          <p:cNvSpPr/>
          <p:nvPr/>
        </p:nvSpPr>
        <p:spPr>
          <a:xfrm>
            <a:off x="566928" y="6309360"/>
            <a:ext cx="256032" cy="256032"/>
          </a:xfrm>
          <a:prstGeom prst="ellipse">
            <a:avLst/>
          </a:prstGeom>
          <a:solidFill>
            <a:srgbClr val="E7EDF3"/>
          </a:solidFill>
          <a:ln w="12700">
            <a:solidFill>
              <a:srgbClr val="F2A03D"/>
            </a:solidFill>
            <a:prstDash val="solid"/>
          </a:ln>
        </p:spPr>
      </p:sp>
      <p:sp>
        <p:nvSpPr>
          <p:cNvPr id="36" name="Text 32"/>
          <p:cNvSpPr txBox="1"/>
          <p:nvPr/>
        </p:nvSpPr>
        <p:spPr>
          <a:xfrm>
            <a:off x="566928" y="6309360"/>
            <a:ext cx="256032" cy="256032"/>
          </a:xfrm>
          <a:prstGeom prst="rect">
            <a:avLst/>
          </a:prstGeom>
          <a:noFill/>
          <a:ln/>
        </p:spPr>
        <p:txBody>
          <a:bodyPr wrap="square" lIns="0" tIns="0" rIns="0" bIns="0" rtlCol="0" anchor="ctr"/>
          <a:lstStyle/>
          <a:p>
            <a:pPr marL="0" indent="0" algn="ctr">
              <a:buNone/>
            </a:pPr>
            <a:r>
              <a:rPr lang="en-US" sz="1100" b="1" dirty="0">
                <a:solidFill>
                  <a:srgbClr val="F2A03D"/>
                </a:solidFill>
                <a:latin typeface="Calibri" pitchFamily="34" charset="0"/>
                <a:ea typeface="Calibri" pitchFamily="34" charset="-122"/>
                <a:cs typeface="Calibri" pitchFamily="34" charset="-120"/>
              </a:rPr>
              <a:t>2</a:t>
            </a:r>
            <a:endParaRPr lang="en-US" sz="1100" dirty="0"/>
          </a:p>
        </p:txBody>
      </p:sp>
      <p:sp>
        <p:nvSpPr>
          <p:cNvPr id="37" name="Text 33"/>
          <p:cNvSpPr txBox="1"/>
          <p:nvPr/>
        </p:nvSpPr>
        <p:spPr>
          <a:xfrm>
            <a:off x="914400" y="6309360"/>
            <a:ext cx="4572000" cy="256032"/>
          </a:xfrm>
          <a:prstGeom prst="rect">
            <a:avLst/>
          </a:prstGeom>
          <a:noFill/>
          <a:ln/>
        </p:spPr>
        <p:txBody>
          <a:bodyPr wrap="square" lIns="0" tIns="0" rIns="0" bIns="0" rtlCol="0" anchor="ctr"/>
          <a:lstStyle/>
          <a:p>
            <a:pPr marL="0" indent="0">
              <a:buNone/>
            </a:pPr>
            <a:r>
              <a:rPr lang="en-US" sz="1050" b="1" kern="0" spc="110" dirty="0">
                <a:solidFill>
                  <a:srgbClr val="5B7086"/>
                </a:solidFill>
                <a:latin typeface="Calibri" pitchFamily="34" charset="0"/>
                <a:ea typeface="Calibri" pitchFamily="34" charset="-122"/>
                <a:cs typeface="Calibri" pitchFamily="34" charset="-120"/>
              </a:rPr>
              <a:t>SPEAKER 2   ·   2:50 – 3:20</a:t>
            </a:r>
            <a:endParaRPr lang="en-US" sz="1050" dirty="0"/>
          </a:p>
        </p:txBody>
      </p:sp>
      <p:sp>
        <p:nvSpPr>
          <p:cNvPr id="38" name="Text 34"/>
          <p:cNvSpPr txBox="1"/>
          <p:nvPr/>
        </p:nvSpPr>
        <p:spPr>
          <a:xfrm>
            <a:off x="7052767" y="6309360"/>
            <a:ext cx="4572000" cy="256032"/>
          </a:xfrm>
          <a:prstGeom prst="rect">
            <a:avLst/>
          </a:prstGeom>
          <a:noFill/>
          <a:ln/>
        </p:spPr>
        <p:txBody>
          <a:bodyPr wrap="square" lIns="0" tIns="0" rIns="0" bIns="0" rtlCol="0" anchor="ctr"/>
          <a:lstStyle/>
          <a:p>
            <a:pPr marL="0" indent="0" algn="r">
              <a:buNone/>
            </a:pPr>
            <a:r>
              <a:rPr lang="en-US" sz="1050" dirty="0">
                <a:solidFill>
                  <a:srgbClr val="93A5B6"/>
                </a:solidFill>
                <a:latin typeface="Calibri" pitchFamily="34" charset="0"/>
                <a:ea typeface="Calibri" pitchFamily="34" charset="-122"/>
                <a:cs typeface="Calibri" pitchFamily="34" charset="-120"/>
              </a:rPr>
              <a:t>NAZAR   ·   SIH 2026   ·   PS 26102   ·   7/16</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9"/>
        </a:solidFill>
        <a:effectLst/>
      </p:bgPr>
    </p:bg>
    <p:spTree>
      <p:nvGrpSpPr>
        <p:cNvPr id="1" name=""/>
        <p:cNvGrpSpPr/>
        <p:nvPr/>
      </p:nvGrpSpPr>
      <p:grpSpPr>
        <a:xfrm>
          <a:off x="0" y="0"/>
          <a:ext cx="0" cy="0"/>
          <a:chOff x="0" y="0"/>
          <a:chExt cx="0" cy="0"/>
        </a:xfrm>
      </p:grpSpPr>
      <p:sp>
        <p:nvSpPr>
          <p:cNvPr id="2" name="Text 0"/>
          <p:cNvSpPr txBox="1"/>
          <p:nvPr/>
        </p:nvSpPr>
        <p:spPr>
          <a:xfrm>
            <a:off x="566928" y="373781"/>
            <a:ext cx="11057839" cy="237744"/>
          </a:xfrm>
          <a:prstGeom prst="rect">
            <a:avLst/>
          </a:prstGeom>
          <a:noFill/>
          <a:ln/>
        </p:spPr>
        <p:txBody>
          <a:bodyPr wrap="square" lIns="0" tIns="0" rIns="0" bIns="0" rtlCol="0" anchor="ctr"/>
          <a:lstStyle/>
          <a:p>
            <a:pPr marL="0" indent="0">
              <a:buNone/>
            </a:pPr>
            <a:r>
              <a:rPr lang="en-US" sz="1150" b="1" kern="0" spc="220" dirty="0">
                <a:solidFill>
                  <a:srgbClr val="F2A03D"/>
                </a:solidFill>
                <a:latin typeface="Calibri" pitchFamily="34" charset="0"/>
                <a:ea typeface="Calibri" pitchFamily="34" charset="-122"/>
                <a:cs typeface="Calibri" pitchFamily="34" charset="-120"/>
              </a:rPr>
              <a:t>ENGINE 1 OF 5  ·  RULES</a:t>
            </a:r>
            <a:endParaRPr lang="en-US" sz="1150" dirty="0"/>
          </a:p>
        </p:txBody>
      </p:sp>
      <p:sp>
        <p:nvSpPr>
          <p:cNvPr id="3" name="Text 1"/>
          <p:cNvSpPr txBox="1"/>
          <p:nvPr/>
        </p:nvSpPr>
        <p:spPr>
          <a:xfrm>
            <a:off x="566928" y="621792"/>
            <a:ext cx="11057839" cy="749808"/>
          </a:xfrm>
          <a:prstGeom prst="rect">
            <a:avLst/>
          </a:prstGeom>
          <a:noFill/>
          <a:ln/>
        </p:spPr>
        <p:txBody>
          <a:bodyPr wrap="square" lIns="0" tIns="0" rIns="0" bIns="0" rtlCol="0" anchor="ctr"/>
          <a:lstStyle/>
          <a:p>
            <a:pPr marL="0" indent="0">
              <a:buNone/>
            </a:pPr>
            <a:r>
              <a:rPr lang="en-US" sz="3200" b="1" dirty="0">
                <a:solidFill>
                  <a:srgbClr val="0A1628"/>
                </a:solidFill>
                <a:latin typeface="Cambria" pitchFamily="34" charset="0"/>
                <a:ea typeface="Cambria" pitchFamily="34" charset="-122"/>
                <a:cs typeface="Cambria" pitchFamily="34" charset="-120"/>
              </a:rPr>
              <a:t>Compliance checks that cite the law they come from</a:t>
            </a:r>
            <a:endParaRPr lang="en-US" sz="3200" dirty="0"/>
          </a:p>
        </p:txBody>
      </p:sp>
      <p:sp>
        <p:nvSpPr>
          <p:cNvPr id="4" name="Shape 2"/>
          <p:cNvSpPr/>
          <p:nvPr/>
        </p:nvSpPr>
        <p:spPr>
          <a:xfrm>
            <a:off x="566928" y="1572768"/>
            <a:ext cx="7680960" cy="896112"/>
          </a:xfrm>
          <a:prstGeom prst="roundRect">
            <a:avLst>
              <a:gd name="adj" fmla="val 6122"/>
            </a:avLst>
          </a:prstGeom>
          <a:solidFill>
            <a:srgbClr val="FFFFFF"/>
          </a:solidFill>
          <a:ln w="12700">
            <a:solidFill>
              <a:srgbClr val="DDE4EA"/>
            </a:solidFill>
            <a:prstDash val="solid"/>
          </a:ln>
          <a:effectLst>
            <a:outerShdw blurRad="127000" dist="25400" dir="5400000" algn="bl" rotWithShape="0">
              <a:srgbClr val="0A1628">
                <a:alpha val="13000"/>
              </a:srgbClr>
            </a:outerShdw>
          </a:effectLst>
        </p:spPr>
      </p:sp>
      <p:sp>
        <p:nvSpPr>
          <p:cNvPr id="5" name="Text 3"/>
          <p:cNvSpPr txBox="1"/>
          <p:nvPr/>
        </p:nvSpPr>
        <p:spPr>
          <a:xfrm>
            <a:off x="768096" y="1627632"/>
            <a:ext cx="1371600" cy="786384"/>
          </a:xfrm>
          <a:prstGeom prst="rect">
            <a:avLst/>
          </a:prstGeom>
          <a:noFill/>
          <a:ln/>
        </p:spPr>
        <p:txBody>
          <a:bodyPr wrap="square" lIns="0" tIns="0" rIns="0" bIns="0" rtlCol="0" anchor="ctr"/>
          <a:lstStyle/>
          <a:p>
            <a:pPr marL="0" indent="0">
              <a:buNone/>
            </a:pPr>
            <a:r>
              <a:rPr lang="en-US" sz="1800" b="1" dirty="0">
                <a:solidFill>
                  <a:srgbClr val="0A1628"/>
                </a:solidFill>
                <a:latin typeface="Cambria" pitchFamily="34" charset="0"/>
                <a:ea typeface="Cambria" pitchFamily="34" charset="-122"/>
                <a:cs typeface="Cambria" pitchFamily="34" charset="-120"/>
              </a:rPr>
              <a:t>75 days</a:t>
            </a:r>
            <a:endParaRPr lang="en-US" sz="1800" dirty="0"/>
          </a:p>
        </p:txBody>
      </p:sp>
      <p:sp>
        <p:nvSpPr>
          <p:cNvPr id="6" name="Text 4"/>
          <p:cNvSpPr txBox="1"/>
          <p:nvPr/>
        </p:nvSpPr>
        <p:spPr>
          <a:xfrm>
            <a:off x="2194560" y="1664208"/>
            <a:ext cx="3977640" cy="457200"/>
          </a:xfrm>
          <a:prstGeom prst="rect">
            <a:avLst/>
          </a:prstGeom>
          <a:noFill/>
          <a:ln/>
        </p:spPr>
        <p:txBody>
          <a:bodyPr wrap="square" lIns="0" tIns="0" rIns="0" bIns="0" rtlCol="0" anchor="ctr"/>
          <a:lstStyle/>
          <a:p>
            <a:pPr marL="0" indent="0">
              <a:lnSpc>
                <a:spcPts val="1500"/>
              </a:lnSpc>
              <a:buNone/>
            </a:pPr>
            <a:r>
              <a:rPr lang="en-US" sz="1200" dirty="0">
                <a:solidFill>
                  <a:srgbClr val="0A1628"/>
                </a:solidFill>
                <a:latin typeface="Calibri" pitchFamily="34" charset="0"/>
                <a:ea typeface="Calibri" pitchFamily="34" charset="-122"/>
                <a:cs typeface="Calibri" pitchFamily="34" charset="-120"/>
              </a:rPr>
              <a:t>from receipt of recommendation to sanction</a:t>
            </a:r>
            <a:endParaRPr lang="en-US" sz="1200" dirty="0"/>
          </a:p>
        </p:txBody>
      </p:sp>
      <p:sp>
        <p:nvSpPr>
          <p:cNvPr id="7" name="Text 5"/>
          <p:cNvSpPr txBox="1"/>
          <p:nvPr/>
        </p:nvSpPr>
        <p:spPr>
          <a:xfrm>
            <a:off x="2194560" y="2103120"/>
            <a:ext cx="3977640" cy="310896"/>
          </a:xfrm>
          <a:prstGeom prst="rect">
            <a:avLst/>
          </a:prstGeom>
          <a:noFill/>
          <a:ln/>
        </p:spPr>
        <p:txBody>
          <a:bodyPr wrap="square" lIns="0" tIns="0" rIns="0" bIns="0" rtlCol="0" anchor="ctr"/>
          <a:lstStyle/>
          <a:p>
            <a:pPr marL="0" indent="0">
              <a:buNone/>
            </a:pPr>
            <a:r>
              <a:rPr lang="en-US" sz="1050" dirty="0">
                <a:solidFill>
                  <a:srgbClr val="5B7086"/>
                </a:solidFill>
                <a:latin typeface="Calibri" pitchFamily="34" charset="0"/>
                <a:ea typeface="Calibri" pitchFamily="34" charset="-122"/>
                <a:cs typeface="Calibri" pitchFamily="34" charset="-120"/>
              </a:rPr>
              <a:t>Computable today from RECOMMENDATION_DATE and SANCTION_DATE</a:t>
            </a:r>
            <a:endParaRPr lang="en-US" sz="1050" dirty="0"/>
          </a:p>
        </p:txBody>
      </p:sp>
      <p:sp>
        <p:nvSpPr>
          <p:cNvPr id="8" name="Text 6"/>
          <p:cNvSpPr txBox="1"/>
          <p:nvPr/>
        </p:nvSpPr>
        <p:spPr>
          <a:xfrm>
            <a:off x="6327648" y="1627632"/>
            <a:ext cx="1737360" cy="786384"/>
          </a:xfrm>
          <a:prstGeom prst="rect">
            <a:avLst/>
          </a:prstGeom>
          <a:noFill/>
          <a:ln/>
        </p:spPr>
        <p:txBody>
          <a:bodyPr wrap="square" lIns="0" tIns="0" rIns="0" bIns="0" rtlCol="0" anchor="ctr"/>
          <a:lstStyle/>
          <a:p>
            <a:pPr marL="0" indent="0">
              <a:buNone/>
            </a:pPr>
            <a:r>
              <a:rPr lang="en-US" sz="1050" b="1" dirty="0">
                <a:solidFill>
                  <a:srgbClr val="3FBF8F"/>
                </a:solidFill>
                <a:latin typeface="Calibri" pitchFamily="34" charset="0"/>
                <a:ea typeface="Calibri" pitchFamily="34" charset="-122"/>
                <a:cs typeface="Calibri" pitchFamily="34" charset="-120"/>
              </a:rPr>
              <a:t>MPLADS Guidelines 2023</a:t>
            </a:r>
            <a:endParaRPr lang="en-US" sz="1050" dirty="0"/>
          </a:p>
        </p:txBody>
      </p:sp>
      <p:sp>
        <p:nvSpPr>
          <p:cNvPr id="9" name="Shape 7"/>
          <p:cNvSpPr/>
          <p:nvPr/>
        </p:nvSpPr>
        <p:spPr>
          <a:xfrm>
            <a:off x="566928" y="2596896"/>
            <a:ext cx="7680960" cy="896112"/>
          </a:xfrm>
          <a:prstGeom prst="roundRect">
            <a:avLst>
              <a:gd name="adj" fmla="val 6122"/>
            </a:avLst>
          </a:prstGeom>
          <a:solidFill>
            <a:srgbClr val="FFFFFF"/>
          </a:solidFill>
          <a:ln w="12700">
            <a:solidFill>
              <a:srgbClr val="DDE4EA"/>
            </a:solidFill>
            <a:prstDash val="solid"/>
          </a:ln>
          <a:effectLst>
            <a:outerShdw blurRad="127000" dist="25400" dir="5400000" algn="bl" rotWithShape="0">
              <a:srgbClr val="0A1628">
                <a:alpha val="13000"/>
              </a:srgbClr>
            </a:outerShdw>
          </a:effectLst>
        </p:spPr>
      </p:sp>
      <p:sp>
        <p:nvSpPr>
          <p:cNvPr id="10" name="Text 8"/>
          <p:cNvSpPr txBox="1"/>
          <p:nvPr/>
        </p:nvSpPr>
        <p:spPr>
          <a:xfrm>
            <a:off x="768096" y="2651760"/>
            <a:ext cx="1371600" cy="786384"/>
          </a:xfrm>
          <a:prstGeom prst="rect">
            <a:avLst/>
          </a:prstGeom>
          <a:noFill/>
          <a:ln/>
        </p:spPr>
        <p:txBody>
          <a:bodyPr wrap="square" lIns="0" tIns="0" rIns="0" bIns="0" rtlCol="0" anchor="ctr"/>
          <a:lstStyle/>
          <a:p>
            <a:pPr marL="0" indent="0">
              <a:buNone/>
            </a:pPr>
            <a:r>
              <a:rPr lang="en-US" sz="1800" b="1" dirty="0">
                <a:solidFill>
                  <a:srgbClr val="0A1628"/>
                </a:solidFill>
                <a:latin typeface="Cambria" pitchFamily="34" charset="0"/>
                <a:ea typeface="Cambria" pitchFamily="34" charset="-122"/>
                <a:cs typeface="Cambria" pitchFamily="34" charset="-120"/>
              </a:rPr>
              <a:t>₹5 crore</a:t>
            </a:r>
            <a:endParaRPr lang="en-US" sz="1800" dirty="0"/>
          </a:p>
        </p:txBody>
      </p:sp>
      <p:sp>
        <p:nvSpPr>
          <p:cNvPr id="11" name="Text 9"/>
          <p:cNvSpPr txBox="1"/>
          <p:nvPr/>
        </p:nvSpPr>
        <p:spPr>
          <a:xfrm>
            <a:off x="2194560" y="2688336"/>
            <a:ext cx="3977640" cy="457200"/>
          </a:xfrm>
          <a:prstGeom prst="rect">
            <a:avLst/>
          </a:prstGeom>
          <a:noFill/>
          <a:ln/>
        </p:spPr>
        <p:txBody>
          <a:bodyPr wrap="square" lIns="0" tIns="0" rIns="0" bIns="0" rtlCol="0" anchor="ctr"/>
          <a:lstStyle/>
          <a:p>
            <a:pPr marL="0" indent="0">
              <a:lnSpc>
                <a:spcPts val="1500"/>
              </a:lnSpc>
              <a:buNone/>
            </a:pPr>
            <a:r>
              <a:rPr lang="en-US" sz="1200" dirty="0">
                <a:solidFill>
                  <a:srgbClr val="0A1628"/>
                </a:solidFill>
                <a:latin typeface="Calibri" pitchFamily="34" charset="0"/>
                <a:ea typeface="Calibri" pitchFamily="34" charset="-122"/>
                <a:cs typeface="Calibri" pitchFamily="34" charset="-120"/>
              </a:rPr>
              <a:t>per MP per annum, in two instalments of ₹2.5 crore</a:t>
            </a:r>
            <a:endParaRPr lang="en-US" sz="1200" dirty="0"/>
          </a:p>
        </p:txBody>
      </p:sp>
      <p:sp>
        <p:nvSpPr>
          <p:cNvPr id="12" name="Text 10"/>
          <p:cNvSpPr txBox="1"/>
          <p:nvPr/>
        </p:nvSpPr>
        <p:spPr>
          <a:xfrm>
            <a:off x="2194560" y="3127248"/>
            <a:ext cx="3977640" cy="310896"/>
          </a:xfrm>
          <a:prstGeom prst="rect">
            <a:avLst/>
          </a:prstGeom>
          <a:noFill/>
          <a:ln/>
        </p:spPr>
        <p:txBody>
          <a:bodyPr wrap="square" lIns="0" tIns="0" rIns="0" bIns="0" rtlCol="0" anchor="ctr"/>
          <a:lstStyle/>
          <a:p>
            <a:pPr marL="0" indent="0">
              <a:buNone/>
            </a:pPr>
            <a:r>
              <a:rPr lang="en-US" sz="1050" dirty="0">
                <a:solidFill>
                  <a:srgbClr val="5B7086"/>
                </a:solidFill>
                <a:latin typeface="Calibri" pitchFamily="34" charset="0"/>
                <a:ea typeface="Calibri" pitchFamily="34" charset="-122"/>
                <a:cs typeface="Calibri" pitchFamily="34" charset="-120"/>
              </a:rPr>
              <a:t>Aggregated per MP per financial year</a:t>
            </a:r>
            <a:endParaRPr lang="en-US" sz="1050" dirty="0"/>
          </a:p>
        </p:txBody>
      </p:sp>
      <p:sp>
        <p:nvSpPr>
          <p:cNvPr id="13" name="Text 11"/>
          <p:cNvSpPr txBox="1"/>
          <p:nvPr/>
        </p:nvSpPr>
        <p:spPr>
          <a:xfrm>
            <a:off x="6327648" y="2651760"/>
            <a:ext cx="1737360" cy="786384"/>
          </a:xfrm>
          <a:prstGeom prst="rect">
            <a:avLst/>
          </a:prstGeom>
          <a:noFill/>
          <a:ln/>
        </p:spPr>
        <p:txBody>
          <a:bodyPr wrap="square" lIns="0" tIns="0" rIns="0" bIns="0" rtlCol="0" anchor="ctr"/>
          <a:lstStyle/>
          <a:p>
            <a:pPr marL="0" indent="0">
              <a:buNone/>
            </a:pPr>
            <a:r>
              <a:rPr lang="en-US" sz="1050" b="1" dirty="0">
                <a:solidFill>
                  <a:srgbClr val="3FBF8F"/>
                </a:solidFill>
                <a:latin typeface="Calibri" pitchFamily="34" charset="0"/>
                <a:ea typeface="Calibri" pitchFamily="34" charset="-122"/>
                <a:cs typeface="Calibri" pitchFamily="34" charset="-120"/>
              </a:rPr>
              <a:t>MPLADS Guidelines 2023</a:t>
            </a:r>
            <a:endParaRPr lang="en-US" sz="1050" dirty="0"/>
          </a:p>
        </p:txBody>
      </p:sp>
      <p:sp>
        <p:nvSpPr>
          <p:cNvPr id="14" name="Shape 12"/>
          <p:cNvSpPr/>
          <p:nvPr/>
        </p:nvSpPr>
        <p:spPr>
          <a:xfrm>
            <a:off x="566928" y="3621024"/>
            <a:ext cx="7680960" cy="896112"/>
          </a:xfrm>
          <a:prstGeom prst="roundRect">
            <a:avLst>
              <a:gd name="adj" fmla="val 6122"/>
            </a:avLst>
          </a:prstGeom>
          <a:solidFill>
            <a:srgbClr val="FFFFFF"/>
          </a:solidFill>
          <a:ln w="12700">
            <a:solidFill>
              <a:srgbClr val="DDE4EA"/>
            </a:solidFill>
            <a:prstDash val="solid"/>
          </a:ln>
          <a:effectLst>
            <a:outerShdw blurRad="127000" dist="25400" dir="5400000" algn="bl" rotWithShape="0">
              <a:srgbClr val="0A1628">
                <a:alpha val="13000"/>
              </a:srgbClr>
            </a:outerShdw>
          </a:effectLst>
        </p:spPr>
      </p:sp>
      <p:sp>
        <p:nvSpPr>
          <p:cNvPr id="15" name="Text 13"/>
          <p:cNvSpPr txBox="1"/>
          <p:nvPr/>
        </p:nvSpPr>
        <p:spPr>
          <a:xfrm>
            <a:off x="768096" y="3675888"/>
            <a:ext cx="1371600" cy="786384"/>
          </a:xfrm>
          <a:prstGeom prst="rect">
            <a:avLst/>
          </a:prstGeom>
          <a:noFill/>
          <a:ln/>
        </p:spPr>
        <p:txBody>
          <a:bodyPr wrap="square" lIns="0" tIns="0" rIns="0" bIns="0" rtlCol="0" anchor="ctr"/>
          <a:lstStyle/>
          <a:p>
            <a:pPr marL="0" indent="0">
              <a:buNone/>
            </a:pPr>
            <a:r>
              <a:rPr lang="en-US" sz="1800" b="1" dirty="0">
                <a:solidFill>
                  <a:srgbClr val="0A1628"/>
                </a:solidFill>
                <a:latin typeface="Cambria" pitchFamily="34" charset="0"/>
                <a:ea typeface="Cambria" pitchFamily="34" charset="-122"/>
                <a:cs typeface="Cambria" pitchFamily="34" charset="-120"/>
              </a:rPr>
              <a:t>₹75 lakh</a:t>
            </a:r>
            <a:endParaRPr lang="en-US" sz="1800" dirty="0"/>
          </a:p>
        </p:txBody>
      </p:sp>
      <p:sp>
        <p:nvSpPr>
          <p:cNvPr id="16" name="Text 14"/>
          <p:cNvSpPr txBox="1"/>
          <p:nvPr/>
        </p:nvSpPr>
        <p:spPr>
          <a:xfrm>
            <a:off x="2194560" y="3712464"/>
            <a:ext cx="3977640" cy="457200"/>
          </a:xfrm>
          <a:prstGeom prst="rect">
            <a:avLst/>
          </a:prstGeom>
          <a:noFill/>
          <a:ln/>
        </p:spPr>
        <p:txBody>
          <a:bodyPr wrap="square" lIns="0" tIns="0" rIns="0" bIns="0" rtlCol="0" anchor="ctr"/>
          <a:lstStyle/>
          <a:p>
            <a:pPr marL="0" indent="0">
              <a:lnSpc>
                <a:spcPts val="1500"/>
              </a:lnSpc>
              <a:buNone/>
            </a:pPr>
            <a:r>
              <a:rPr lang="en-US" sz="1200" dirty="0">
                <a:solidFill>
                  <a:srgbClr val="0A1628"/>
                </a:solidFill>
                <a:latin typeface="Calibri" pitchFamily="34" charset="0"/>
                <a:ea typeface="Calibri" pitchFamily="34" charset="-122"/>
                <a:cs typeface="Calibri" pitchFamily="34" charset="-120"/>
              </a:rPr>
              <a:t>ceiling on assets built by trusts and societies</a:t>
            </a:r>
            <a:endParaRPr lang="en-US" sz="1200" dirty="0"/>
          </a:p>
        </p:txBody>
      </p:sp>
      <p:sp>
        <p:nvSpPr>
          <p:cNvPr id="17" name="Text 15"/>
          <p:cNvSpPr txBox="1"/>
          <p:nvPr/>
        </p:nvSpPr>
        <p:spPr>
          <a:xfrm>
            <a:off x="2194560" y="4151376"/>
            <a:ext cx="3977640" cy="310896"/>
          </a:xfrm>
          <a:prstGeom prst="rect">
            <a:avLst/>
          </a:prstGeom>
          <a:noFill/>
          <a:ln/>
        </p:spPr>
        <p:txBody>
          <a:bodyPr wrap="square" lIns="0" tIns="0" rIns="0" bIns="0" rtlCol="0" anchor="ctr"/>
          <a:lstStyle/>
          <a:p>
            <a:pPr marL="0" indent="0">
              <a:buNone/>
            </a:pPr>
            <a:r>
              <a:rPr lang="en-US" sz="1050" dirty="0">
                <a:solidFill>
                  <a:srgbClr val="5B7086"/>
                </a:solidFill>
                <a:latin typeface="Calibri" pitchFamily="34" charset="0"/>
                <a:ea typeface="Calibri" pitchFamily="34" charset="-122"/>
                <a:cs typeface="Calibri" pitchFamily="34" charset="-120"/>
              </a:rPr>
              <a:t>Implementing-agency entity type parsed from IDA_NAME</a:t>
            </a:r>
            <a:endParaRPr lang="en-US" sz="1050" dirty="0"/>
          </a:p>
        </p:txBody>
      </p:sp>
      <p:sp>
        <p:nvSpPr>
          <p:cNvPr id="18" name="Text 16"/>
          <p:cNvSpPr txBox="1"/>
          <p:nvPr/>
        </p:nvSpPr>
        <p:spPr>
          <a:xfrm>
            <a:off x="6327648" y="3675888"/>
            <a:ext cx="1737360" cy="786384"/>
          </a:xfrm>
          <a:prstGeom prst="rect">
            <a:avLst/>
          </a:prstGeom>
          <a:noFill/>
          <a:ln/>
        </p:spPr>
        <p:txBody>
          <a:bodyPr wrap="square" lIns="0" tIns="0" rIns="0" bIns="0" rtlCol="0" anchor="ctr"/>
          <a:lstStyle/>
          <a:p>
            <a:pPr marL="0" indent="0">
              <a:buNone/>
            </a:pPr>
            <a:r>
              <a:rPr lang="en-US" sz="1050" b="1" dirty="0">
                <a:solidFill>
                  <a:srgbClr val="F2A03D"/>
                </a:solidFill>
                <a:latin typeface="Calibri" pitchFamily="34" charset="0"/>
                <a:ea typeface="Calibri" pitchFamily="34" charset="-122"/>
                <a:cs typeface="Calibri" pitchFamily="34" charset="-120"/>
              </a:rPr>
              <a:t>MPLADS Guidelines 2023</a:t>
            </a:r>
            <a:endParaRPr lang="en-US" sz="1050" dirty="0"/>
          </a:p>
        </p:txBody>
      </p:sp>
      <p:sp>
        <p:nvSpPr>
          <p:cNvPr id="19" name="Shape 17"/>
          <p:cNvSpPr/>
          <p:nvPr/>
        </p:nvSpPr>
        <p:spPr>
          <a:xfrm>
            <a:off x="566928" y="4645152"/>
            <a:ext cx="7680960" cy="896112"/>
          </a:xfrm>
          <a:prstGeom prst="roundRect">
            <a:avLst>
              <a:gd name="adj" fmla="val 6122"/>
            </a:avLst>
          </a:prstGeom>
          <a:solidFill>
            <a:srgbClr val="FFFFFF"/>
          </a:solidFill>
          <a:ln w="12700">
            <a:solidFill>
              <a:srgbClr val="DDE4EA"/>
            </a:solidFill>
            <a:prstDash val="solid"/>
          </a:ln>
          <a:effectLst>
            <a:outerShdw blurRad="127000" dist="25400" dir="5400000" algn="bl" rotWithShape="0">
              <a:srgbClr val="0A1628">
                <a:alpha val="13000"/>
              </a:srgbClr>
            </a:outerShdw>
          </a:effectLst>
        </p:spPr>
      </p:sp>
      <p:sp>
        <p:nvSpPr>
          <p:cNvPr id="20" name="Text 18"/>
          <p:cNvSpPr txBox="1"/>
          <p:nvPr/>
        </p:nvSpPr>
        <p:spPr>
          <a:xfrm>
            <a:off x="768096" y="4700016"/>
            <a:ext cx="1371600" cy="786384"/>
          </a:xfrm>
          <a:prstGeom prst="rect">
            <a:avLst/>
          </a:prstGeom>
          <a:noFill/>
          <a:ln/>
        </p:spPr>
        <p:txBody>
          <a:bodyPr wrap="square" lIns="0" tIns="0" rIns="0" bIns="0" rtlCol="0" anchor="ctr"/>
          <a:lstStyle/>
          <a:p>
            <a:pPr marL="0" indent="0">
              <a:buNone/>
            </a:pPr>
            <a:r>
              <a:rPr lang="en-US" sz="1800" b="1" dirty="0">
                <a:solidFill>
                  <a:srgbClr val="0A1628"/>
                </a:solidFill>
                <a:latin typeface="Cambria" pitchFamily="34" charset="0"/>
                <a:ea typeface="Cambria" pitchFamily="34" charset="-122"/>
                <a:cs typeface="Cambria" pitchFamily="34" charset="-120"/>
              </a:rPr>
              <a:t>Rule 163</a:t>
            </a:r>
            <a:endParaRPr lang="en-US" sz="1800" dirty="0"/>
          </a:p>
        </p:txBody>
      </p:sp>
      <p:sp>
        <p:nvSpPr>
          <p:cNvPr id="21" name="Text 19"/>
          <p:cNvSpPr txBox="1"/>
          <p:nvPr/>
        </p:nvSpPr>
        <p:spPr>
          <a:xfrm>
            <a:off x="2194560" y="4736592"/>
            <a:ext cx="3977640" cy="457200"/>
          </a:xfrm>
          <a:prstGeom prst="rect">
            <a:avLst/>
          </a:prstGeom>
          <a:noFill/>
          <a:ln/>
        </p:spPr>
        <p:txBody>
          <a:bodyPr wrap="square" lIns="0" tIns="0" rIns="0" bIns="0" rtlCol="0" anchor="ctr"/>
          <a:lstStyle/>
          <a:p>
            <a:pPr marL="0" indent="0">
              <a:lnSpc>
                <a:spcPts val="1500"/>
              </a:lnSpc>
              <a:buNone/>
            </a:pPr>
            <a:r>
              <a:rPr lang="en-US" sz="1200" dirty="0">
                <a:solidFill>
                  <a:srgbClr val="0A1628"/>
                </a:solidFill>
                <a:latin typeface="Calibri" pitchFamily="34" charset="0"/>
                <a:ea typeface="Calibri" pitchFamily="34" charset="-122"/>
                <a:cs typeface="Calibri" pitchFamily="34" charset="-120"/>
              </a:rPr>
              <a:t>a demand must not be split into small quantities to avoid the sanction of a higher authority</a:t>
            </a:r>
            <a:endParaRPr lang="en-US" sz="1200" dirty="0"/>
          </a:p>
        </p:txBody>
      </p:sp>
      <p:sp>
        <p:nvSpPr>
          <p:cNvPr id="22" name="Text 20"/>
          <p:cNvSpPr txBox="1"/>
          <p:nvPr/>
        </p:nvSpPr>
        <p:spPr>
          <a:xfrm>
            <a:off x="2194560" y="5175504"/>
            <a:ext cx="3977640" cy="310896"/>
          </a:xfrm>
          <a:prstGeom prst="rect">
            <a:avLst/>
          </a:prstGeom>
          <a:noFill/>
          <a:ln/>
        </p:spPr>
        <p:txBody>
          <a:bodyPr wrap="square" lIns="0" tIns="0" rIns="0" bIns="0" rtlCol="0" anchor="ctr"/>
          <a:lstStyle/>
          <a:p>
            <a:pPr marL="0" indent="0">
              <a:buNone/>
            </a:pPr>
            <a:r>
              <a:rPr lang="en-US" sz="1050" dirty="0">
                <a:solidFill>
                  <a:srgbClr val="5B7086"/>
                </a:solidFill>
                <a:latin typeface="Calibri" pitchFamily="34" charset="0"/>
                <a:ea typeface="Calibri" pitchFamily="34" charset="-122"/>
                <a:cs typeface="Calibri" pitchFamily="34" charset="-120"/>
              </a:rPr>
              <a:t>Description clusters, with the cluster's summed amount</a:t>
            </a:r>
            <a:endParaRPr lang="en-US" sz="1050" dirty="0"/>
          </a:p>
        </p:txBody>
      </p:sp>
      <p:sp>
        <p:nvSpPr>
          <p:cNvPr id="23" name="Text 21"/>
          <p:cNvSpPr txBox="1"/>
          <p:nvPr/>
        </p:nvSpPr>
        <p:spPr>
          <a:xfrm>
            <a:off x="6327648" y="4700016"/>
            <a:ext cx="1737360" cy="786384"/>
          </a:xfrm>
          <a:prstGeom prst="rect">
            <a:avLst/>
          </a:prstGeom>
          <a:noFill/>
          <a:ln/>
        </p:spPr>
        <p:txBody>
          <a:bodyPr wrap="square" lIns="0" tIns="0" rIns="0" bIns="0" rtlCol="0" anchor="ctr"/>
          <a:lstStyle/>
          <a:p>
            <a:pPr marL="0" indent="0">
              <a:buNone/>
            </a:pPr>
            <a:r>
              <a:rPr lang="en-US" sz="1050" b="1" dirty="0">
                <a:solidFill>
                  <a:srgbClr val="F2A03D"/>
                </a:solidFill>
                <a:latin typeface="Calibri" pitchFamily="34" charset="0"/>
                <a:ea typeface="Calibri" pitchFamily="34" charset="-122"/>
                <a:cs typeface="Calibri" pitchFamily="34" charset="-120"/>
              </a:rPr>
              <a:t>General Financial Rules 2017</a:t>
            </a:r>
            <a:endParaRPr lang="en-US" sz="1050" dirty="0"/>
          </a:p>
        </p:txBody>
      </p:sp>
      <p:sp>
        <p:nvSpPr>
          <p:cNvPr id="24" name="Shape 22"/>
          <p:cNvSpPr/>
          <p:nvPr/>
        </p:nvSpPr>
        <p:spPr>
          <a:xfrm>
            <a:off x="8392668" y="1595869"/>
            <a:ext cx="3209544" cy="4059936"/>
          </a:xfrm>
          <a:prstGeom prst="roundRect">
            <a:avLst>
              <a:gd name="adj" fmla="val 2553"/>
            </a:avLst>
          </a:prstGeom>
          <a:solidFill>
            <a:srgbClr val="FFF4E4"/>
          </a:solidFill>
          <a:ln w="12700">
            <a:solidFill>
              <a:srgbClr val="DDE4EA"/>
            </a:solidFill>
            <a:prstDash val="solid"/>
          </a:ln>
          <a:effectLst>
            <a:outerShdw blurRad="127000" dist="25400" dir="5400000" algn="bl" rotWithShape="0">
              <a:srgbClr val="0A1628">
                <a:alpha val="13000"/>
              </a:srgbClr>
            </a:outerShdw>
          </a:effectLst>
        </p:spPr>
      </p:sp>
      <p:sp>
        <p:nvSpPr>
          <p:cNvPr id="25" name="Text 23"/>
          <p:cNvSpPr txBox="1"/>
          <p:nvPr/>
        </p:nvSpPr>
        <p:spPr>
          <a:xfrm>
            <a:off x="8613648" y="1737360"/>
            <a:ext cx="2807208" cy="310896"/>
          </a:xfrm>
          <a:prstGeom prst="rect">
            <a:avLst/>
          </a:prstGeom>
          <a:noFill/>
          <a:ln/>
        </p:spPr>
        <p:txBody>
          <a:bodyPr wrap="square" lIns="0" tIns="0" rIns="0" bIns="0" rtlCol="0" anchor="ctr"/>
          <a:lstStyle/>
          <a:p>
            <a:pPr marL="0" indent="0">
              <a:buNone/>
            </a:pPr>
            <a:r>
              <a:rPr lang="en-US" sz="1200" b="1" dirty="0">
                <a:solidFill>
                  <a:srgbClr val="9A6011"/>
                </a:solidFill>
                <a:latin typeface="Calibri" pitchFamily="34" charset="0"/>
                <a:ea typeface="Calibri" pitchFamily="34" charset="-122"/>
                <a:cs typeface="Calibri" pitchFamily="34" charset="-120"/>
              </a:rPr>
              <a:t>A verified-clean control</a:t>
            </a:r>
            <a:endParaRPr lang="en-US" sz="1200" dirty="0"/>
          </a:p>
        </p:txBody>
      </p:sp>
      <p:sp>
        <p:nvSpPr>
          <p:cNvPr id="26" name="Text 24"/>
          <p:cNvSpPr txBox="1"/>
          <p:nvPr/>
        </p:nvSpPr>
        <p:spPr>
          <a:xfrm>
            <a:off x="8613648" y="2048256"/>
            <a:ext cx="2807208" cy="548640"/>
          </a:xfrm>
          <a:prstGeom prst="rect">
            <a:avLst/>
          </a:prstGeom>
          <a:noFill/>
          <a:ln/>
        </p:spPr>
        <p:txBody>
          <a:bodyPr wrap="square" lIns="0" tIns="0" rIns="0" bIns="0" rtlCol="0" anchor="ctr"/>
          <a:lstStyle/>
          <a:p>
            <a:pPr marL="0" indent="0">
              <a:buNone/>
            </a:pPr>
            <a:r>
              <a:rPr lang="en-US" sz="3400" b="1" dirty="0">
                <a:solidFill>
                  <a:srgbClr val="9A6011"/>
                </a:solidFill>
                <a:latin typeface="Cambria" pitchFamily="34" charset="0"/>
                <a:ea typeface="Cambria" pitchFamily="34" charset="-122"/>
                <a:cs typeface="Cambria" pitchFamily="34" charset="-120"/>
              </a:rPr>
              <a:t>0</a:t>
            </a:r>
            <a:endParaRPr lang="en-US" sz="3400" dirty="0"/>
          </a:p>
        </p:txBody>
      </p:sp>
      <p:sp>
        <p:nvSpPr>
          <p:cNvPr id="27" name="Text 25"/>
          <p:cNvSpPr txBox="1"/>
          <p:nvPr/>
        </p:nvSpPr>
        <p:spPr>
          <a:xfrm>
            <a:off x="8593836" y="3300985"/>
            <a:ext cx="2807208" cy="960120"/>
          </a:xfrm>
          <a:prstGeom prst="rect">
            <a:avLst/>
          </a:prstGeom>
          <a:noFill/>
          <a:ln/>
        </p:spPr>
        <p:txBody>
          <a:bodyPr wrap="square" lIns="0" tIns="0" rIns="0" bIns="0" rtlCol="0" anchor="ctr"/>
          <a:lstStyle/>
          <a:p>
            <a:pPr marL="0" indent="0">
              <a:lnSpc>
                <a:spcPts val="1500"/>
              </a:lnSpc>
              <a:buNone/>
            </a:pPr>
            <a:r>
              <a:rPr lang="en-US" sz="1400" dirty="0">
                <a:solidFill>
                  <a:srgbClr val="7A5215"/>
                </a:solidFill>
                <a:latin typeface="Calibri" pitchFamily="34" charset="0"/>
                <a:ea typeface="Calibri" pitchFamily="34" charset="-122"/>
                <a:cs typeface="Calibri" pitchFamily="34" charset="-120"/>
              </a:rPr>
              <a:t>sanction-limit breaches across the 929 works we could join to a sanction record. The portal enforces the ceiling. We report that as a clean result — we do not dress it up as a detector that found something.</a:t>
            </a:r>
            <a:endParaRPr lang="en-US" sz="1400" dirty="0"/>
          </a:p>
        </p:txBody>
      </p:sp>
      <p:sp>
        <p:nvSpPr>
          <p:cNvPr id="32" name="Shape 29"/>
          <p:cNvSpPr/>
          <p:nvPr/>
        </p:nvSpPr>
        <p:spPr>
          <a:xfrm>
            <a:off x="566928" y="6309360"/>
            <a:ext cx="256032" cy="256032"/>
          </a:xfrm>
          <a:prstGeom prst="ellipse">
            <a:avLst/>
          </a:prstGeom>
          <a:solidFill>
            <a:srgbClr val="E7EDF3"/>
          </a:solidFill>
          <a:ln w="12700">
            <a:solidFill>
              <a:srgbClr val="F2A03D"/>
            </a:solidFill>
            <a:prstDash val="solid"/>
          </a:ln>
        </p:spPr>
      </p:sp>
      <p:sp>
        <p:nvSpPr>
          <p:cNvPr id="33" name="Text 30"/>
          <p:cNvSpPr txBox="1"/>
          <p:nvPr/>
        </p:nvSpPr>
        <p:spPr>
          <a:xfrm>
            <a:off x="566928" y="6309360"/>
            <a:ext cx="256032" cy="256032"/>
          </a:xfrm>
          <a:prstGeom prst="rect">
            <a:avLst/>
          </a:prstGeom>
          <a:noFill/>
          <a:ln/>
        </p:spPr>
        <p:txBody>
          <a:bodyPr wrap="square" lIns="0" tIns="0" rIns="0" bIns="0" rtlCol="0" anchor="ctr"/>
          <a:lstStyle/>
          <a:p>
            <a:pPr marL="0" indent="0" algn="ctr">
              <a:buNone/>
            </a:pPr>
            <a:r>
              <a:rPr lang="en-US" sz="1100" b="1" dirty="0">
                <a:solidFill>
                  <a:srgbClr val="F2A03D"/>
                </a:solidFill>
                <a:latin typeface="Calibri" pitchFamily="34" charset="0"/>
                <a:ea typeface="Calibri" pitchFamily="34" charset="-122"/>
                <a:cs typeface="Calibri" pitchFamily="34" charset="-120"/>
              </a:rPr>
              <a:t>3</a:t>
            </a:r>
            <a:endParaRPr lang="en-US" sz="1100" dirty="0"/>
          </a:p>
        </p:txBody>
      </p:sp>
      <p:sp>
        <p:nvSpPr>
          <p:cNvPr id="34" name="Text 31"/>
          <p:cNvSpPr txBox="1"/>
          <p:nvPr/>
        </p:nvSpPr>
        <p:spPr>
          <a:xfrm>
            <a:off x="914400" y="6309360"/>
            <a:ext cx="4572000" cy="256032"/>
          </a:xfrm>
          <a:prstGeom prst="rect">
            <a:avLst/>
          </a:prstGeom>
          <a:noFill/>
          <a:ln/>
        </p:spPr>
        <p:txBody>
          <a:bodyPr wrap="square" lIns="0" tIns="0" rIns="0" bIns="0" rtlCol="0" anchor="ctr"/>
          <a:lstStyle/>
          <a:p>
            <a:pPr marL="0" indent="0">
              <a:buNone/>
            </a:pPr>
            <a:r>
              <a:rPr lang="en-US" sz="1050" b="1" kern="0" spc="110" dirty="0">
                <a:solidFill>
                  <a:srgbClr val="5B7086"/>
                </a:solidFill>
                <a:latin typeface="Calibri" pitchFamily="34" charset="0"/>
                <a:ea typeface="Calibri" pitchFamily="34" charset="-122"/>
                <a:cs typeface="Calibri" pitchFamily="34" charset="-120"/>
              </a:rPr>
              <a:t>SPEAKER 3   ·   3:20 – 4:00</a:t>
            </a:r>
            <a:endParaRPr lang="en-US" sz="1050" dirty="0"/>
          </a:p>
        </p:txBody>
      </p:sp>
      <p:sp>
        <p:nvSpPr>
          <p:cNvPr id="35" name="Text 32"/>
          <p:cNvSpPr txBox="1"/>
          <p:nvPr/>
        </p:nvSpPr>
        <p:spPr>
          <a:xfrm>
            <a:off x="7052767" y="6309360"/>
            <a:ext cx="4572000" cy="256032"/>
          </a:xfrm>
          <a:prstGeom prst="rect">
            <a:avLst/>
          </a:prstGeom>
          <a:noFill/>
          <a:ln/>
        </p:spPr>
        <p:txBody>
          <a:bodyPr wrap="square" lIns="0" tIns="0" rIns="0" bIns="0" rtlCol="0" anchor="ctr"/>
          <a:lstStyle/>
          <a:p>
            <a:pPr marL="0" indent="0" algn="r">
              <a:buNone/>
            </a:pPr>
            <a:r>
              <a:rPr lang="en-US" sz="1050" dirty="0">
                <a:solidFill>
                  <a:srgbClr val="93A5B6"/>
                </a:solidFill>
                <a:latin typeface="Calibri" pitchFamily="34" charset="0"/>
                <a:ea typeface="Calibri" pitchFamily="34" charset="-122"/>
                <a:cs typeface="Calibri" pitchFamily="34" charset="-120"/>
              </a:rPr>
              <a:t>NAZAR   ·   SIH 2026   ·   PS 26102   ·   8/16</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9"/>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marL="0" indent="0">
              <a:buNone/>
            </a:pPr>
            <a:r>
              <a:rPr lang="en-US" sz="1150" b="1" kern="0" spc="220" dirty="0">
                <a:solidFill>
                  <a:srgbClr val="F2A03D"/>
                </a:solidFill>
                <a:latin typeface="Calibri" pitchFamily="34" charset="0"/>
                <a:ea typeface="Calibri" pitchFamily="34" charset="-122"/>
                <a:cs typeface="Calibri" pitchFamily="34" charset="-120"/>
              </a:rPr>
              <a:t>ENGINE 2 OF 5  ·  ANOMALY</a:t>
            </a:r>
            <a:endParaRPr lang="en-US" sz="1150" dirty="0"/>
          </a:p>
        </p:txBody>
      </p:sp>
      <p:sp>
        <p:nvSpPr>
          <p:cNvPr id="3" name="Text 1"/>
          <p:cNvSpPr txBox="1"/>
          <p:nvPr/>
        </p:nvSpPr>
        <p:spPr>
          <a:xfrm>
            <a:off x="566928" y="621792"/>
            <a:ext cx="11057839" cy="749808"/>
          </a:xfrm>
          <a:prstGeom prst="rect">
            <a:avLst/>
          </a:prstGeom>
          <a:noFill/>
          <a:ln/>
        </p:spPr>
        <p:txBody>
          <a:bodyPr wrap="square" lIns="0" tIns="0" rIns="0" bIns="0" rtlCol="0" anchor="ctr"/>
          <a:lstStyle/>
          <a:p>
            <a:pPr marL="0" indent="0">
              <a:buNone/>
            </a:pPr>
            <a:r>
              <a:rPr lang="en-US" sz="3200" b="1" dirty="0">
                <a:solidFill>
                  <a:srgbClr val="0A1628"/>
                </a:solidFill>
                <a:latin typeface="Cambria" pitchFamily="34" charset="0"/>
                <a:ea typeface="Cambria" pitchFamily="34" charset="-122"/>
                <a:cs typeface="Cambria" pitchFamily="34" charset="-120"/>
              </a:rPr>
              <a:t>There are no fraud labels. Anywhere.</a:t>
            </a:r>
            <a:endParaRPr lang="en-US" sz="3200" dirty="0"/>
          </a:p>
        </p:txBody>
      </p:sp>
      <p:sp>
        <p:nvSpPr>
          <p:cNvPr id="4" name="Shape 2"/>
          <p:cNvSpPr/>
          <p:nvPr/>
        </p:nvSpPr>
        <p:spPr>
          <a:xfrm>
            <a:off x="566928" y="1572768"/>
            <a:ext cx="5394960" cy="4114800"/>
          </a:xfrm>
          <a:prstGeom prst="roundRect">
            <a:avLst>
              <a:gd name="adj" fmla="val 1333"/>
            </a:avLst>
          </a:prstGeom>
          <a:solidFill>
            <a:srgbClr val="FFFFFF"/>
          </a:solidFill>
          <a:ln w="12700">
            <a:solidFill>
              <a:srgbClr val="DDE4EA"/>
            </a:solidFill>
            <a:prstDash val="solid"/>
          </a:ln>
          <a:effectLst>
            <a:outerShdw blurRad="127000" dist="25400" dir="5400000" algn="bl" rotWithShape="0">
              <a:srgbClr val="0A1628">
                <a:alpha val="13000"/>
              </a:srgbClr>
            </a:outerShdw>
          </a:effectLst>
        </p:spPr>
      </p:sp>
      <p:sp>
        <p:nvSpPr>
          <p:cNvPr id="5" name="Text 3"/>
          <p:cNvSpPr txBox="1"/>
          <p:nvPr/>
        </p:nvSpPr>
        <p:spPr>
          <a:xfrm>
            <a:off x="804672" y="1737360"/>
            <a:ext cx="4937760" cy="566928"/>
          </a:xfrm>
          <a:prstGeom prst="rect">
            <a:avLst/>
          </a:prstGeom>
          <a:noFill/>
          <a:ln/>
        </p:spPr>
        <p:txBody>
          <a:bodyPr wrap="square" lIns="0" tIns="0" rIns="0" bIns="0" rtlCol="0" anchor="ctr"/>
          <a:lstStyle/>
          <a:p>
            <a:pPr marL="0" indent="0">
              <a:lnSpc>
                <a:spcPts val="2200"/>
              </a:lnSpc>
              <a:buNone/>
            </a:pPr>
            <a:r>
              <a:rPr lang="en-US" sz="1650" b="1" dirty="0">
                <a:solidFill>
                  <a:srgbClr val="0A1628"/>
                </a:solidFill>
                <a:latin typeface="Cambria" pitchFamily="34" charset="0"/>
                <a:ea typeface="Cambria" pitchFamily="34" charset="-122"/>
                <a:cs typeface="Cambria" pitchFamily="34" charset="-120"/>
              </a:rPr>
              <a:t>Unsupervised by necessity — we do not pretend to classify</a:t>
            </a:r>
            <a:endParaRPr lang="en-US" sz="1650" dirty="0"/>
          </a:p>
        </p:txBody>
      </p:sp>
      <p:sp>
        <p:nvSpPr>
          <p:cNvPr id="6" name="Text 4"/>
          <p:cNvSpPr txBox="1"/>
          <p:nvPr/>
        </p:nvSpPr>
        <p:spPr>
          <a:xfrm>
            <a:off x="804672" y="2322576"/>
            <a:ext cx="4937760" cy="1024128"/>
          </a:xfrm>
          <a:prstGeom prst="rect">
            <a:avLst/>
          </a:prstGeom>
          <a:noFill/>
          <a:ln/>
        </p:spPr>
        <p:txBody>
          <a:bodyPr wrap="square" lIns="0" tIns="0" rIns="0" bIns="0" rtlCol="0" anchor="ctr"/>
          <a:lstStyle/>
          <a:p>
            <a:pPr marL="0" indent="0">
              <a:lnSpc>
                <a:spcPts val="1900"/>
              </a:lnSpc>
              <a:buNone/>
            </a:pPr>
            <a:r>
              <a:rPr lang="en-US" sz="1250" dirty="0">
                <a:solidFill>
                  <a:srgbClr val="5B7086"/>
                </a:solidFill>
                <a:latin typeface="Calibri" pitchFamily="34" charset="0"/>
                <a:ea typeface="Calibri" pitchFamily="34" charset="-122"/>
                <a:cs typeface="Calibri" pitchFamily="34" charset="-120"/>
              </a:rPr>
              <a:t>No MPLADS dataset carries a fraud label, and realistically none ever will. A supervised classifier here would be a fiction. Isolation Forest and Local Outlier Factor need no labels — they find the works that sit far from their own peer group across many dimensions at once, which is exactly the multivariate pattern no single rule can express.</a:t>
            </a:r>
            <a:endParaRPr lang="en-US" sz="1250" dirty="0"/>
          </a:p>
        </p:txBody>
      </p:sp>
      <p:sp>
        <p:nvSpPr>
          <p:cNvPr id="7" name="Text 5"/>
          <p:cNvSpPr txBox="1"/>
          <p:nvPr/>
        </p:nvSpPr>
        <p:spPr>
          <a:xfrm>
            <a:off x="804672" y="3401568"/>
            <a:ext cx="4937760" cy="329184"/>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Features fed to the model</a:t>
            </a:r>
            <a:endParaRPr lang="en-US" sz="1200" dirty="0"/>
          </a:p>
        </p:txBody>
      </p:sp>
      <p:sp>
        <p:nvSpPr>
          <p:cNvPr id="8" name="Shape 6"/>
          <p:cNvSpPr/>
          <p:nvPr/>
        </p:nvSpPr>
        <p:spPr>
          <a:xfrm>
            <a:off x="841248" y="3813048"/>
            <a:ext cx="82296" cy="82296"/>
          </a:xfrm>
          <a:prstGeom prst="ellipse">
            <a:avLst/>
          </a:prstGeom>
          <a:solidFill>
            <a:srgbClr val="F2A03D"/>
          </a:solidFill>
          <a:ln/>
        </p:spPr>
      </p:sp>
      <p:sp>
        <p:nvSpPr>
          <p:cNvPr id="9" name="Text 7"/>
          <p:cNvSpPr txBox="1"/>
          <p:nvPr/>
        </p:nvSpPr>
        <p:spPr>
          <a:xfrm>
            <a:off x="1042416" y="3712464"/>
            <a:ext cx="4709160" cy="292608"/>
          </a:xfrm>
          <a:prstGeom prst="rect">
            <a:avLst/>
          </a:prstGeom>
          <a:noFill/>
          <a:ln/>
        </p:spPr>
        <p:txBody>
          <a:bodyPr wrap="square" lIns="0" tIns="0" rIns="0" bIns="0" rtlCol="0" anchor="ctr"/>
          <a:lstStyle/>
          <a:p>
            <a:pPr marL="0" indent="0">
              <a:buNone/>
            </a:pPr>
            <a:r>
              <a:rPr lang="en-US" sz="1200" dirty="0">
                <a:solidFill>
                  <a:srgbClr val="0A1628"/>
                </a:solidFill>
                <a:latin typeface="Calibri" pitchFamily="34" charset="0"/>
                <a:ea typeface="Calibri" pitchFamily="34" charset="-122"/>
                <a:cs typeface="Calibri" pitchFamily="34" charset="-120"/>
              </a:rPr>
              <a:t>Cost-per-unit z-score against activity × state peers</a:t>
            </a:r>
            <a:endParaRPr lang="en-US" sz="1200" dirty="0"/>
          </a:p>
        </p:txBody>
      </p:sp>
      <p:sp>
        <p:nvSpPr>
          <p:cNvPr id="10" name="Shape 8"/>
          <p:cNvSpPr/>
          <p:nvPr/>
        </p:nvSpPr>
        <p:spPr>
          <a:xfrm>
            <a:off x="841248" y="4133088"/>
            <a:ext cx="82296" cy="82296"/>
          </a:xfrm>
          <a:prstGeom prst="ellipse">
            <a:avLst/>
          </a:prstGeom>
          <a:solidFill>
            <a:srgbClr val="F2A03D"/>
          </a:solidFill>
          <a:ln/>
        </p:spPr>
      </p:sp>
      <p:sp>
        <p:nvSpPr>
          <p:cNvPr id="11" name="Text 9"/>
          <p:cNvSpPr txBox="1"/>
          <p:nvPr/>
        </p:nvSpPr>
        <p:spPr>
          <a:xfrm>
            <a:off x="1042416" y="4032504"/>
            <a:ext cx="4709160" cy="292608"/>
          </a:xfrm>
          <a:prstGeom prst="rect">
            <a:avLst/>
          </a:prstGeom>
          <a:noFill/>
          <a:ln/>
        </p:spPr>
        <p:txBody>
          <a:bodyPr wrap="square" lIns="0" tIns="0" rIns="0" bIns="0" rtlCol="0" anchor="ctr"/>
          <a:lstStyle/>
          <a:p>
            <a:pPr marL="0" indent="0">
              <a:buNone/>
            </a:pPr>
            <a:r>
              <a:rPr lang="en-US" sz="1200" dirty="0">
                <a:solidFill>
                  <a:srgbClr val="0A1628"/>
                </a:solidFill>
                <a:latin typeface="Calibri" pitchFamily="34" charset="0"/>
                <a:ea typeface="Calibri" pitchFamily="34" charset="-122"/>
                <a:cs typeface="Calibri" pitchFamily="34" charset="-120"/>
              </a:rPr>
              <a:t>Underspend against the sanctioned amount</a:t>
            </a:r>
            <a:endParaRPr lang="en-US" sz="1200" dirty="0"/>
          </a:p>
        </p:txBody>
      </p:sp>
      <p:sp>
        <p:nvSpPr>
          <p:cNvPr id="12" name="Shape 10"/>
          <p:cNvSpPr/>
          <p:nvPr/>
        </p:nvSpPr>
        <p:spPr>
          <a:xfrm>
            <a:off x="841248" y="4453128"/>
            <a:ext cx="82296" cy="82296"/>
          </a:xfrm>
          <a:prstGeom prst="ellipse">
            <a:avLst/>
          </a:prstGeom>
          <a:solidFill>
            <a:srgbClr val="F2A03D"/>
          </a:solidFill>
          <a:ln/>
        </p:spPr>
      </p:sp>
      <p:sp>
        <p:nvSpPr>
          <p:cNvPr id="13" name="Text 11"/>
          <p:cNvSpPr txBox="1"/>
          <p:nvPr/>
        </p:nvSpPr>
        <p:spPr>
          <a:xfrm>
            <a:off x="1042416" y="4352544"/>
            <a:ext cx="4709160" cy="292608"/>
          </a:xfrm>
          <a:prstGeom prst="rect">
            <a:avLst/>
          </a:prstGeom>
          <a:noFill/>
          <a:ln/>
        </p:spPr>
        <p:txBody>
          <a:bodyPr wrap="square" lIns="0" tIns="0" rIns="0" bIns="0" rtlCol="0" anchor="ctr"/>
          <a:lstStyle/>
          <a:p>
            <a:pPr marL="0" indent="0">
              <a:buNone/>
            </a:pPr>
            <a:r>
              <a:rPr lang="en-US" sz="1200" dirty="0">
                <a:solidFill>
                  <a:srgbClr val="0A1628"/>
                </a:solidFill>
                <a:latin typeface="Calibri" pitchFamily="34" charset="0"/>
                <a:ea typeface="Calibri" pitchFamily="34" charset="-122"/>
                <a:cs typeface="Calibri" pitchFamily="34" charset="-120"/>
              </a:rPr>
              <a:t>Stage latency: recommendation → sanction → completion</a:t>
            </a:r>
            <a:endParaRPr lang="en-US" sz="1200" dirty="0"/>
          </a:p>
        </p:txBody>
      </p:sp>
      <p:sp>
        <p:nvSpPr>
          <p:cNvPr id="14" name="Shape 12"/>
          <p:cNvSpPr/>
          <p:nvPr/>
        </p:nvSpPr>
        <p:spPr>
          <a:xfrm>
            <a:off x="841248" y="4773168"/>
            <a:ext cx="82296" cy="82296"/>
          </a:xfrm>
          <a:prstGeom prst="ellipse">
            <a:avLst/>
          </a:prstGeom>
          <a:solidFill>
            <a:srgbClr val="F2A03D"/>
          </a:solidFill>
          <a:ln/>
        </p:spPr>
      </p:sp>
      <p:sp>
        <p:nvSpPr>
          <p:cNvPr id="15" name="Text 13"/>
          <p:cNvSpPr txBox="1"/>
          <p:nvPr/>
        </p:nvSpPr>
        <p:spPr>
          <a:xfrm>
            <a:off x="1042416" y="4672584"/>
            <a:ext cx="4709160" cy="292608"/>
          </a:xfrm>
          <a:prstGeom prst="rect">
            <a:avLst/>
          </a:prstGeom>
          <a:noFill/>
          <a:ln/>
        </p:spPr>
        <p:txBody>
          <a:bodyPr wrap="square" lIns="0" tIns="0" rIns="0" bIns="0" rtlCol="0" anchor="ctr"/>
          <a:lstStyle/>
          <a:p>
            <a:pPr marL="0" indent="0">
              <a:buNone/>
            </a:pPr>
            <a:r>
              <a:rPr lang="en-US" sz="1200" dirty="0">
                <a:solidFill>
                  <a:srgbClr val="0A1628"/>
                </a:solidFill>
                <a:latin typeface="Calibri" pitchFamily="34" charset="0"/>
                <a:ea typeface="Calibri" pitchFamily="34" charset="-122"/>
                <a:cs typeface="Calibri" pitchFamily="34" charset="-120"/>
              </a:rPr>
              <a:t>Attachment count against the activity's own norm</a:t>
            </a:r>
            <a:endParaRPr lang="en-US" sz="1200" dirty="0"/>
          </a:p>
        </p:txBody>
      </p:sp>
      <p:sp>
        <p:nvSpPr>
          <p:cNvPr id="16" name="Shape 14"/>
          <p:cNvSpPr/>
          <p:nvPr/>
        </p:nvSpPr>
        <p:spPr>
          <a:xfrm>
            <a:off x="841248" y="5093208"/>
            <a:ext cx="82296" cy="82296"/>
          </a:xfrm>
          <a:prstGeom prst="ellipse">
            <a:avLst/>
          </a:prstGeom>
          <a:solidFill>
            <a:srgbClr val="F2A03D"/>
          </a:solidFill>
          <a:ln/>
        </p:spPr>
      </p:sp>
      <p:sp>
        <p:nvSpPr>
          <p:cNvPr id="17" name="Text 15"/>
          <p:cNvSpPr txBox="1"/>
          <p:nvPr/>
        </p:nvSpPr>
        <p:spPr>
          <a:xfrm>
            <a:off x="1042416" y="4992624"/>
            <a:ext cx="4709160" cy="292608"/>
          </a:xfrm>
          <a:prstGeom prst="rect">
            <a:avLst/>
          </a:prstGeom>
          <a:noFill/>
          <a:ln/>
        </p:spPr>
        <p:txBody>
          <a:bodyPr wrap="square" lIns="0" tIns="0" rIns="0" bIns="0" rtlCol="0" anchor="ctr"/>
          <a:lstStyle/>
          <a:p>
            <a:pPr marL="0" indent="0">
              <a:buNone/>
            </a:pPr>
            <a:r>
              <a:rPr lang="en-US" sz="1200" dirty="0">
                <a:solidFill>
                  <a:srgbClr val="0A1628"/>
                </a:solidFill>
                <a:latin typeface="Calibri" pitchFamily="34" charset="0"/>
                <a:ea typeface="Calibri" pitchFamily="34" charset="-122"/>
                <a:cs typeface="Calibri" pitchFamily="34" charset="-120"/>
              </a:rPr>
              <a:t>Clustering of completions at the fiscal year end</a:t>
            </a:r>
            <a:endParaRPr lang="en-US" sz="1200" dirty="0"/>
          </a:p>
        </p:txBody>
      </p:sp>
      <p:sp>
        <p:nvSpPr>
          <p:cNvPr id="18" name="Shape 16"/>
          <p:cNvSpPr/>
          <p:nvPr/>
        </p:nvSpPr>
        <p:spPr>
          <a:xfrm>
            <a:off x="841248" y="5413248"/>
            <a:ext cx="82296" cy="82296"/>
          </a:xfrm>
          <a:prstGeom prst="ellipse">
            <a:avLst/>
          </a:prstGeom>
          <a:solidFill>
            <a:srgbClr val="F2A03D"/>
          </a:solidFill>
          <a:ln/>
        </p:spPr>
      </p:sp>
      <p:sp>
        <p:nvSpPr>
          <p:cNvPr id="19" name="Text 17"/>
          <p:cNvSpPr txBox="1"/>
          <p:nvPr/>
        </p:nvSpPr>
        <p:spPr>
          <a:xfrm>
            <a:off x="1042416" y="5312664"/>
            <a:ext cx="4709160" cy="292608"/>
          </a:xfrm>
          <a:prstGeom prst="rect">
            <a:avLst/>
          </a:prstGeom>
          <a:noFill/>
          <a:ln/>
        </p:spPr>
        <p:txBody>
          <a:bodyPr wrap="square" lIns="0" tIns="0" rIns="0" bIns="0" rtlCol="0" anchor="ctr"/>
          <a:lstStyle/>
          <a:p>
            <a:pPr marL="0" indent="0">
              <a:buNone/>
            </a:pPr>
            <a:r>
              <a:rPr lang="en-US" sz="1200" dirty="0">
                <a:solidFill>
                  <a:srgbClr val="0A1628"/>
                </a:solidFill>
                <a:latin typeface="Calibri" pitchFamily="34" charset="0"/>
                <a:ea typeface="Calibri" pitchFamily="34" charset="-122"/>
                <a:cs typeface="Calibri" pitchFamily="34" charset="-120"/>
              </a:rPr>
              <a:t>Count of deterministic rule flags already raised</a:t>
            </a:r>
            <a:endParaRPr lang="en-US" sz="1200" dirty="0"/>
          </a:p>
        </p:txBody>
      </p:sp>
      <p:sp>
        <p:nvSpPr>
          <p:cNvPr id="20" name="Shape 18"/>
          <p:cNvSpPr/>
          <p:nvPr/>
        </p:nvSpPr>
        <p:spPr>
          <a:xfrm>
            <a:off x="6236208" y="1572768"/>
            <a:ext cx="5385816" cy="1965960"/>
          </a:xfrm>
          <a:prstGeom prst="roundRect">
            <a:avLst>
              <a:gd name="adj" fmla="val 2791"/>
            </a:avLst>
          </a:prstGeom>
          <a:solidFill>
            <a:srgbClr val="FFF4E4"/>
          </a:solidFill>
          <a:ln w="12700">
            <a:solidFill>
              <a:srgbClr val="DDE4EA"/>
            </a:solidFill>
            <a:prstDash val="solid"/>
          </a:ln>
          <a:effectLst>
            <a:outerShdw blurRad="127000" dist="25400" dir="5400000" algn="bl" rotWithShape="0">
              <a:srgbClr val="0A1628">
                <a:alpha val="13000"/>
              </a:srgbClr>
            </a:outerShdw>
          </a:effectLst>
        </p:spPr>
      </p:sp>
      <p:sp>
        <p:nvSpPr>
          <p:cNvPr id="21" name="Text 19"/>
          <p:cNvSpPr txBox="1"/>
          <p:nvPr/>
        </p:nvSpPr>
        <p:spPr>
          <a:xfrm>
            <a:off x="6455664" y="1737360"/>
            <a:ext cx="4937760" cy="329184"/>
          </a:xfrm>
          <a:prstGeom prst="rect">
            <a:avLst/>
          </a:prstGeom>
          <a:noFill/>
          <a:ln/>
        </p:spPr>
        <p:txBody>
          <a:bodyPr wrap="square" lIns="0" tIns="0" rIns="0" bIns="0" rtlCol="0" anchor="ctr"/>
          <a:lstStyle/>
          <a:p>
            <a:pPr marL="0" indent="0">
              <a:buNone/>
            </a:pPr>
            <a:r>
              <a:rPr lang="en-US" sz="1200" b="1" dirty="0">
                <a:solidFill>
                  <a:srgbClr val="9A6011"/>
                </a:solidFill>
                <a:latin typeface="Calibri" pitchFamily="34" charset="0"/>
                <a:ea typeface="Calibri" pitchFamily="34" charset="-122"/>
                <a:cs typeface="Calibri" pitchFamily="34" charset="-120"/>
              </a:rPr>
              <a:t>What a peer group actually means here</a:t>
            </a:r>
            <a:endParaRPr lang="en-US" sz="1200" dirty="0"/>
          </a:p>
        </p:txBody>
      </p:sp>
      <p:sp>
        <p:nvSpPr>
          <p:cNvPr id="22" name="Text 20"/>
          <p:cNvSpPr txBox="1"/>
          <p:nvPr/>
        </p:nvSpPr>
        <p:spPr>
          <a:xfrm>
            <a:off x="6455664" y="2084832"/>
            <a:ext cx="4937760" cy="1298448"/>
          </a:xfrm>
          <a:prstGeom prst="rect">
            <a:avLst/>
          </a:prstGeom>
          <a:noFill/>
          <a:ln/>
        </p:spPr>
        <p:txBody>
          <a:bodyPr wrap="square" lIns="0" tIns="0" rIns="0" bIns="0" rtlCol="0" anchor="ctr"/>
          <a:lstStyle/>
          <a:p>
            <a:pPr marL="0" indent="0">
              <a:lnSpc>
                <a:spcPts val="1900"/>
              </a:lnSpc>
              <a:buNone/>
            </a:pPr>
            <a:r>
              <a:rPr lang="en-US" sz="1250" dirty="0">
                <a:solidFill>
                  <a:srgbClr val="7A5215"/>
                </a:solidFill>
                <a:latin typeface="Calibri" pitchFamily="34" charset="0"/>
                <a:ea typeface="Calibri" pitchFamily="34" charset="-122"/>
                <a:cs typeface="Calibri" pitchFamily="34" charset="-120"/>
              </a:rPr>
              <a:t>A ₹9.8 lakh borewell in Bihar is compared against the 383 other borewells in the corpus, in its own state and at its own activity level — not against a national average of “Normal / Others”. When a group has fewer than 30 members we fall back to activity alone, then to state alone, and we say which fallback was used.</a:t>
            </a:r>
            <a:endParaRPr lang="en-US" sz="1250" dirty="0"/>
          </a:p>
        </p:txBody>
      </p:sp>
      <p:sp>
        <p:nvSpPr>
          <p:cNvPr id="23" name="Shape 21"/>
          <p:cNvSpPr/>
          <p:nvPr/>
        </p:nvSpPr>
        <p:spPr>
          <a:xfrm>
            <a:off x="6236208" y="3675888"/>
            <a:ext cx="5385816" cy="2011680"/>
          </a:xfrm>
          <a:prstGeom prst="roundRect">
            <a:avLst>
              <a:gd name="adj" fmla="val 2727"/>
            </a:avLst>
          </a:prstGeom>
          <a:solidFill>
            <a:srgbClr val="FFFFFF"/>
          </a:solidFill>
          <a:ln w="12700">
            <a:solidFill>
              <a:srgbClr val="DDE4EA"/>
            </a:solidFill>
            <a:prstDash val="solid"/>
          </a:ln>
          <a:effectLst>
            <a:outerShdw blurRad="127000" dist="25400" dir="5400000" algn="bl" rotWithShape="0">
              <a:srgbClr val="0A1628">
                <a:alpha val="13000"/>
              </a:srgbClr>
            </a:outerShdw>
          </a:effectLst>
        </p:spPr>
      </p:sp>
      <p:sp>
        <p:nvSpPr>
          <p:cNvPr id="24" name="Text 22"/>
          <p:cNvSpPr txBox="1"/>
          <p:nvPr/>
        </p:nvSpPr>
        <p:spPr>
          <a:xfrm>
            <a:off x="6455664" y="3840480"/>
            <a:ext cx="4937760" cy="329184"/>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Fusion: one score that still comes apart</a:t>
            </a:r>
            <a:endParaRPr lang="en-US" sz="1200" dirty="0"/>
          </a:p>
        </p:txBody>
      </p:sp>
      <p:sp>
        <p:nvSpPr>
          <p:cNvPr id="25" name="Text 23"/>
          <p:cNvSpPr txBox="1"/>
          <p:nvPr/>
        </p:nvSpPr>
        <p:spPr>
          <a:xfrm>
            <a:off x="6455664" y="4187952"/>
            <a:ext cx="4937760" cy="1298448"/>
          </a:xfrm>
          <a:prstGeom prst="rect">
            <a:avLst/>
          </a:prstGeom>
          <a:noFill/>
          <a:ln/>
        </p:spPr>
        <p:txBody>
          <a:bodyPr wrap="square" lIns="0" tIns="0" rIns="0" bIns="0" rtlCol="0" anchor="ctr"/>
          <a:lstStyle/>
          <a:p>
            <a:pPr marL="0" indent="0">
              <a:lnSpc>
                <a:spcPts val="1900"/>
              </a:lnSpc>
              <a:buNone/>
            </a:pPr>
            <a:r>
              <a:rPr lang="en-US" sz="1250" dirty="0">
                <a:solidFill>
                  <a:srgbClr val="5B7086"/>
                </a:solidFill>
                <a:latin typeface="Calibri" pitchFamily="34" charset="0"/>
                <a:ea typeface="Calibri" pitchFamily="34" charset="-122"/>
                <a:cs typeface="Calibri" pitchFamily="34" charset="-120"/>
              </a:rPr>
              <a:t>Every engine normalises to 0–1 and is combined by weight — with a severity floor, so that one near-certain signal is never diluted by three quiet ones. The output record for a work is: risk score, severity, the list of contributing signals, and the human-readable explanation for each.</a:t>
            </a:r>
            <a:endParaRPr lang="en-US" sz="1250" dirty="0"/>
          </a:p>
        </p:txBody>
      </p:sp>
      <p:sp>
        <p:nvSpPr>
          <p:cNvPr id="27" name="Shape 24"/>
          <p:cNvSpPr/>
          <p:nvPr/>
        </p:nvSpPr>
        <p:spPr>
          <a:xfrm>
            <a:off x="566928" y="6309360"/>
            <a:ext cx="256032" cy="256032"/>
          </a:xfrm>
          <a:prstGeom prst="ellipse">
            <a:avLst/>
          </a:prstGeom>
          <a:solidFill>
            <a:srgbClr val="E7EDF3"/>
          </a:solidFill>
          <a:ln w="12700">
            <a:solidFill>
              <a:srgbClr val="F2A03D"/>
            </a:solidFill>
            <a:prstDash val="solid"/>
          </a:ln>
        </p:spPr>
      </p:sp>
      <p:sp>
        <p:nvSpPr>
          <p:cNvPr id="28" name="Text 25"/>
          <p:cNvSpPr txBox="1"/>
          <p:nvPr/>
        </p:nvSpPr>
        <p:spPr>
          <a:xfrm>
            <a:off x="566928" y="6309360"/>
            <a:ext cx="256032" cy="256032"/>
          </a:xfrm>
          <a:prstGeom prst="rect">
            <a:avLst/>
          </a:prstGeom>
          <a:noFill/>
          <a:ln/>
        </p:spPr>
        <p:txBody>
          <a:bodyPr wrap="square" lIns="0" tIns="0" rIns="0" bIns="0" rtlCol="0" anchor="ctr"/>
          <a:lstStyle/>
          <a:p>
            <a:pPr marL="0" indent="0" algn="ctr">
              <a:buNone/>
            </a:pPr>
            <a:r>
              <a:rPr lang="en-US" sz="1100" b="1" dirty="0">
                <a:solidFill>
                  <a:srgbClr val="F2A03D"/>
                </a:solidFill>
                <a:latin typeface="Calibri" pitchFamily="34" charset="0"/>
                <a:ea typeface="Calibri" pitchFamily="34" charset="-122"/>
                <a:cs typeface="Calibri" pitchFamily="34" charset="-120"/>
              </a:rPr>
              <a:t>3</a:t>
            </a:r>
            <a:endParaRPr lang="en-US" sz="1100" dirty="0"/>
          </a:p>
        </p:txBody>
      </p:sp>
      <p:sp>
        <p:nvSpPr>
          <p:cNvPr id="29" name="Text 26"/>
          <p:cNvSpPr txBox="1"/>
          <p:nvPr/>
        </p:nvSpPr>
        <p:spPr>
          <a:xfrm>
            <a:off x="914400" y="6309360"/>
            <a:ext cx="4572000" cy="256032"/>
          </a:xfrm>
          <a:prstGeom prst="rect">
            <a:avLst/>
          </a:prstGeom>
          <a:noFill/>
          <a:ln/>
        </p:spPr>
        <p:txBody>
          <a:bodyPr wrap="square" lIns="0" tIns="0" rIns="0" bIns="0" rtlCol="0" anchor="ctr"/>
          <a:lstStyle/>
          <a:p>
            <a:pPr marL="0" indent="0">
              <a:buNone/>
            </a:pPr>
            <a:r>
              <a:rPr lang="en-US" sz="1050" b="1" kern="0" spc="110" dirty="0">
                <a:solidFill>
                  <a:srgbClr val="5B7086"/>
                </a:solidFill>
                <a:latin typeface="Calibri" pitchFamily="34" charset="0"/>
                <a:ea typeface="Calibri" pitchFamily="34" charset="-122"/>
                <a:cs typeface="Calibri" pitchFamily="34" charset="-120"/>
              </a:rPr>
              <a:t>SPEAKER 3   ·   4:00 – 4:55</a:t>
            </a:r>
            <a:endParaRPr lang="en-US" sz="1050" dirty="0"/>
          </a:p>
        </p:txBody>
      </p:sp>
      <p:sp>
        <p:nvSpPr>
          <p:cNvPr id="30" name="Text 27"/>
          <p:cNvSpPr txBox="1"/>
          <p:nvPr/>
        </p:nvSpPr>
        <p:spPr>
          <a:xfrm>
            <a:off x="7052767" y="6309360"/>
            <a:ext cx="4572000" cy="256032"/>
          </a:xfrm>
          <a:prstGeom prst="rect">
            <a:avLst/>
          </a:prstGeom>
          <a:noFill/>
          <a:ln/>
        </p:spPr>
        <p:txBody>
          <a:bodyPr wrap="square" lIns="0" tIns="0" rIns="0" bIns="0" rtlCol="0" anchor="ctr"/>
          <a:lstStyle/>
          <a:p>
            <a:pPr marL="0" indent="0" algn="r">
              <a:buNone/>
            </a:pPr>
            <a:r>
              <a:rPr lang="en-US" sz="1050" dirty="0">
                <a:solidFill>
                  <a:srgbClr val="93A5B6"/>
                </a:solidFill>
                <a:latin typeface="Calibri" pitchFamily="34" charset="0"/>
                <a:ea typeface="Calibri" pitchFamily="34" charset="-122"/>
                <a:cs typeface="Calibri" pitchFamily="34" charset="-120"/>
              </a:rPr>
              <a:t>NAZAR   ·   SIH 2026   ·   PS 26102   ·   9/16</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9"/>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marL="0" indent="0">
              <a:buNone/>
            </a:pPr>
            <a:r>
              <a:rPr lang="en-US" sz="1150" b="1" kern="0" spc="220" dirty="0">
                <a:solidFill>
                  <a:srgbClr val="F2A03D"/>
                </a:solidFill>
                <a:latin typeface="Calibri" pitchFamily="34" charset="0"/>
                <a:ea typeface="Calibri" pitchFamily="34" charset="-122"/>
                <a:cs typeface="Calibri" pitchFamily="34" charset="-120"/>
              </a:rPr>
              <a:t>ENGINE 3 OF 5  ·  EVIDENCE</a:t>
            </a:r>
            <a:endParaRPr lang="en-US" sz="1150" dirty="0"/>
          </a:p>
        </p:txBody>
      </p:sp>
      <p:sp>
        <p:nvSpPr>
          <p:cNvPr id="3" name="Text 1"/>
          <p:cNvSpPr txBox="1"/>
          <p:nvPr/>
        </p:nvSpPr>
        <p:spPr>
          <a:xfrm>
            <a:off x="566928" y="621792"/>
            <a:ext cx="11057839" cy="749808"/>
          </a:xfrm>
          <a:prstGeom prst="rect">
            <a:avLst/>
          </a:prstGeom>
          <a:noFill/>
          <a:ln/>
        </p:spPr>
        <p:txBody>
          <a:bodyPr wrap="square" lIns="0" tIns="0" rIns="0" bIns="0" rtlCol="0" anchor="ctr"/>
          <a:lstStyle/>
          <a:p>
            <a:pPr marL="0" indent="0">
              <a:buNone/>
            </a:pPr>
            <a:r>
              <a:rPr lang="en-US" sz="3200" b="1" dirty="0">
                <a:solidFill>
                  <a:srgbClr val="0A1628"/>
                </a:solidFill>
                <a:latin typeface="Cambria" pitchFamily="34" charset="0"/>
                <a:ea typeface="Cambria" pitchFamily="34" charset="-122"/>
                <a:cs typeface="Cambria" pitchFamily="34" charset="-120"/>
              </a:rPr>
              <a:t>The evidence everyone else skips</a:t>
            </a:r>
            <a:endParaRPr lang="en-US" sz="3200" dirty="0"/>
          </a:p>
        </p:txBody>
      </p:sp>
      <p:sp>
        <p:nvSpPr>
          <p:cNvPr id="4" name="Shape 2"/>
          <p:cNvSpPr/>
          <p:nvPr/>
        </p:nvSpPr>
        <p:spPr>
          <a:xfrm>
            <a:off x="566928" y="1572768"/>
            <a:ext cx="6446520" cy="4114800"/>
          </a:xfrm>
          <a:prstGeom prst="roundRect">
            <a:avLst>
              <a:gd name="adj" fmla="val 1333"/>
            </a:avLst>
          </a:prstGeom>
          <a:solidFill>
            <a:srgbClr val="FFFFFF"/>
          </a:solidFill>
          <a:ln w="12700">
            <a:solidFill>
              <a:srgbClr val="DDE4EA"/>
            </a:solidFill>
            <a:prstDash val="solid"/>
          </a:ln>
          <a:effectLst>
            <a:outerShdw blurRad="127000" dist="25400" dir="5400000" algn="bl" rotWithShape="0">
              <a:srgbClr val="0A1628">
                <a:alpha val="13000"/>
              </a:srgbClr>
            </a:outerShdw>
          </a:effectLst>
        </p:spPr>
      </p:sp>
      <p:sp>
        <p:nvSpPr>
          <p:cNvPr id="5" name="Shape 3"/>
          <p:cNvSpPr/>
          <p:nvPr/>
        </p:nvSpPr>
        <p:spPr>
          <a:xfrm>
            <a:off x="804672" y="1828800"/>
            <a:ext cx="347472" cy="347472"/>
          </a:xfrm>
          <a:prstGeom prst="ellipse">
            <a:avLst/>
          </a:prstGeom>
          <a:solidFill>
            <a:srgbClr val="E7EDF3"/>
          </a:solidFill>
          <a:ln/>
        </p:spPr>
      </p:sp>
      <p:sp>
        <p:nvSpPr>
          <p:cNvPr id="6" name="Text 4"/>
          <p:cNvSpPr txBox="1"/>
          <p:nvPr/>
        </p:nvSpPr>
        <p:spPr>
          <a:xfrm>
            <a:off x="804672" y="1828800"/>
            <a:ext cx="347472" cy="347472"/>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61872" y="1792224"/>
            <a:ext cx="5440680" cy="384048"/>
          </a:xfrm>
          <a:prstGeom prst="rect">
            <a:avLst/>
          </a:prstGeom>
          <a:noFill/>
          <a:ln/>
        </p:spPr>
        <p:txBody>
          <a:bodyPr wrap="square" lIns="0" tIns="0" rIns="0" bIns="0" rtlCol="0" anchor="ctr"/>
          <a:lstStyle/>
          <a:p>
            <a:pPr marL="0" indent="0">
              <a:lnSpc>
                <a:spcPts val="1800"/>
              </a:lnSpc>
              <a:buNone/>
            </a:pPr>
            <a:r>
              <a:rPr lang="en-US" sz="1300" b="1" dirty="0">
                <a:solidFill>
                  <a:srgbClr val="0A1628"/>
                </a:solidFill>
                <a:latin typeface="Calibri" pitchFamily="34" charset="0"/>
                <a:ea typeface="Calibri" pitchFamily="34" charset="-122"/>
                <a:cs typeface="Calibri" pitchFamily="34" charset="-120"/>
              </a:rPr>
              <a:t>Only 12.6% of works have a .jpg attached.</a:t>
            </a:r>
            <a:endParaRPr lang="en-US" sz="1300" dirty="0"/>
          </a:p>
        </p:txBody>
      </p:sp>
      <p:sp>
        <p:nvSpPr>
          <p:cNvPr id="8" name="Text 6"/>
          <p:cNvSpPr txBox="1"/>
          <p:nvPr/>
        </p:nvSpPr>
        <p:spPr>
          <a:xfrm>
            <a:off x="1261872" y="2176272"/>
            <a:ext cx="5440680" cy="896112"/>
          </a:xfrm>
          <a:prstGeom prst="rect">
            <a:avLst/>
          </a:prstGeom>
          <a:noFill/>
          <a:ln/>
        </p:spPr>
        <p:txBody>
          <a:bodyPr wrap="square" lIns="0" tIns="0" rIns="0" bIns="0" rtlCol="0" anchor="ctr"/>
          <a:lstStyle/>
          <a:p>
            <a:pPr marL="0" indent="0">
              <a:lnSpc>
                <a:spcPts val="1700"/>
              </a:lnSpc>
              <a:buNone/>
            </a:pPr>
            <a:r>
              <a:rPr lang="en-US" sz="1200" dirty="0">
                <a:solidFill>
                  <a:srgbClr val="5B7086"/>
                </a:solidFill>
                <a:latin typeface="Calibri" pitchFamily="34" charset="0"/>
                <a:ea typeface="Calibri" pitchFamily="34" charset="-122"/>
                <a:cs typeface="Calibri" pitchFamily="34" charset="-120"/>
              </a:rPr>
              <a:t>A pipeline that globs for *.jpg sees a fifth of the evidence and concludes the rest is missing.</a:t>
            </a:r>
            <a:endParaRPr lang="en-US" sz="1200" dirty="0"/>
          </a:p>
        </p:txBody>
      </p:sp>
      <p:sp>
        <p:nvSpPr>
          <p:cNvPr id="9" name="Shape 7"/>
          <p:cNvSpPr/>
          <p:nvPr/>
        </p:nvSpPr>
        <p:spPr>
          <a:xfrm>
            <a:off x="804672" y="3145536"/>
            <a:ext cx="347472" cy="347472"/>
          </a:xfrm>
          <a:prstGeom prst="ellipse">
            <a:avLst/>
          </a:prstGeom>
          <a:solidFill>
            <a:srgbClr val="E7EDF3"/>
          </a:solidFill>
          <a:ln/>
        </p:spPr>
      </p:sp>
      <p:sp>
        <p:nvSpPr>
          <p:cNvPr id="10" name="Text 8"/>
          <p:cNvSpPr txBox="1"/>
          <p:nvPr/>
        </p:nvSpPr>
        <p:spPr>
          <a:xfrm>
            <a:off x="804672" y="3145536"/>
            <a:ext cx="347472" cy="347472"/>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261872" y="3108960"/>
            <a:ext cx="5440680" cy="384048"/>
          </a:xfrm>
          <a:prstGeom prst="rect">
            <a:avLst/>
          </a:prstGeom>
          <a:noFill/>
          <a:ln/>
        </p:spPr>
        <p:txBody>
          <a:bodyPr wrap="square" lIns="0" tIns="0" rIns="0" bIns="0" rtlCol="0" anchor="ctr"/>
          <a:lstStyle/>
          <a:p>
            <a:pPr marL="0" indent="0">
              <a:lnSpc>
                <a:spcPts val="1800"/>
              </a:lnSpc>
              <a:buNone/>
            </a:pPr>
            <a:r>
              <a:rPr lang="en-US" sz="1300" b="1" dirty="0">
                <a:solidFill>
                  <a:srgbClr val="0A1628"/>
                </a:solidFill>
                <a:latin typeface="Calibri" pitchFamily="34" charset="0"/>
                <a:ea typeface="Calibri" pitchFamily="34" charset="-122"/>
                <a:cs typeface="Calibri" pitchFamily="34" charset="-120"/>
              </a:rPr>
              <a:t>Every “PDF” is an envelope around one JPEG.</a:t>
            </a:r>
            <a:endParaRPr lang="en-US" sz="1300" dirty="0"/>
          </a:p>
        </p:txBody>
      </p:sp>
      <p:sp>
        <p:nvSpPr>
          <p:cNvPr id="12" name="Text 10"/>
          <p:cNvSpPr txBox="1"/>
          <p:nvPr/>
        </p:nvSpPr>
        <p:spPr>
          <a:xfrm>
            <a:off x="1261872" y="3493008"/>
            <a:ext cx="5440680" cy="896112"/>
          </a:xfrm>
          <a:prstGeom prst="rect">
            <a:avLst/>
          </a:prstGeom>
          <a:noFill/>
          <a:ln/>
        </p:spPr>
        <p:txBody>
          <a:bodyPr wrap="square" lIns="0" tIns="0" rIns="0" bIns="0" rtlCol="0" anchor="ctr"/>
          <a:lstStyle/>
          <a:p>
            <a:pPr marL="0" indent="0">
              <a:lnSpc>
                <a:spcPts val="1700"/>
              </a:lnSpc>
              <a:buNone/>
            </a:pPr>
            <a:r>
              <a:rPr lang="en-US" sz="1200" dirty="0">
                <a:solidFill>
                  <a:srgbClr val="5B7086"/>
                </a:solidFill>
                <a:latin typeface="Calibri" pitchFamily="34" charset="0"/>
                <a:ea typeface="Calibri" pitchFamily="34" charset="-122"/>
                <a:cs typeface="Calibri" pitchFamily="34" charset="-120"/>
              </a:rPr>
              <a:t>Single page, zero fonts, exactly one image stream. We unwrap the original bytes — 826 images become 3,550. Four times the evidence, with no quality loss, which matters because byte-identity is our strongest proof tier.</a:t>
            </a:r>
            <a:endParaRPr lang="en-US" sz="1200" dirty="0"/>
          </a:p>
        </p:txBody>
      </p:sp>
      <p:sp>
        <p:nvSpPr>
          <p:cNvPr id="13" name="Shape 11"/>
          <p:cNvSpPr/>
          <p:nvPr/>
        </p:nvSpPr>
        <p:spPr>
          <a:xfrm>
            <a:off x="804672" y="4462272"/>
            <a:ext cx="347472" cy="347472"/>
          </a:xfrm>
          <a:prstGeom prst="ellipse">
            <a:avLst/>
          </a:prstGeom>
          <a:solidFill>
            <a:srgbClr val="E7EDF3"/>
          </a:solidFill>
          <a:ln/>
        </p:spPr>
      </p:sp>
      <p:sp>
        <p:nvSpPr>
          <p:cNvPr id="14" name="Text 12"/>
          <p:cNvSpPr txBox="1"/>
          <p:nvPr/>
        </p:nvSpPr>
        <p:spPr>
          <a:xfrm>
            <a:off x="804672" y="4462272"/>
            <a:ext cx="347472" cy="347472"/>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261872" y="4425696"/>
            <a:ext cx="5440680" cy="384048"/>
          </a:xfrm>
          <a:prstGeom prst="rect">
            <a:avLst/>
          </a:prstGeom>
          <a:noFill/>
          <a:ln/>
        </p:spPr>
        <p:txBody>
          <a:bodyPr wrap="square" lIns="0" tIns="0" rIns="0" bIns="0" rtlCol="0" anchor="ctr"/>
          <a:lstStyle/>
          <a:p>
            <a:pPr marL="0" indent="0">
              <a:lnSpc>
                <a:spcPts val="1800"/>
              </a:lnSpc>
              <a:buNone/>
            </a:pPr>
            <a:r>
              <a:rPr lang="en-US" sz="1300" b="1" dirty="0">
                <a:solidFill>
                  <a:srgbClr val="0A1628"/>
                </a:solidFill>
                <a:latin typeface="Calibri" pitchFamily="34" charset="0"/>
                <a:ea typeface="Calibri" pitchFamily="34" charset="-122"/>
                <a:cs typeface="Calibri" pitchFamily="34" charset="-120"/>
              </a:rPr>
              <a:t>The dominant evidence type is a Measurement Book page.</a:t>
            </a:r>
            <a:endParaRPr lang="en-US" sz="1300" dirty="0"/>
          </a:p>
        </p:txBody>
      </p:sp>
      <p:sp>
        <p:nvSpPr>
          <p:cNvPr id="16" name="Text 14"/>
          <p:cNvSpPr txBox="1"/>
          <p:nvPr/>
        </p:nvSpPr>
        <p:spPr>
          <a:xfrm>
            <a:off x="1261872" y="4809744"/>
            <a:ext cx="5440680" cy="896112"/>
          </a:xfrm>
          <a:prstGeom prst="rect">
            <a:avLst/>
          </a:prstGeom>
          <a:noFill/>
          <a:ln/>
        </p:spPr>
        <p:txBody>
          <a:bodyPr wrap="square" lIns="0" tIns="0" rIns="0" bIns="0" rtlCol="0" anchor="ctr"/>
          <a:lstStyle/>
          <a:p>
            <a:pPr marL="0" indent="0">
              <a:lnSpc>
                <a:spcPts val="1700"/>
              </a:lnSpc>
              <a:buNone/>
            </a:pPr>
            <a:r>
              <a:rPr lang="en-US" sz="1200" dirty="0">
                <a:solidFill>
                  <a:srgbClr val="5B7086"/>
                </a:solidFill>
                <a:latin typeface="Calibri" pitchFamily="34" charset="0"/>
                <a:ea typeface="Calibri" pitchFamily="34" charset="-122"/>
                <a:cs typeface="Calibri" pitchFamily="34" charset="-120"/>
              </a:rPr>
              <a:t>Not a landscape photograph — a government document with quantities, rates and amounts on it. That is precisely the artefact the Nagaland audit found had been falsified.</a:t>
            </a:r>
            <a:endParaRPr lang="en-US" sz="1200" dirty="0"/>
          </a:p>
        </p:txBody>
      </p:sp>
      <p:sp>
        <p:nvSpPr>
          <p:cNvPr id="17" name="Shape 15"/>
          <p:cNvSpPr/>
          <p:nvPr/>
        </p:nvSpPr>
        <p:spPr>
          <a:xfrm>
            <a:off x="7269480" y="1572768"/>
            <a:ext cx="4352544" cy="4114800"/>
          </a:xfrm>
          <a:prstGeom prst="roundRect">
            <a:avLst>
              <a:gd name="adj" fmla="val 1333"/>
            </a:avLst>
          </a:prstGeom>
          <a:solidFill>
            <a:srgbClr val="FFFFFF"/>
          </a:solidFill>
          <a:ln w="12700">
            <a:solidFill>
              <a:srgbClr val="DDE4EA"/>
            </a:solidFill>
            <a:prstDash val="solid"/>
          </a:ln>
          <a:effectLst>
            <a:outerShdw blurRad="127000" dist="25400" dir="5400000" algn="bl" rotWithShape="0">
              <a:srgbClr val="0A1628">
                <a:alpha val="13000"/>
              </a:srgbClr>
            </a:outerShdw>
          </a:effectLst>
        </p:spPr>
      </p:sp>
      <p:sp>
        <p:nvSpPr>
          <p:cNvPr id="18" name="Text 16"/>
          <p:cNvSpPr txBox="1"/>
          <p:nvPr/>
        </p:nvSpPr>
        <p:spPr>
          <a:xfrm>
            <a:off x="7479792" y="1737360"/>
            <a:ext cx="3931920" cy="329184"/>
          </a:xfrm>
          <a:prstGeom prst="rect">
            <a:avLst/>
          </a:prstGeom>
          <a:noFill/>
          <a:ln/>
        </p:spPr>
        <p:txBody>
          <a:bodyPr wrap="square" lIns="0" tIns="0" rIns="0" bIns="0" rtlCol="0" anchor="ctr"/>
          <a:lstStyle/>
          <a:p>
            <a:pPr marL="0" indent="0">
              <a:buNone/>
            </a:pPr>
            <a:r>
              <a:rPr lang="en-US" sz="1250" b="1" dirty="0">
                <a:solidFill>
                  <a:srgbClr val="0A1628"/>
                </a:solidFill>
                <a:latin typeface="Calibri" pitchFamily="34" charset="0"/>
                <a:ea typeface="Calibri" pitchFamily="34" charset="-122"/>
                <a:cs typeface="Calibri" pitchFamily="34" charset="-120"/>
              </a:rPr>
              <a:t>What those 3,550 images actually are</a:t>
            </a:r>
            <a:endParaRPr lang="en-US" sz="1250" dirty="0"/>
          </a:p>
        </p:txBody>
      </p:sp>
      <p:graphicFrame>
        <p:nvGraphicFramePr>
          <p:cNvPr id="19" name="Chart 0"/>
          <p:cNvGraphicFramePr/>
          <p:nvPr/>
        </p:nvGraphicFramePr>
        <p:xfrm>
          <a:off x="7452360" y="2029968"/>
          <a:ext cx="3986784" cy="2697480"/>
        </p:xfrm>
        <a:graphic>
          <a:graphicData uri="http://schemas.openxmlformats.org/drawingml/2006/chart">
            <c:chart xmlns:c="http://schemas.openxmlformats.org/drawingml/2006/chart" xmlns:r="http://schemas.openxmlformats.org/officeDocument/2006/relationships" r:id="rId3"/>
          </a:graphicData>
        </a:graphic>
      </p:graphicFrame>
      <p:sp>
        <p:nvSpPr>
          <p:cNvPr id="20" name="Shape 17"/>
          <p:cNvSpPr/>
          <p:nvPr/>
        </p:nvSpPr>
        <p:spPr>
          <a:xfrm>
            <a:off x="7479792" y="4873752"/>
            <a:ext cx="118872" cy="118872"/>
          </a:xfrm>
          <a:prstGeom prst="ellipse">
            <a:avLst/>
          </a:prstGeom>
          <a:solidFill>
            <a:srgbClr val="F2A03D"/>
          </a:solidFill>
          <a:ln/>
        </p:spPr>
      </p:sp>
      <p:sp>
        <p:nvSpPr>
          <p:cNvPr id="21" name="Text 18"/>
          <p:cNvSpPr txBox="1"/>
          <p:nvPr/>
        </p:nvSpPr>
        <p:spPr>
          <a:xfrm>
            <a:off x="7680960" y="4791456"/>
            <a:ext cx="457200" cy="274320"/>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66%</a:t>
            </a:r>
            <a:endParaRPr lang="en-US" sz="1100" dirty="0"/>
          </a:p>
        </p:txBody>
      </p:sp>
      <p:sp>
        <p:nvSpPr>
          <p:cNvPr id="22" name="Text 19"/>
          <p:cNvSpPr txBox="1"/>
          <p:nvPr/>
        </p:nvSpPr>
        <p:spPr>
          <a:xfrm>
            <a:off x="8156448" y="4791456"/>
            <a:ext cx="3291840" cy="274320"/>
          </a:xfrm>
          <a:prstGeom prst="rect">
            <a:avLst/>
          </a:prstGeom>
          <a:noFill/>
          <a:ln/>
        </p:spPr>
        <p:txBody>
          <a:bodyPr wrap="square" lIns="0" tIns="0" rIns="0" bIns="0" rtlCol="0" anchor="ctr"/>
          <a:lstStyle/>
          <a:p>
            <a:pPr marL="0" indent="0">
              <a:buNone/>
            </a:pPr>
            <a:r>
              <a:rPr lang="en-US" sz="1000" dirty="0">
                <a:solidFill>
                  <a:srgbClr val="5B7086"/>
                </a:solidFill>
                <a:latin typeface="Calibri" pitchFamily="34" charset="0"/>
                <a:ea typeface="Calibri" pitchFamily="34" charset="-122"/>
                <a:cs typeface="Calibri" pitchFamily="34" charset="-120"/>
              </a:rPr>
              <a:t>Scanned documents — measurement books, completion certificates, estimate sheets</a:t>
            </a:r>
            <a:endParaRPr lang="en-US" sz="1000" dirty="0"/>
          </a:p>
        </p:txBody>
      </p:sp>
      <p:sp>
        <p:nvSpPr>
          <p:cNvPr id="23" name="Shape 20"/>
          <p:cNvSpPr/>
          <p:nvPr/>
        </p:nvSpPr>
        <p:spPr>
          <a:xfrm>
            <a:off x="7479792" y="5184648"/>
            <a:ext cx="118872" cy="118872"/>
          </a:xfrm>
          <a:prstGeom prst="ellipse">
            <a:avLst/>
          </a:prstGeom>
          <a:solidFill>
            <a:srgbClr val="C6D2DD"/>
          </a:solidFill>
          <a:ln/>
        </p:spPr>
      </p:sp>
      <p:sp>
        <p:nvSpPr>
          <p:cNvPr id="24" name="Text 21"/>
          <p:cNvSpPr txBox="1"/>
          <p:nvPr/>
        </p:nvSpPr>
        <p:spPr>
          <a:xfrm>
            <a:off x="7680960" y="5102352"/>
            <a:ext cx="457200" cy="274320"/>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24%</a:t>
            </a:r>
            <a:endParaRPr lang="en-US" sz="1100" dirty="0"/>
          </a:p>
        </p:txBody>
      </p:sp>
      <p:sp>
        <p:nvSpPr>
          <p:cNvPr id="25" name="Text 22"/>
          <p:cNvSpPr txBox="1"/>
          <p:nvPr/>
        </p:nvSpPr>
        <p:spPr>
          <a:xfrm>
            <a:off x="8156448" y="5102352"/>
            <a:ext cx="3291840" cy="274320"/>
          </a:xfrm>
          <a:prstGeom prst="rect">
            <a:avLst/>
          </a:prstGeom>
          <a:noFill/>
          <a:ln/>
        </p:spPr>
        <p:txBody>
          <a:bodyPr wrap="square" lIns="0" tIns="0" rIns="0" bIns="0" rtlCol="0" anchor="ctr"/>
          <a:lstStyle/>
          <a:p>
            <a:pPr marL="0" indent="0">
              <a:buNone/>
            </a:pPr>
            <a:r>
              <a:rPr lang="en-US" sz="1000" dirty="0">
                <a:solidFill>
                  <a:srgbClr val="5B7086"/>
                </a:solidFill>
                <a:latin typeface="Calibri" pitchFamily="34" charset="0"/>
                <a:ea typeface="Calibri" pitchFamily="34" charset="-122"/>
                <a:cs typeface="Calibri" pitchFamily="34" charset="-120"/>
              </a:rPr>
              <a:t>Scanner-app watermark strips — junk, dropped before analysis</a:t>
            </a:r>
            <a:endParaRPr lang="en-US" sz="1000" dirty="0"/>
          </a:p>
        </p:txBody>
      </p:sp>
      <p:sp>
        <p:nvSpPr>
          <p:cNvPr id="26" name="Shape 23"/>
          <p:cNvSpPr/>
          <p:nvPr/>
        </p:nvSpPr>
        <p:spPr>
          <a:xfrm>
            <a:off x="7479792" y="5495544"/>
            <a:ext cx="118872" cy="118872"/>
          </a:xfrm>
          <a:prstGeom prst="ellipse">
            <a:avLst/>
          </a:prstGeom>
          <a:solidFill>
            <a:srgbClr val="3FBF8F"/>
          </a:solidFill>
          <a:ln/>
        </p:spPr>
      </p:sp>
      <p:sp>
        <p:nvSpPr>
          <p:cNvPr id="27" name="Text 24"/>
          <p:cNvSpPr txBox="1"/>
          <p:nvPr/>
        </p:nvSpPr>
        <p:spPr>
          <a:xfrm>
            <a:off x="7680960" y="5413248"/>
            <a:ext cx="457200" cy="274320"/>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10%</a:t>
            </a:r>
            <a:endParaRPr lang="en-US" sz="1100" dirty="0"/>
          </a:p>
        </p:txBody>
      </p:sp>
      <p:sp>
        <p:nvSpPr>
          <p:cNvPr id="28" name="Text 25"/>
          <p:cNvSpPr txBox="1"/>
          <p:nvPr/>
        </p:nvSpPr>
        <p:spPr>
          <a:xfrm>
            <a:off x="8156448" y="5413248"/>
            <a:ext cx="3291840" cy="274320"/>
          </a:xfrm>
          <a:prstGeom prst="rect">
            <a:avLst/>
          </a:prstGeom>
          <a:noFill/>
          <a:ln/>
        </p:spPr>
        <p:txBody>
          <a:bodyPr wrap="square" lIns="0" tIns="0" rIns="0" bIns="0" rtlCol="0" anchor="ctr"/>
          <a:lstStyle/>
          <a:p>
            <a:pPr marL="0" indent="0">
              <a:buNone/>
            </a:pPr>
            <a:r>
              <a:rPr lang="en-US" sz="1000" dirty="0">
                <a:solidFill>
                  <a:srgbClr val="5B7086"/>
                </a:solidFill>
                <a:latin typeface="Calibri" pitchFamily="34" charset="0"/>
                <a:ea typeface="Calibri" pitchFamily="34" charset="-122"/>
                <a:cs typeface="Calibri" pitchFamily="34" charset="-120"/>
              </a:rPr>
              <a:t>Site photographs</a:t>
            </a:r>
            <a:endParaRPr lang="en-US" sz="1000" dirty="0"/>
          </a:p>
        </p:txBody>
      </p:sp>
      <p:sp>
        <p:nvSpPr>
          <p:cNvPr id="30" name="Shape 26"/>
          <p:cNvSpPr/>
          <p:nvPr/>
        </p:nvSpPr>
        <p:spPr>
          <a:xfrm>
            <a:off x="566928" y="6309360"/>
            <a:ext cx="256032" cy="256032"/>
          </a:xfrm>
          <a:prstGeom prst="ellipse">
            <a:avLst/>
          </a:prstGeom>
          <a:solidFill>
            <a:srgbClr val="E7EDF3"/>
          </a:solidFill>
          <a:ln w="12700">
            <a:solidFill>
              <a:srgbClr val="F2A03D"/>
            </a:solidFill>
            <a:prstDash val="solid"/>
          </a:ln>
        </p:spPr>
      </p:sp>
      <p:sp>
        <p:nvSpPr>
          <p:cNvPr id="31" name="Text 27"/>
          <p:cNvSpPr txBox="1"/>
          <p:nvPr/>
        </p:nvSpPr>
        <p:spPr>
          <a:xfrm>
            <a:off x="566928" y="6309360"/>
            <a:ext cx="256032" cy="256032"/>
          </a:xfrm>
          <a:prstGeom prst="rect">
            <a:avLst/>
          </a:prstGeom>
          <a:noFill/>
          <a:ln/>
        </p:spPr>
        <p:txBody>
          <a:bodyPr wrap="square" lIns="0" tIns="0" rIns="0" bIns="0" rtlCol="0" anchor="ctr"/>
          <a:lstStyle/>
          <a:p>
            <a:pPr marL="0" indent="0" algn="ctr">
              <a:buNone/>
            </a:pPr>
            <a:r>
              <a:rPr lang="en-US" sz="1100" b="1" dirty="0">
                <a:solidFill>
                  <a:srgbClr val="F2A03D"/>
                </a:solidFill>
                <a:latin typeface="Calibri" pitchFamily="34" charset="0"/>
                <a:ea typeface="Calibri" pitchFamily="34" charset="-122"/>
                <a:cs typeface="Calibri" pitchFamily="34" charset="-120"/>
              </a:rPr>
              <a:t>4</a:t>
            </a:r>
            <a:endParaRPr lang="en-US" sz="1100" dirty="0"/>
          </a:p>
        </p:txBody>
      </p:sp>
      <p:sp>
        <p:nvSpPr>
          <p:cNvPr id="32" name="Text 28"/>
          <p:cNvSpPr txBox="1"/>
          <p:nvPr/>
        </p:nvSpPr>
        <p:spPr>
          <a:xfrm>
            <a:off x="914400" y="6309360"/>
            <a:ext cx="4572000" cy="256032"/>
          </a:xfrm>
          <a:prstGeom prst="rect">
            <a:avLst/>
          </a:prstGeom>
          <a:noFill/>
          <a:ln/>
        </p:spPr>
        <p:txBody>
          <a:bodyPr wrap="square" lIns="0" tIns="0" rIns="0" bIns="0" rtlCol="0" anchor="ctr"/>
          <a:lstStyle/>
          <a:p>
            <a:pPr marL="0" indent="0">
              <a:buNone/>
            </a:pPr>
            <a:r>
              <a:rPr lang="en-US" sz="1050" b="1" kern="0" spc="110" dirty="0">
                <a:solidFill>
                  <a:srgbClr val="5B7086"/>
                </a:solidFill>
                <a:latin typeface="Calibri" pitchFamily="34" charset="0"/>
                <a:ea typeface="Calibri" pitchFamily="34" charset="-122"/>
                <a:cs typeface="Calibri" pitchFamily="34" charset="-120"/>
              </a:rPr>
              <a:t>SPEAKER 4   ·   4:55 – 5:30</a:t>
            </a:r>
            <a:endParaRPr lang="en-US" sz="1050" dirty="0"/>
          </a:p>
        </p:txBody>
      </p:sp>
      <p:sp>
        <p:nvSpPr>
          <p:cNvPr id="33" name="Text 29"/>
          <p:cNvSpPr txBox="1"/>
          <p:nvPr/>
        </p:nvSpPr>
        <p:spPr>
          <a:xfrm>
            <a:off x="7052767" y="6309360"/>
            <a:ext cx="4572000" cy="256032"/>
          </a:xfrm>
          <a:prstGeom prst="rect">
            <a:avLst/>
          </a:prstGeom>
          <a:noFill/>
          <a:ln/>
        </p:spPr>
        <p:txBody>
          <a:bodyPr wrap="square" lIns="0" tIns="0" rIns="0" bIns="0" rtlCol="0" anchor="ctr"/>
          <a:lstStyle/>
          <a:p>
            <a:pPr marL="0" indent="0" algn="r">
              <a:buNone/>
            </a:pPr>
            <a:r>
              <a:rPr lang="en-US" sz="1050" dirty="0">
                <a:solidFill>
                  <a:srgbClr val="93A5B6"/>
                </a:solidFill>
                <a:latin typeface="Calibri" pitchFamily="34" charset="0"/>
                <a:ea typeface="Calibri" pitchFamily="34" charset="-122"/>
                <a:cs typeface="Calibri" pitchFamily="34" charset="-120"/>
              </a:rPr>
              <a:t>NAZAR   ·   SIH 2026   ·   PS 26102   ·   10/16</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9"/>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marL="0" indent="0">
              <a:buNone/>
            </a:pPr>
            <a:r>
              <a:rPr lang="en-US" sz="1150" b="1" kern="0" spc="220" dirty="0">
                <a:solidFill>
                  <a:srgbClr val="F2A03D"/>
                </a:solidFill>
                <a:latin typeface="Calibri" pitchFamily="34" charset="0"/>
                <a:ea typeface="Calibri" pitchFamily="34" charset="-122"/>
                <a:cs typeface="Calibri" pitchFamily="34" charset="-120"/>
              </a:rPr>
              <a:t>RESULTS ALREADY IN HAND</a:t>
            </a:r>
            <a:endParaRPr lang="en-US" sz="1150" dirty="0"/>
          </a:p>
        </p:txBody>
      </p:sp>
      <p:sp>
        <p:nvSpPr>
          <p:cNvPr id="3" name="Text 1"/>
          <p:cNvSpPr txBox="1"/>
          <p:nvPr/>
        </p:nvSpPr>
        <p:spPr>
          <a:xfrm>
            <a:off x="566928" y="621792"/>
            <a:ext cx="11057839" cy="749808"/>
          </a:xfrm>
          <a:prstGeom prst="rect">
            <a:avLst/>
          </a:prstGeom>
          <a:noFill/>
          <a:ln/>
        </p:spPr>
        <p:txBody>
          <a:bodyPr wrap="square" lIns="0" tIns="0" rIns="0" bIns="0" rtlCol="0" anchor="ctr"/>
          <a:lstStyle/>
          <a:p>
            <a:pPr marL="0" indent="0">
              <a:buNone/>
            </a:pPr>
            <a:r>
              <a:rPr lang="en-US" sz="3200" b="1" dirty="0">
                <a:solidFill>
                  <a:srgbClr val="0A1628"/>
                </a:solidFill>
                <a:latin typeface="Cambria" pitchFamily="34" charset="0"/>
                <a:ea typeface="Cambria" pitchFamily="34" charset="-122"/>
                <a:cs typeface="Cambria" pitchFamily="34" charset="-120"/>
              </a:rPr>
              <a:t>We ran it on a chunk of the country. This came back.</a:t>
            </a:r>
            <a:endParaRPr lang="en-US" sz="3200" dirty="0"/>
          </a:p>
        </p:txBody>
      </p:sp>
      <p:sp>
        <p:nvSpPr>
          <p:cNvPr id="4" name="Shape 2"/>
          <p:cNvSpPr/>
          <p:nvPr/>
        </p:nvSpPr>
        <p:spPr>
          <a:xfrm>
            <a:off x="566928" y="1572768"/>
            <a:ext cx="3511296" cy="3703320"/>
          </a:xfrm>
          <a:prstGeom prst="roundRect">
            <a:avLst>
              <a:gd name="adj" fmla="val 1563"/>
            </a:avLst>
          </a:prstGeom>
          <a:solidFill>
            <a:srgbClr val="FFF4E4"/>
          </a:solidFill>
          <a:ln w="12700">
            <a:solidFill>
              <a:srgbClr val="DDE4EA"/>
            </a:solidFill>
            <a:prstDash val="solid"/>
          </a:ln>
          <a:effectLst>
            <a:outerShdw blurRad="127000" dist="25400" dir="5400000" algn="bl" rotWithShape="0">
              <a:srgbClr val="0A1628">
                <a:alpha val="13000"/>
              </a:srgbClr>
            </a:outerShdw>
          </a:effectLst>
        </p:spPr>
      </p:sp>
      <p:sp>
        <p:nvSpPr>
          <p:cNvPr id="5" name="Text 3"/>
          <p:cNvSpPr txBox="1"/>
          <p:nvPr/>
        </p:nvSpPr>
        <p:spPr>
          <a:xfrm>
            <a:off x="786384" y="1737360"/>
            <a:ext cx="3108960" cy="274320"/>
          </a:xfrm>
          <a:prstGeom prst="rect">
            <a:avLst/>
          </a:prstGeom>
          <a:noFill/>
          <a:ln/>
        </p:spPr>
        <p:txBody>
          <a:bodyPr wrap="square" lIns="0" tIns="0" rIns="0" bIns="0" rtlCol="0" anchor="ctr"/>
          <a:lstStyle/>
          <a:p>
            <a:pPr marL="0" indent="0">
              <a:buNone/>
            </a:pPr>
            <a:r>
              <a:rPr lang="en-US" sz="950" b="1" kern="0" spc="140" dirty="0">
                <a:solidFill>
                  <a:srgbClr val="9A6011"/>
                </a:solidFill>
                <a:latin typeface="Calibri" pitchFamily="34" charset="0"/>
                <a:ea typeface="Calibri" pitchFamily="34" charset="-122"/>
                <a:cs typeface="Calibri" pitchFamily="34" charset="-120"/>
              </a:rPr>
              <a:t>TIER 1  ·  NEAR-CERTAIN</a:t>
            </a:r>
            <a:endParaRPr lang="en-US" sz="950" dirty="0"/>
          </a:p>
        </p:txBody>
      </p:sp>
      <p:sp>
        <p:nvSpPr>
          <p:cNvPr id="6" name="Text 4"/>
          <p:cNvSpPr txBox="1"/>
          <p:nvPr/>
        </p:nvSpPr>
        <p:spPr>
          <a:xfrm>
            <a:off x="786384" y="2011680"/>
            <a:ext cx="3108960" cy="658368"/>
          </a:xfrm>
          <a:prstGeom prst="rect">
            <a:avLst/>
          </a:prstGeom>
          <a:noFill/>
          <a:ln/>
        </p:spPr>
        <p:txBody>
          <a:bodyPr wrap="square" lIns="0" tIns="0" rIns="0" bIns="0" rtlCol="0" anchor="ctr"/>
          <a:lstStyle/>
          <a:p>
            <a:pPr marL="0" indent="0">
              <a:buNone/>
            </a:pPr>
            <a:r>
              <a:rPr lang="en-US" sz="4000" b="1" dirty="0">
                <a:solidFill>
                  <a:srgbClr val="9A6011"/>
                </a:solidFill>
                <a:latin typeface="Cambria" pitchFamily="34" charset="0"/>
                <a:ea typeface="Cambria" pitchFamily="34" charset="-122"/>
                <a:cs typeface="Cambria" pitchFamily="34" charset="-120"/>
              </a:rPr>
              <a:t>70</a:t>
            </a:r>
            <a:endParaRPr lang="en-US" sz="4000" dirty="0"/>
          </a:p>
        </p:txBody>
      </p:sp>
      <p:sp>
        <p:nvSpPr>
          <p:cNvPr id="7" name="Text 5"/>
          <p:cNvSpPr txBox="1"/>
          <p:nvPr/>
        </p:nvSpPr>
        <p:spPr>
          <a:xfrm>
            <a:off x="786384" y="2688336"/>
            <a:ext cx="3108960" cy="658368"/>
          </a:xfrm>
          <a:prstGeom prst="rect">
            <a:avLst/>
          </a:prstGeom>
          <a:noFill/>
          <a:ln/>
        </p:spPr>
        <p:txBody>
          <a:bodyPr wrap="square" lIns="0" tIns="0" rIns="0" bIns="0" rtlCol="0" anchor="ctr"/>
          <a:lstStyle/>
          <a:p>
            <a:pPr marL="0" indent="0">
              <a:lnSpc>
                <a:spcPts val="1700"/>
              </a:lnSpc>
              <a:buNone/>
            </a:pPr>
            <a:r>
              <a:rPr lang="en-US" sz="1250" b="1" dirty="0">
                <a:solidFill>
                  <a:srgbClr val="9A6011"/>
                </a:solidFill>
                <a:latin typeface="Calibri" pitchFamily="34" charset="0"/>
                <a:ea typeface="Calibri" pitchFamily="34" charset="-122"/>
                <a:cs typeface="Calibri" pitchFamily="34" charset="-120"/>
              </a:rPr>
              <a:t>groups of byte-identical attachments filed against different works.</a:t>
            </a:r>
            <a:endParaRPr lang="en-US" sz="1250" dirty="0"/>
          </a:p>
        </p:txBody>
      </p:sp>
      <p:sp>
        <p:nvSpPr>
          <p:cNvPr id="8" name="Text 6"/>
          <p:cNvSpPr txBox="1"/>
          <p:nvPr/>
        </p:nvSpPr>
        <p:spPr>
          <a:xfrm>
            <a:off x="786384" y="3401568"/>
            <a:ext cx="3108960" cy="1691640"/>
          </a:xfrm>
          <a:prstGeom prst="rect">
            <a:avLst/>
          </a:prstGeom>
          <a:noFill/>
          <a:ln/>
        </p:spPr>
        <p:txBody>
          <a:bodyPr wrap="square" lIns="0" tIns="0" rIns="0" bIns="0" rtlCol="0" anchor="ctr"/>
          <a:lstStyle/>
          <a:p>
            <a:pPr marL="0" indent="0">
              <a:lnSpc>
                <a:spcPts val="1600"/>
              </a:lnSpc>
              <a:buNone/>
            </a:pPr>
            <a:r>
              <a:rPr lang="en-US" sz="1150" dirty="0">
                <a:solidFill>
                  <a:srgbClr val="7A5215"/>
                </a:solidFill>
                <a:latin typeface="Calibri" pitchFamily="34" charset="0"/>
                <a:ea typeface="Calibri" pitchFamily="34" charset="-122"/>
                <a:cs typeface="Calibri" pitchFamily="34" charset="-120"/>
              </a:rPr>
              <a:t>WORK_ID 174291 and 174304 share three identical files. This is an MD5 match — not a similarity score, not a judgement call. The same file, submitted twice, against two different works.</a:t>
            </a:r>
            <a:endParaRPr lang="en-US" sz="1150" dirty="0"/>
          </a:p>
        </p:txBody>
      </p:sp>
      <p:sp>
        <p:nvSpPr>
          <p:cNvPr id="9" name="Shape 7"/>
          <p:cNvSpPr/>
          <p:nvPr/>
        </p:nvSpPr>
        <p:spPr>
          <a:xfrm>
            <a:off x="4279392" y="1572768"/>
            <a:ext cx="3511296" cy="3703320"/>
          </a:xfrm>
          <a:prstGeom prst="roundRect">
            <a:avLst>
              <a:gd name="adj" fmla="val 1563"/>
            </a:avLst>
          </a:prstGeom>
          <a:solidFill>
            <a:srgbClr val="EAF6F1"/>
          </a:solidFill>
          <a:ln w="12700">
            <a:solidFill>
              <a:srgbClr val="DDE4EA"/>
            </a:solidFill>
            <a:prstDash val="solid"/>
          </a:ln>
          <a:effectLst>
            <a:outerShdw blurRad="127000" dist="25400" dir="5400000" algn="bl" rotWithShape="0">
              <a:srgbClr val="0A1628">
                <a:alpha val="13000"/>
              </a:srgbClr>
            </a:outerShdw>
          </a:effectLst>
        </p:spPr>
      </p:sp>
      <p:sp>
        <p:nvSpPr>
          <p:cNvPr id="10" name="Text 8"/>
          <p:cNvSpPr txBox="1"/>
          <p:nvPr/>
        </p:nvSpPr>
        <p:spPr>
          <a:xfrm>
            <a:off x="4498848" y="1737360"/>
            <a:ext cx="3108960" cy="274320"/>
          </a:xfrm>
          <a:prstGeom prst="rect">
            <a:avLst/>
          </a:prstGeom>
          <a:noFill/>
          <a:ln/>
        </p:spPr>
        <p:txBody>
          <a:bodyPr wrap="square" lIns="0" tIns="0" rIns="0" bIns="0" rtlCol="0" anchor="ctr"/>
          <a:lstStyle/>
          <a:p>
            <a:pPr marL="0" indent="0">
              <a:buNone/>
            </a:pPr>
            <a:r>
              <a:rPr lang="en-US" sz="950" b="1" kern="0" spc="140" dirty="0">
                <a:solidFill>
                  <a:srgbClr val="1E7A56"/>
                </a:solidFill>
                <a:latin typeface="Calibri" pitchFamily="34" charset="0"/>
                <a:ea typeface="Calibri" pitchFamily="34" charset="-122"/>
                <a:cs typeface="Calibri" pitchFamily="34" charset="-120"/>
              </a:rPr>
              <a:t>THE TRAP WE DEFUSED</a:t>
            </a:r>
            <a:endParaRPr lang="en-US" sz="950" dirty="0"/>
          </a:p>
        </p:txBody>
      </p:sp>
      <p:sp>
        <p:nvSpPr>
          <p:cNvPr id="11" name="Text 9"/>
          <p:cNvSpPr txBox="1"/>
          <p:nvPr/>
        </p:nvSpPr>
        <p:spPr>
          <a:xfrm>
            <a:off x="4498848" y="2011680"/>
            <a:ext cx="3108960" cy="658368"/>
          </a:xfrm>
          <a:prstGeom prst="rect">
            <a:avLst/>
          </a:prstGeom>
          <a:noFill/>
          <a:ln/>
        </p:spPr>
        <p:txBody>
          <a:bodyPr wrap="square" lIns="0" tIns="0" rIns="0" bIns="0" rtlCol="0" anchor="ctr"/>
          <a:lstStyle/>
          <a:p>
            <a:pPr marL="0" indent="0">
              <a:buNone/>
            </a:pPr>
            <a:r>
              <a:rPr lang="en-US" sz="4000" b="1" dirty="0">
                <a:solidFill>
                  <a:srgbClr val="1E7A56"/>
                </a:solidFill>
                <a:latin typeface="Cambria" pitchFamily="34" charset="0"/>
                <a:ea typeface="Cambria" pitchFamily="34" charset="-122"/>
                <a:cs typeface="Cambria" pitchFamily="34" charset="-120"/>
              </a:rPr>
              <a:t>176</a:t>
            </a:r>
            <a:endParaRPr lang="en-US" sz="4000" dirty="0"/>
          </a:p>
        </p:txBody>
      </p:sp>
      <p:sp>
        <p:nvSpPr>
          <p:cNvPr id="12" name="Text 10"/>
          <p:cNvSpPr txBox="1"/>
          <p:nvPr/>
        </p:nvSpPr>
        <p:spPr>
          <a:xfrm>
            <a:off x="4498848" y="2688336"/>
            <a:ext cx="3108960" cy="658368"/>
          </a:xfrm>
          <a:prstGeom prst="rect">
            <a:avLst/>
          </a:prstGeom>
          <a:noFill/>
          <a:ln/>
        </p:spPr>
        <p:txBody>
          <a:bodyPr wrap="square" lIns="0" tIns="0" rIns="0" bIns="0" rtlCol="0" anchor="ctr"/>
          <a:lstStyle/>
          <a:p>
            <a:pPr marL="0" indent="0">
              <a:lnSpc>
                <a:spcPts val="1700"/>
              </a:lnSpc>
              <a:buNone/>
            </a:pPr>
            <a:r>
              <a:rPr lang="en-US" sz="1250" b="1" dirty="0">
                <a:solidFill>
                  <a:srgbClr val="1E7A56"/>
                </a:solidFill>
                <a:latin typeface="Calibri" pitchFamily="34" charset="0"/>
                <a:ea typeface="Calibri" pitchFamily="34" charset="-122"/>
                <a:cs typeface="Calibri" pitchFamily="34" charset="-120"/>
              </a:rPr>
              <a:t>images in a single perceptual-hash bucket — and it was not fraud.</a:t>
            </a:r>
            <a:endParaRPr lang="en-US" sz="1250" dirty="0"/>
          </a:p>
        </p:txBody>
      </p:sp>
      <p:sp>
        <p:nvSpPr>
          <p:cNvPr id="13" name="Text 11"/>
          <p:cNvSpPr txBox="1"/>
          <p:nvPr/>
        </p:nvSpPr>
        <p:spPr>
          <a:xfrm>
            <a:off x="4498848" y="3401568"/>
            <a:ext cx="3108960" cy="1691640"/>
          </a:xfrm>
          <a:prstGeom prst="rect">
            <a:avLst/>
          </a:prstGeom>
          <a:noFill/>
          <a:ln/>
        </p:spPr>
        <p:txBody>
          <a:bodyPr wrap="square" lIns="0" tIns="0" rIns="0" bIns="0" rtlCol="0" anchor="ctr"/>
          <a:lstStyle/>
          <a:p>
            <a:pPr marL="0" indent="0">
              <a:lnSpc>
                <a:spcPts val="1600"/>
              </a:lnSpc>
              <a:buNone/>
            </a:pPr>
            <a:r>
              <a:rPr lang="en-US" sz="1150" dirty="0">
                <a:solidFill>
                  <a:srgbClr val="2A6B50"/>
                </a:solidFill>
                <a:latin typeface="Calibri" pitchFamily="34" charset="0"/>
                <a:ea typeface="Calibri" pitchFamily="34" charset="-122"/>
                <a:cs typeface="Calibri" pitchFamily="34" charset="-120"/>
              </a:rPr>
              <a:t>Twenty constituencies, five states, one hash. It was a scanner-app watermark strip. Reported raw, it would have destroyed our credibility. So: entropy floors, minimum-dimension floors, bucket-size caps, and SIFT keypoint confirmation before anything reaches an officer.</a:t>
            </a:r>
            <a:endParaRPr lang="en-US" sz="1150" dirty="0"/>
          </a:p>
        </p:txBody>
      </p:sp>
      <p:sp>
        <p:nvSpPr>
          <p:cNvPr id="14" name="Shape 12"/>
          <p:cNvSpPr/>
          <p:nvPr/>
        </p:nvSpPr>
        <p:spPr>
          <a:xfrm>
            <a:off x="7991856" y="1572768"/>
            <a:ext cx="3511296" cy="3703320"/>
          </a:xfrm>
          <a:prstGeom prst="roundRect">
            <a:avLst>
              <a:gd name="adj" fmla="val 1563"/>
            </a:avLst>
          </a:prstGeom>
          <a:solidFill>
            <a:srgbClr val="FFFFFF"/>
          </a:solidFill>
          <a:ln w="12700">
            <a:solidFill>
              <a:srgbClr val="DDE4EA"/>
            </a:solidFill>
            <a:prstDash val="solid"/>
          </a:ln>
          <a:effectLst>
            <a:outerShdw blurRad="127000" dist="25400" dir="5400000" algn="bl" rotWithShape="0">
              <a:srgbClr val="0A1628">
                <a:alpha val="13000"/>
              </a:srgbClr>
            </a:outerShdw>
          </a:effectLst>
        </p:spPr>
      </p:sp>
      <p:sp>
        <p:nvSpPr>
          <p:cNvPr id="15" name="Text 13"/>
          <p:cNvSpPr txBox="1"/>
          <p:nvPr/>
        </p:nvSpPr>
        <p:spPr>
          <a:xfrm>
            <a:off x="8211312" y="1737360"/>
            <a:ext cx="3108960" cy="274320"/>
          </a:xfrm>
          <a:prstGeom prst="rect">
            <a:avLst/>
          </a:prstGeom>
          <a:noFill/>
          <a:ln/>
        </p:spPr>
        <p:txBody>
          <a:bodyPr wrap="square" lIns="0" tIns="0" rIns="0" bIns="0" rtlCol="0" anchor="ctr"/>
          <a:lstStyle/>
          <a:p>
            <a:pPr marL="0" indent="0">
              <a:buNone/>
            </a:pPr>
            <a:r>
              <a:rPr lang="en-US" sz="950" b="1" kern="0" spc="140" dirty="0">
                <a:solidFill>
                  <a:srgbClr val="0A1628"/>
                </a:solidFill>
                <a:latin typeface="Calibri" pitchFamily="34" charset="0"/>
                <a:ea typeface="Calibri" pitchFamily="34" charset="-122"/>
                <a:cs typeface="Calibri" pitchFamily="34" charset="-120"/>
              </a:rPr>
              <a:t>A DOOR WE FOUND OPEN</a:t>
            </a:r>
            <a:endParaRPr lang="en-US" sz="950" dirty="0"/>
          </a:p>
        </p:txBody>
      </p:sp>
      <p:sp>
        <p:nvSpPr>
          <p:cNvPr id="16" name="Text 14"/>
          <p:cNvSpPr txBox="1"/>
          <p:nvPr/>
        </p:nvSpPr>
        <p:spPr>
          <a:xfrm>
            <a:off x="8211312" y="2011680"/>
            <a:ext cx="3108960" cy="658368"/>
          </a:xfrm>
          <a:prstGeom prst="rect">
            <a:avLst/>
          </a:prstGeom>
          <a:noFill/>
          <a:ln/>
        </p:spPr>
        <p:txBody>
          <a:bodyPr wrap="square" lIns="0" tIns="0" rIns="0" bIns="0" rtlCol="0" anchor="ctr"/>
          <a:lstStyle/>
          <a:p>
            <a:pPr marL="0" indent="0">
              <a:buNone/>
            </a:pPr>
            <a:r>
              <a:rPr lang="en-US" sz="4000" b="1" dirty="0">
                <a:solidFill>
                  <a:srgbClr val="0A1628"/>
                </a:solidFill>
                <a:latin typeface="Cambria" pitchFamily="34" charset="0"/>
                <a:ea typeface="Cambria" pitchFamily="34" charset="-122"/>
                <a:cs typeface="Cambria" pitchFamily="34" charset="-120"/>
              </a:rPr>
              <a:t>GPS</a:t>
            </a:r>
            <a:endParaRPr lang="en-US" sz="4000" dirty="0"/>
          </a:p>
        </p:txBody>
      </p:sp>
      <p:sp>
        <p:nvSpPr>
          <p:cNvPr id="17" name="Text 15"/>
          <p:cNvSpPr txBox="1"/>
          <p:nvPr/>
        </p:nvSpPr>
        <p:spPr>
          <a:xfrm>
            <a:off x="8211312" y="2688336"/>
            <a:ext cx="3108960" cy="658368"/>
          </a:xfrm>
          <a:prstGeom prst="rect">
            <a:avLst/>
          </a:prstGeom>
          <a:noFill/>
          <a:ln/>
        </p:spPr>
        <p:txBody>
          <a:bodyPr wrap="square" lIns="0" tIns="0" rIns="0" bIns="0" rtlCol="0" anchor="ctr"/>
          <a:lstStyle/>
          <a:p>
            <a:pPr marL="0" indent="0">
              <a:lnSpc>
                <a:spcPts val="1700"/>
              </a:lnSpc>
              <a:buNone/>
            </a:pPr>
            <a:r>
              <a:rPr lang="en-US" sz="1250" b="1" dirty="0">
                <a:solidFill>
                  <a:srgbClr val="0A1628"/>
                </a:solidFill>
                <a:latin typeface="Calibri" pitchFamily="34" charset="0"/>
                <a:ea typeface="Calibri" pitchFamily="34" charset="-122"/>
                <a:cs typeface="Calibri" pitchFamily="34" charset="-120"/>
              </a:rPr>
              <a:t>latitude, longitude and capture time are burned into the pixels.</a:t>
            </a:r>
            <a:endParaRPr lang="en-US" sz="1250" dirty="0"/>
          </a:p>
        </p:txBody>
      </p:sp>
      <p:sp>
        <p:nvSpPr>
          <p:cNvPr id="18" name="Text 16"/>
          <p:cNvSpPr txBox="1"/>
          <p:nvPr/>
        </p:nvSpPr>
        <p:spPr>
          <a:xfrm>
            <a:off x="8211312" y="3401568"/>
            <a:ext cx="3108960" cy="1691640"/>
          </a:xfrm>
          <a:prstGeom prst="rect">
            <a:avLst/>
          </a:prstGeom>
          <a:noFill/>
          <a:ln/>
        </p:spPr>
        <p:txBody>
          <a:bodyPr wrap="square" lIns="0" tIns="0" rIns="0" bIns="0" rtlCol="0" anchor="ctr"/>
          <a:lstStyle/>
          <a:p>
            <a:pPr marL="0" indent="0">
              <a:lnSpc>
                <a:spcPts val="1600"/>
              </a:lnSpc>
              <a:buNone/>
            </a:pPr>
            <a:r>
              <a:rPr lang="en-US" sz="1150" dirty="0">
                <a:solidFill>
                  <a:srgbClr val="5B7086"/>
                </a:solidFill>
                <a:latin typeface="Calibri" pitchFamily="34" charset="0"/>
                <a:ea typeface="Calibri" pitchFamily="34" charset="-122"/>
                <a:cs typeface="Calibri" pitchFamily="34" charset="-120"/>
              </a:rPr>
              <a:t>The portal strips EXIF metadata — but the GPS Map Camera app renders the coordinates and timestamp into the image itself. OCR recovers them. One sampled work carries a stamp dated November 2023 against a 2024–25 letter number.</a:t>
            </a:r>
            <a:endParaRPr lang="en-US" sz="1150" dirty="0"/>
          </a:p>
        </p:txBody>
      </p:sp>
      <p:sp>
        <p:nvSpPr>
          <p:cNvPr id="19" name="Text 17"/>
          <p:cNvSpPr txBox="1"/>
          <p:nvPr/>
        </p:nvSpPr>
        <p:spPr>
          <a:xfrm>
            <a:off x="566928" y="5440680"/>
            <a:ext cx="11057839" cy="566928"/>
          </a:xfrm>
          <a:prstGeom prst="rect">
            <a:avLst/>
          </a:prstGeom>
          <a:noFill/>
          <a:ln/>
        </p:spPr>
        <p:txBody>
          <a:bodyPr wrap="square" lIns="0" tIns="0" rIns="0" bIns="0" rtlCol="0" anchor="ctr"/>
          <a:lstStyle/>
          <a:p>
            <a:pPr marL="0" indent="0">
              <a:lnSpc>
                <a:spcPts val="1800"/>
              </a:lnSpc>
              <a:buNone/>
            </a:pPr>
            <a:r>
              <a:rPr lang="en-US" sz="1250" dirty="0">
                <a:solidFill>
                  <a:srgbClr val="5B7086"/>
                </a:solidFill>
                <a:latin typeface="Calibri" pitchFamily="34" charset="0"/>
                <a:ea typeface="Calibri" pitchFamily="34" charset="-122"/>
                <a:cs typeface="Calibri" pitchFamily="34" charset="-120"/>
              </a:rPr>
              <a:t>Three tiers of proof, kept apart end to end:   byte identity  →  confirmed keypoint match  →  statistical similarity.   Raw perceptual hashing alone produced 3,687 candidate pairs in this corpus. Unusable. Tiering is what turns it into evidence an officer can act on.</a:t>
            </a:r>
            <a:endParaRPr lang="en-US" sz="1250" dirty="0"/>
          </a:p>
        </p:txBody>
      </p:sp>
      <p:sp>
        <p:nvSpPr>
          <p:cNvPr id="21" name="Shape 18"/>
          <p:cNvSpPr/>
          <p:nvPr/>
        </p:nvSpPr>
        <p:spPr>
          <a:xfrm>
            <a:off x="566928" y="6309360"/>
            <a:ext cx="256032" cy="256032"/>
          </a:xfrm>
          <a:prstGeom prst="ellipse">
            <a:avLst/>
          </a:prstGeom>
          <a:solidFill>
            <a:srgbClr val="E7EDF3"/>
          </a:solidFill>
          <a:ln w="12700">
            <a:solidFill>
              <a:srgbClr val="F2A03D"/>
            </a:solidFill>
            <a:prstDash val="solid"/>
          </a:ln>
        </p:spPr>
      </p:sp>
      <p:sp>
        <p:nvSpPr>
          <p:cNvPr id="22" name="Text 19"/>
          <p:cNvSpPr txBox="1"/>
          <p:nvPr/>
        </p:nvSpPr>
        <p:spPr>
          <a:xfrm>
            <a:off x="566928" y="6309360"/>
            <a:ext cx="256032" cy="256032"/>
          </a:xfrm>
          <a:prstGeom prst="rect">
            <a:avLst/>
          </a:prstGeom>
          <a:noFill/>
          <a:ln/>
        </p:spPr>
        <p:txBody>
          <a:bodyPr wrap="square" lIns="0" tIns="0" rIns="0" bIns="0" rtlCol="0" anchor="ctr"/>
          <a:lstStyle/>
          <a:p>
            <a:pPr marL="0" indent="0" algn="ctr">
              <a:buNone/>
            </a:pPr>
            <a:r>
              <a:rPr lang="en-US" sz="1100" b="1" dirty="0">
                <a:solidFill>
                  <a:srgbClr val="F2A03D"/>
                </a:solidFill>
                <a:latin typeface="Calibri" pitchFamily="34" charset="0"/>
                <a:ea typeface="Calibri" pitchFamily="34" charset="-122"/>
                <a:cs typeface="Calibri" pitchFamily="34" charset="-120"/>
              </a:rPr>
              <a:t>4</a:t>
            </a:r>
            <a:endParaRPr lang="en-US" sz="1100" dirty="0"/>
          </a:p>
        </p:txBody>
      </p:sp>
      <p:sp>
        <p:nvSpPr>
          <p:cNvPr id="23" name="Text 20"/>
          <p:cNvSpPr txBox="1"/>
          <p:nvPr/>
        </p:nvSpPr>
        <p:spPr>
          <a:xfrm>
            <a:off x="914400" y="6309360"/>
            <a:ext cx="4572000" cy="256032"/>
          </a:xfrm>
          <a:prstGeom prst="rect">
            <a:avLst/>
          </a:prstGeom>
          <a:noFill/>
          <a:ln/>
        </p:spPr>
        <p:txBody>
          <a:bodyPr wrap="square" lIns="0" tIns="0" rIns="0" bIns="0" rtlCol="0" anchor="ctr"/>
          <a:lstStyle/>
          <a:p>
            <a:pPr marL="0" indent="0">
              <a:buNone/>
            </a:pPr>
            <a:r>
              <a:rPr lang="en-US" sz="1050" b="1" kern="0" spc="110" dirty="0">
                <a:solidFill>
                  <a:srgbClr val="5B7086"/>
                </a:solidFill>
                <a:latin typeface="Calibri" pitchFamily="34" charset="0"/>
                <a:ea typeface="Calibri" pitchFamily="34" charset="-122"/>
                <a:cs typeface="Calibri" pitchFamily="34" charset="-120"/>
              </a:rPr>
              <a:t>SPEAKER 4   ·   5:30 – 6:15</a:t>
            </a:r>
            <a:endParaRPr lang="en-US" sz="1050" dirty="0"/>
          </a:p>
        </p:txBody>
      </p:sp>
      <p:sp>
        <p:nvSpPr>
          <p:cNvPr id="24" name="Text 21"/>
          <p:cNvSpPr txBox="1"/>
          <p:nvPr/>
        </p:nvSpPr>
        <p:spPr>
          <a:xfrm>
            <a:off x="7052767" y="6309360"/>
            <a:ext cx="4572000" cy="256032"/>
          </a:xfrm>
          <a:prstGeom prst="rect">
            <a:avLst/>
          </a:prstGeom>
          <a:noFill/>
          <a:ln/>
        </p:spPr>
        <p:txBody>
          <a:bodyPr wrap="square" lIns="0" tIns="0" rIns="0" bIns="0" rtlCol="0" anchor="ctr"/>
          <a:lstStyle/>
          <a:p>
            <a:pPr marL="0" indent="0" algn="r">
              <a:buNone/>
            </a:pPr>
            <a:r>
              <a:rPr lang="en-US" sz="1050" dirty="0">
                <a:solidFill>
                  <a:srgbClr val="93A5B6"/>
                </a:solidFill>
                <a:latin typeface="Calibri" pitchFamily="34" charset="0"/>
                <a:ea typeface="Calibri" pitchFamily="34" charset="-122"/>
                <a:cs typeface="Calibri" pitchFamily="34" charset="-120"/>
              </a:rPr>
              <a:t>NAZAR   ·   SIH 2026   ·   PS 26102   ·   11/16</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9"/>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marL="0" indent="0">
              <a:buNone/>
            </a:pPr>
            <a:r>
              <a:rPr lang="en-US" sz="1150" b="1" kern="0" spc="220" dirty="0">
                <a:solidFill>
                  <a:srgbClr val="F2A03D"/>
                </a:solidFill>
                <a:latin typeface="Calibri" pitchFamily="34" charset="0"/>
                <a:ea typeface="Calibri" pitchFamily="34" charset="-122"/>
                <a:cs typeface="Calibri" pitchFamily="34" charset="-120"/>
              </a:rPr>
              <a:t>ENGINES 4 AND 5  ·  TEXT AND DIGITS</a:t>
            </a:r>
            <a:endParaRPr lang="en-US" sz="1150" dirty="0"/>
          </a:p>
        </p:txBody>
      </p:sp>
      <p:sp>
        <p:nvSpPr>
          <p:cNvPr id="3" name="Text 1"/>
          <p:cNvSpPr txBox="1"/>
          <p:nvPr/>
        </p:nvSpPr>
        <p:spPr>
          <a:xfrm>
            <a:off x="566928" y="621792"/>
            <a:ext cx="11057839" cy="749808"/>
          </a:xfrm>
          <a:prstGeom prst="rect">
            <a:avLst/>
          </a:prstGeom>
          <a:noFill/>
          <a:ln/>
        </p:spPr>
        <p:txBody>
          <a:bodyPr wrap="square" lIns="0" tIns="0" rIns="0" bIns="0" rtlCol="0" anchor="ctr"/>
          <a:lstStyle/>
          <a:p>
            <a:pPr marL="0" indent="0">
              <a:buNone/>
            </a:pPr>
            <a:r>
              <a:rPr lang="en-US" sz="3200" b="1" dirty="0">
                <a:solidFill>
                  <a:srgbClr val="0A1628"/>
                </a:solidFill>
                <a:latin typeface="Cambria" pitchFamily="34" charset="0"/>
                <a:ea typeface="Cambria" pitchFamily="34" charset="-122"/>
                <a:cs typeface="Cambria" pitchFamily="34" charset="-120"/>
              </a:rPr>
              <a:t>Two more signals the paperwork cannot hide</a:t>
            </a:r>
            <a:endParaRPr lang="en-US" sz="3200" dirty="0"/>
          </a:p>
        </p:txBody>
      </p:sp>
      <p:sp>
        <p:nvSpPr>
          <p:cNvPr id="4" name="Shape 2"/>
          <p:cNvSpPr/>
          <p:nvPr/>
        </p:nvSpPr>
        <p:spPr>
          <a:xfrm>
            <a:off x="566928" y="1572768"/>
            <a:ext cx="5486400" cy="4114800"/>
          </a:xfrm>
          <a:prstGeom prst="roundRect">
            <a:avLst>
              <a:gd name="adj" fmla="val 1333"/>
            </a:avLst>
          </a:prstGeom>
          <a:solidFill>
            <a:srgbClr val="FFFFFF"/>
          </a:solidFill>
          <a:ln w="12700">
            <a:solidFill>
              <a:srgbClr val="DDE4EA"/>
            </a:solidFill>
            <a:prstDash val="solid"/>
          </a:ln>
          <a:effectLst>
            <a:outerShdw blurRad="127000" dist="25400" dir="5400000" algn="bl" rotWithShape="0">
              <a:srgbClr val="0A1628">
                <a:alpha val="13000"/>
              </a:srgbClr>
            </a:outerShdw>
          </a:effectLst>
        </p:spPr>
      </p:sp>
      <p:sp>
        <p:nvSpPr>
          <p:cNvPr id="5" name="Shape 3"/>
          <p:cNvSpPr/>
          <p:nvPr/>
        </p:nvSpPr>
        <p:spPr>
          <a:xfrm>
            <a:off x="804672" y="1773936"/>
            <a:ext cx="384048" cy="384048"/>
          </a:xfrm>
          <a:prstGeom prst="ellipse">
            <a:avLst/>
          </a:prstGeom>
          <a:solidFill>
            <a:srgbClr val="F2A03D"/>
          </a:solidFill>
          <a:ln/>
        </p:spPr>
      </p:sp>
      <p:sp>
        <p:nvSpPr>
          <p:cNvPr id="6" name="Text 4"/>
          <p:cNvSpPr txBox="1"/>
          <p:nvPr/>
        </p:nvSpPr>
        <p:spPr>
          <a:xfrm>
            <a:off x="804672" y="177393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7" name="Text 5"/>
          <p:cNvSpPr txBox="1"/>
          <p:nvPr/>
        </p:nvSpPr>
        <p:spPr>
          <a:xfrm>
            <a:off x="1298448" y="1773936"/>
            <a:ext cx="4572000" cy="384048"/>
          </a:xfrm>
          <a:prstGeom prst="rect">
            <a:avLst/>
          </a:prstGeom>
          <a:noFill/>
          <a:ln/>
        </p:spPr>
        <p:txBody>
          <a:bodyPr wrap="square" lIns="0" tIns="0" rIns="0" bIns="0" rtlCol="0" anchor="ctr"/>
          <a:lstStyle/>
          <a:p>
            <a:pPr marL="0" indent="0">
              <a:buNone/>
            </a:pPr>
            <a:r>
              <a:rPr lang="en-US" sz="1700" b="1" dirty="0">
                <a:solidFill>
                  <a:srgbClr val="0A1628"/>
                </a:solidFill>
                <a:latin typeface="Cambria" pitchFamily="34" charset="0"/>
                <a:ea typeface="Cambria" pitchFamily="34" charset="-122"/>
                <a:cs typeface="Cambria" pitchFamily="34" charset="-120"/>
              </a:rPr>
              <a:t>Duplicate works, across years</a:t>
            </a:r>
            <a:endParaRPr lang="en-US" sz="1700" dirty="0"/>
          </a:p>
        </p:txBody>
      </p:sp>
      <p:sp>
        <p:nvSpPr>
          <p:cNvPr id="8" name="Text 6"/>
          <p:cNvSpPr txBox="1"/>
          <p:nvPr/>
        </p:nvSpPr>
        <p:spPr>
          <a:xfrm>
            <a:off x="804672" y="2286000"/>
            <a:ext cx="5029200" cy="3200400"/>
          </a:xfrm>
          <a:prstGeom prst="rect">
            <a:avLst/>
          </a:prstGeom>
          <a:noFill/>
          <a:ln/>
        </p:spPr>
        <p:txBody>
          <a:bodyPr wrap="square" lIns="0" tIns="0" rIns="0" bIns="0" rtlCol="0" anchor="ctr"/>
          <a:lstStyle/>
          <a:p>
            <a:pPr marL="0" indent="0">
              <a:lnSpc>
                <a:spcPts val="1900"/>
              </a:lnSpc>
              <a:buNone/>
            </a:pPr>
            <a:r>
              <a:rPr lang="en-US" sz="1250" dirty="0">
                <a:solidFill>
                  <a:srgbClr val="5B7086"/>
                </a:solidFill>
                <a:latin typeface="Calibri" pitchFamily="34" charset="0"/>
                <a:ea typeface="Calibri" pitchFamily="34" charset="-122"/>
                <a:cs typeface="Calibri" pitchFamily="34" charset="-120"/>
              </a:rPr>
              <a:t>Sentence-transformer embeddings of every work description, clustered across financial years rather than within one. That is the specific shape of the ₹45.20 lakh case — the same Panchayat building renovated, and billed, a second time twelve months later. A within-year check would never see it.</a:t>
            </a:r>
            <a:endParaRPr lang="en-US" sz="1250" dirty="0"/>
          </a:p>
          <a:p>
            <a:pPr marL="0" indent="0">
              <a:lnSpc>
                <a:spcPts val="1900"/>
              </a:lnSpc>
              <a:buNone/>
            </a:pPr>
            <a:endParaRPr lang="en-US" sz="1250" dirty="0"/>
          </a:p>
          <a:p>
            <a:pPr marL="0" indent="0">
              <a:lnSpc>
                <a:spcPts val="1900"/>
              </a:lnSpc>
              <a:buNone/>
            </a:pPr>
            <a:r>
              <a:rPr lang="en-US" sz="1250" dirty="0">
                <a:solidFill>
                  <a:srgbClr val="5B7086"/>
                </a:solidFill>
                <a:latin typeface="Calibri" pitchFamily="34" charset="0"/>
                <a:ea typeface="Calibri" pitchFamily="34" charset="-122"/>
                <a:cs typeface="Calibri" pitchFamily="34" charset="-120"/>
              </a:rPr>
              <a:t>The same clusters feed the Rule 163 detector: when one MP or agency raises several near-identical works in a short window, each comfortably below the sanction limit, we check whether the cluster's total crosses it. Where descriptions carry a quantity — ‘500 mtr’, ‘2 km’ — we extract it and compute a true cost per unit instead of a per-category proxy.</a:t>
            </a:r>
            <a:endParaRPr lang="en-US" sz="1250" dirty="0"/>
          </a:p>
        </p:txBody>
      </p:sp>
      <p:sp>
        <p:nvSpPr>
          <p:cNvPr id="9" name="Shape 7"/>
          <p:cNvSpPr/>
          <p:nvPr/>
        </p:nvSpPr>
        <p:spPr>
          <a:xfrm>
            <a:off x="6327648" y="1572768"/>
            <a:ext cx="5294376" cy="2788920"/>
          </a:xfrm>
          <a:prstGeom prst="roundRect">
            <a:avLst>
              <a:gd name="adj" fmla="val 1967"/>
            </a:avLst>
          </a:prstGeom>
          <a:solidFill>
            <a:srgbClr val="FFFFFF"/>
          </a:solidFill>
          <a:ln w="12700">
            <a:solidFill>
              <a:srgbClr val="DDE4EA"/>
            </a:solidFill>
            <a:prstDash val="solid"/>
          </a:ln>
          <a:effectLst>
            <a:outerShdw blurRad="127000" dist="25400" dir="5400000" algn="bl" rotWithShape="0">
              <a:srgbClr val="0A1628">
                <a:alpha val="13000"/>
              </a:srgbClr>
            </a:outerShdw>
          </a:effectLst>
        </p:spPr>
      </p:sp>
      <p:sp>
        <p:nvSpPr>
          <p:cNvPr id="10" name="Shape 8"/>
          <p:cNvSpPr/>
          <p:nvPr/>
        </p:nvSpPr>
        <p:spPr>
          <a:xfrm>
            <a:off x="6547104" y="1773936"/>
            <a:ext cx="384048" cy="384048"/>
          </a:xfrm>
          <a:prstGeom prst="ellipse">
            <a:avLst/>
          </a:prstGeom>
          <a:solidFill>
            <a:srgbClr val="7FB2E5"/>
          </a:solidFill>
          <a:ln/>
        </p:spPr>
      </p:sp>
      <p:sp>
        <p:nvSpPr>
          <p:cNvPr id="11" name="Text 9"/>
          <p:cNvSpPr txBox="1"/>
          <p:nvPr/>
        </p:nvSpPr>
        <p:spPr>
          <a:xfrm>
            <a:off x="6547104" y="177393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2" name="Text 10"/>
          <p:cNvSpPr txBox="1"/>
          <p:nvPr/>
        </p:nvSpPr>
        <p:spPr>
          <a:xfrm>
            <a:off x="7040880" y="1773936"/>
            <a:ext cx="4389120" cy="384048"/>
          </a:xfrm>
          <a:prstGeom prst="rect">
            <a:avLst/>
          </a:prstGeom>
          <a:noFill/>
          <a:ln/>
        </p:spPr>
        <p:txBody>
          <a:bodyPr wrap="square" lIns="0" tIns="0" rIns="0" bIns="0" rtlCol="0" anchor="ctr"/>
          <a:lstStyle/>
          <a:p>
            <a:pPr marL="0" indent="0">
              <a:buNone/>
            </a:pPr>
            <a:r>
              <a:rPr lang="en-US" sz="1700" b="1" dirty="0">
                <a:solidFill>
                  <a:srgbClr val="0A1628"/>
                </a:solidFill>
                <a:latin typeface="Cambria" pitchFamily="34" charset="0"/>
                <a:ea typeface="Cambria" pitchFamily="34" charset="-122"/>
                <a:cs typeface="Cambria" pitchFamily="34" charset="-120"/>
              </a:rPr>
              <a:t>Benford's Law, per agency</a:t>
            </a:r>
            <a:endParaRPr lang="en-US" sz="1700" dirty="0"/>
          </a:p>
        </p:txBody>
      </p:sp>
      <p:sp>
        <p:nvSpPr>
          <p:cNvPr id="13" name="Text 11"/>
          <p:cNvSpPr txBox="1"/>
          <p:nvPr/>
        </p:nvSpPr>
        <p:spPr>
          <a:xfrm>
            <a:off x="6547104" y="2286000"/>
            <a:ext cx="4846320" cy="1920240"/>
          </a:xfrm>
          <a:prstGeom prst="rect">
            <a:avLst/>
          </a:prstGeom>
          <a:noFill/>
          <a:ln/>
        </p:spPr>
        <p:txBody>
          <a:bodyPr wrap="square" lIns="0" tIns="0" rIns="0" bIns="0" rtlCol="0" anchor="ctr"/>
          <a:lstStyle/>
          <a:p>
            <a:pPr marL="0" indent="0">
              <a:lnSpc>
                <a:spcPts val="1900"/>
              </a:lnSpc>
              <a:buNone/>
            </a:pPr>
            <a:r>
              <a:rPr lang="en-US" sz="1250" dirty="0">
                <a:solidFill>
                  <a:srgbClr val="5B7086"/>
                </a:solidFill>
                <a:latin typeface="Calibri" pitchFamily="34" charset="0"/>
                <a:ea typeface="Calibri" pitchFamily="34" charset="-122"/>
                <a:cs typeface="Calibri" pitchFamily="34" charset="-120"/>
              </a:rPr>
              <a:t>First- and second-digit distribution of amounts, per implementing agency, chi-square tested, gated at a minimum of 30 works. Genuine invoiced figures follow Benford's curve; constructed figures usually do not. It is a forensic-accounting signal that numbers were composed rather than incurred.</a:t>
            </a:r>
            <a:endParaRPr lang="en-US" sz="1250" dirty="0"/>
          </a:p>
          <a:p>
            <a:pPr marL="0" indent="0">
              <a:lnSpc>
                <a:spcPts val="1900"/>
              </a:lnSpc>
              <a:buNone/>
            </a:pPr>
            <a:endParaRPr lang="en-US" sz="1250" dirty="0"/>
          </a:p>
          <a:p>
            <a:pPr marL="0" indent="0">
              <a:lnSpc>
                <a:spcPts val="1900"/>
              </a:lnSpc>
              <a:buNone/>
            </a:pPr>
            <a:r>
              <a:rPr lang="en-US" sz="1250" dirty="0">
                <a:solidFill>
                  <a:srgbClr val="5B7086"/>
                </a:solidFill>
                <a:latin typeface="Calibri" pitchFamily="34" charset="0"/>
                <a:ea typeface="Calibri" pitchFamily="34" charset="-122"/>
                <a:cs typeface="Calibri" pitchFamily="34" charset="-120"/>
              </a:rPr>
              <a:t>Supporting evidence from our corpus: 717 of 5,133 amounts are exact ₹1,00,000 multiples, and 12 works are recorded at one rupee or less.</a:t>
            </a:r>
            <a:endParaRPr lang="en-US" sz="1250" dirty="0"/>
          </a:p>
        </p:txBody>
      </p:sp>
      <p:sp>
        <p:nvSpPr>
          <p:cNvPr id="14" name="Shape 12"/>
          <p:cNvSpPr/>
          <p:nvPr/>
        </p:nvSpPr>
        <p:spPr>
          <a:xfrm>
            <a:off x="6327648" y="4498848"/>
            <a:ext cx="5294376" cy="1188720"/>
          </a:xfrm>
          <a:prstGeom prst="roundRect">
            <a:avLst>
              <a:gd name="adj" fmla="val 4615"/>
            </a:avLst>
          </a:prstGeom>
          <a:solidFill>
            <a:srgbClr val="EAF6F1"/>
          </a:solidFill>
          <a:ln w="12700">
            <a:solidFill>
              <a:srgbClr val="DDE4EA"/>
            </a:solidFill>
            <a:prstDash val="solid"/>
          </a:ln>
          <a:effectLst>
            <a:outerShdw blurRad="127000" dist="25400" dir="5400000" algn="bl" rotWithShape="0">
              <a:srgbClr val="0A1628">
                <a:alpha val="13000"/>
              </a:srgbClr>
            </a:outerShdw>
          </a:effectLst>
        </p:spPr>
      </p:sp>
      <p:sp>
        <p:nvSpPr>
          <p:cNvPr id="15" name="Text 13"/>
          <p:cNvSpPr txBox="1"/>
          <p:nvPr/>
        </p:nvSpPr>
        <p:spPr>
          <a:xfrm>
            <a:off x="6547104" y="4626864"/>
            <a:ext cx="4846320" cy="310896"/>
          </a:xfrm>
          <a:prstGeom prst="rect">
            <a:avLst/>
          </a:prstGeom>
          <a:noFill/>
          <a:ln/>
        </p:spPr>
        <p:txBody>
          <a:bodyPr wrap="square" lIns="0" tIns="0" rIns="0" bIns="0" rtlCol="0" anchor="ctr"/>
          <a:lstStyle/>
          <a:p>
            <a:pPr marL="0" indent="0">
              <a:buNone/>
            </a:pPr>
            <a:r>
              <a:rPr lang="en-US" sz="1250" b="1" dirty="0">
                <a:solidFill>
                  <a:srgbClr val="1E7A56"/>
                </a:solidFill>
                <a:latin typeface="Calibri" pitchFamily="34" charset="0"/>
                <a:ea typeface="Calibri" pitchFamily="34" charset="-122"/>
                <a:cs typeface="Calibri" pitchFamily="34" charset="-120"/>
              </a:rPr>
              <a:t>Benford runs at agency level, never per work.</a:t>
            </a:r>
            <a:endParaRPr lang="en-US" sz="1250" dirty="0"/>
          </a:p>
        </p:txBody>
      </p:sp>
      <p:sp>
        <p:nvSpPr>
          <p:cNvPr id="16" name="Text 14"/>
          <p:cNvSpPr txBox="1"/>
          <p:nvPr/>
        </p:nvSpPr>
        <p:spPr>
          <a:xfrm>
            <a:off x="6547104" y="4956048"/>
            <a:ext cx="4846320" cy="603504"/>
          </a:xfrm>
          <a:prstGeom prst="rect">
            <a:avLst/>
          </a:prstGeom>
          <a:noFill/>
          <a:ln/>
        </p:spPr>
        <p:txBody>
          <a:bodyPr wrap="square" lIns="0" tIns="0" rIns="0" bIns="0" rtlCol="0" anchor="ctr"/>
          <a:lstStyle/>
          <a:p>
            <a:pPr marL="0" indent="0">
              <a:lnSpc>
                <a:spcPts val="1600"/>
              </a:lnSpc>
              <a:buNone/>
            </a:pPr>
            <a:r>
              <a:rPr lang="en-US" sz="1150" dirty="0">
                <a:solidFill>
                  <a:srgbClr val="2A6B50"/>
                </a:solidFill>
                <a:latin typeface="Calibri" pitchFamily="34" charset="0"/>
                <a:ea typeface="Calibri" pitchFamily="34" charset="-122"/>
                <a:cs typeface="Calibri" pitchFamily="34" charset="-120"/>
              </a:rPr>
              <a:t>A digit test cannot say anything about a single transaction, and we do not let it try. It raises a question about a portfolio, which a human then answers.</a:t>
            </a:r>
            <a:endParaRPr lang="en-US" sz="1150" dirty="0"/>
          </a:p>
        </p:txBody>
      </p:sp>
      <p:sp>
        <p:nvSpPr>
          <p:cNvPr id="18" name="Shape 15"/>
          <p:cNvSpPr/>
          <p:nvPr/>
        </p:nvSpPr>
        <p:spPr>
          <a:xfrm>
            <a:off x="566928" y="6309360"/>
            <a:ext cx="256032" cy="256032"/>
          </a:xfrm>
          <a:prstGeom prst="ellipse">
            <a:avLst/>
          </a:prstGeom>
          <a:solidFill>
            <a:srgbClr val="E7EDF3"/>
          </a:solidFill>
          <a:ln w="12700">
            <a:solidFill>
              <a:srgbClr val="F2A03D"/>
            </a:solidFill>
            <a:prstDash val="solid"/>
          </a:ln>
        </p:spPr>
      </p:sp>
      <p:sp>
        <p:nvSpPr>
          <p:cNvPr id="19" name="Text 16"/>
          <p:cNvSpPr txBox="1"/>
          <p:nvPr/>
        </p:nvSpPr>
        <p:spPr>
          <a:xfrm>
            <a:off x="566928" y="6309360"/>
            <a:ext cx="256032" cy="256032"/>
          </a:xfrm>
          <a:prstGeom prst="rect">
            <a:avLst/>
          </a:prstGeom>
          <a:noFill/>
          <a:ln/>
        </p:spPr>
        <p:txBody>
          <a:bodyPr wrap="square" lIns="0" tIns="0" rIns="0" bIns="0" rtlCol="0" anchor="ctr"/>
          <a:lstStyle/>
          <a:p>
            <a:pPr marL="0" indent="0" algn="ctr">
              <a:buNone/>
            </a:pPr>
            <a:r>
              <a:rPr lang="en-US" sz="1100" b="1" dirty="0">
                <a:solidFill>
                  <a:srgbClr val="F2A03D"/>
                </a:solidFill>
                <a:latin typeface="Calibri" pitchFamily="34" charset="0"/>
                <a:ea typeface="Calibri" pitchFamily="34" charset="-122"/>
                <a:cs typeface="Calibri" pitchFamily="34" charset="-120"/>
              </a:rPr>
              <a:t>4</a:t>
            </a:r>
            <a:endParaRPr lang="en-US" sz="1100" dirty="0"/>
          </a:p>
        </p:txBody>
      </p:sp>
      <p:sp>
        <p:nvSpPr>
          <p:cNvPr id="20" name="Text 17"/>
          <p:cNvSpPr txBox="1"/>
          <p:nvPr/>
        </p:nvSpPr>
        <p:spPr>
          <a:xfrm>
            <a:off x="914400" y="6309360"/>
            <a:ext cx="4572000" cy="256032"/>
          </a:xfrm>
          <a:prstGeom prst="rect">
            <a:avLst/>
          </a:prstGeom>
          <a:noFill/>
          <a:ln/>
        </p:spPr>
        <p:txBody>
          <a:bodyPr wrap="square" lIns="0" tIns="0" rIns="0" bIns="0" rtlCol="0" anchor="ctr"/>
          <a:lstStyle/>
          <a:p>
            <a:pPr marL="0" indent="0">
              <a:buNone/>
            </a:pPr>
            <a:r>
              <a:rPr lang="en-US" sz="1050" b="1" kern="0" spc="110" dirty="0">
                <a:solidFill>
                  <a:srgbClr val="5B7086"/>
                </a:solidFill>
                <a:latin typeface="Calibri" pitchFamily="34" charset="0"/>
                <a:ea typeface="Calibri" pitchFamily="34" charset="-122"/>
                <a:cs typeface="Calibri" pitchFamily="34" charset="-120"/>
              </a:rPr>
              <a:t>SPEAKER 4   ·   6:15 – 6:45</a:t>
            </a:r>
            <a:endParaRPr lang="en-US" sz="1050" dirty="0"/>
          </a:p>
        </p:txBody>
      </p:sp>
      <p:sp>
        <p:nvSpPr>
          <p:cNvPr id="21" name="Text 18"/>
          <p:cNvSpPr txBox="1"/>
          <p:nvPr/>
        </p:nvSpPr>
        <p:spPr>
          <a:xfrm>
            <a:off x="7052767" y="6317381"/>
            <a:ext cx="4572000" cy="256032"/>
          </a:xfrm>
          <a:prstGeom prst="rect">
            <a:avLst/>
          </a:prstGeom>
          <a:noFill/>
          <a:ln/>
        </p:spPr>
        <p:txBody>
          <a:bodyPr wrap="square" lIns="0" tIns="0" rIns="0" bIns="0" rtlCol="0" anchor="ctr"/>
          <a:lstStyle/>
          <a:p>
            <a:pPr marL="0" indent="0" algn="r">
              <a:buNone/>
            </a:pPr>
            <a:r>
              <a:rPr lang="en-US" sz="1050" dirty="0">
                <a:solidFill>
                  <a:srgbClr val="93A5B6"/>
                </a:solidFill>
                <a:latin typeface="Calibri" pitchFamily="34" charset="0"/>
                <a:ea typeface="Calibri" pitchFamily="34" charset="-122"/>
                <a:cs typeface="Calibri" pitchFamily="34" charset="-120"/>
              </a:rPr>
              <a:t>NAZAR   ·   SIH 2026   ·   PS 26102   ·   12/16</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marL="0" indent="0">
              <a:buNone/>
            </a:pPr>
            <a:r>
              <a:rPr lang="en-US" sz="1150" b="1" kern="0" spc="220" dirty="0">
                <a:solidFill>
                  <a:srgbClr val="F2A03D"/>
                </a:solidFill>
                <a:latin typeface="Calibri" pitchFamily="34" charset="0"/>
                <a:ea typeface="Calibri" pitchFamily="34" charset="-122"/>
                <a:cs typeface="Calibri" pitchFamily="34" charset="-120"/>
              </a:rPr>
              <a:t>VALIDATION</a:t>
            </a:r>
            <a:endParaRPr lang="en-US" sz="1150" dirty="0"/>
          </a:p>
        </p:txBody>
      </p:sp>
      <p:sp>
        <p:nvSpPr>
          <p:cNvPr id="3" name="Text 1"/>
          <p:cNvSpPr txBox="1"/>
          <p:nvPr/>
        </p:nvSpPr>
        <p:spPr>
          <a:xfrm>
            <a:off x="566928" y="621792"/>
            <a:ext cx="11057839" cy="749808"/>
          </a:xfrm>
          <a:prstGeom prst="rect">
            <a:avLst/>
          </a:prstGeom>
          <a:noFill/>
          <a:ln/>
        </p:spPr>
        <p:txBody>
          <a:bodyPr wrap="square" lIns="0" tIns="0" rIns="0" bIns="0" rtlCol="0" anchor="ctr"/>
          <a:lstStyle/>
          <a:p>
            <a:pPr marL="0" indent="0">
              <a:buNone/>
            </a:pPr>
            <a:r>
              <a:rPr lang="en-US" sz="3200" b="1" dirty="0">
                <a:solidFill>
                  <a:srgbClr val="F4F7FA"/>
                </a:solidFill>
                <a:latin typeface="Cambria" pitchFamily="34" charset="0"/>
                <a:ea typeface="Cambria" pitchFamily="34" charset="-122"/>
                <a:cs typeface="Cambria" pitchFamily="34" charset="-120"/>
              </a:rPr>
              <a:t>“With no labels, how do you know any of this works?”</a:t>
            </a:r>
            <a:endParaRPr lang="en-US" sz="3200" dirty="0"/>
          </a:p>
        </p:txBody>
      </p:sp>
      <p:sp>
        <p:nvSpPr>
          <p:cNvPr id="4" name="Shape 2"/>
          <p:cNvSpPr/>
          <p:nvPr/>
        </p:nvSpPr>
        <p:spPr>
          <a:xfrm>
            <a:off x="566928" y="1645920"/>
            <a:ext cx="2624328" cy="3200400"/>
          </a:xfrm>
          <a:prstGeom prst="roundRect">
            <a:avLst>
              <a:gd name="adj" fmla="val 2091"/>
            </a:avLst>
          </a:prstGeom>
          <a:solidFill>
            <a:srgbClr val="15263D"/>
          </a:solidFill>
          <a:ln w="12700">
            <a:solidFill>
              <a:srgbClr val="1D3350"/>
            </a:solidFill>
            <a:prstDash val="solid"/>
          </a:ln>
        </p:spPr>
      </p:sp>
      <p:sp>
        <p:nvSpPr>
          <p:cNvPr id="5" name="Shape 3"/>
          <p:cNvSpPr/>
          <p:nvPr/>
        </p:nvSpPr>
        <p:spPr>
          <a:xfrm>
            <a:off x="768096" y="1828800"/>
            <a:ext cx="365760" cy="365760"/>
          </a:xfrm>
          <a:prstGeom prst="ellipse">
            <a:avLst/>
          </a:prstGeom>
          <a:solidFill>
            <a:srgbClr val="2A4260"/>
          </a:solidFill>
          <a:ln/>
        </p:spPr>
      </p:sp>
      <p:sp>
        <p:nvSpPr>
          <p:cNvPr id="6" name="Text 4"/>
          <p:cNvSpPr txBox="1"/>
          <p:nvPr/>
        </p:nvSpPr>
        <p:spPr>
          <a:xfrm>
            <a:off x="768096" y="1828800"/>
            <a:ext cx="365760" cy="365760"/>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768096" y="2286000"/>
            <a:ext cx="2240280" cy="384048"/>
          </a:xfrm>
          <a:prstGeom prst="rect">
            <a:avLst/>
          </a:prstGeom>
          <a:noFill/>
          <a:ln/>
        </p:spPr>
        <p:txBody>
          <a:bodyPr wrap="square" lIns="0" tIns="0" rIns="0" bIns="0" rtlCol="0" anchor="ctr"/>
          <a:lstStyle/>
          <a:p>
            <a:pPr marL="0" indent="0">
              <a:buNone/>
            </a:pPr>
            <a:r>
              <a:rPr lang="en-US" sz="1500" b="1" dirty="0">
                <a:solidFill>
                  <a:srgbClr val="F4F7FA"/>
                </a:solidFill>
                <a:latin typeface="Cambria" pitchFamily="34" charset="0"/>
                <a:ea typeface="Cambria" pitchFamily="34" charset="-122"/>
                <a:cs typeface="Cambria" pitchFamily="34" charset="-120"/>
              </a:rPr>
              <a:t>Take real mechanisms</a:t>
            </a:r>
            <a:endParaRPr lang="en-US" sz="1500" dirty="0"/>
          </a:p>
        </p:txBody>
      </p:sp>
      <p:sp>
        <p:nvSpPr>
          <p:cNvPr id="8" name="Text 6"/>
          <p:cNvSpPr txBox="1"/>
          <p:nvPr/>
        </p:nvSpPr>
        <p:spPr>
          <a:xfrm>
            <a:off x="768096" y="2688336"/>
            <a:ext cx="2240280" cy="2011680"/>
          </a:xfrm>
          <a:prstGeom prst="rect">
            <a:avLst/>
          </a:prstGeom>
          <a:noFill/>
          <a:ln/>
        </p:spPr>
        <p:txBody>
          <a:bodyPr wrap="square" lIns="0" tIns="0" rIns="0" bIns="0" rtlCol="0" anchor="ctr"/>
          <a:lstStyle/>
          <a:p>
            <a:pPr marL="0" indent="0">
              <a:lnSpc>
                <a:spcPts val="1600"/>
              </a:lnSpc>
              <a:buNone/>
            </a:pPr>
            <a:r>
              <a:rPr lang="en-US" sz="1100" dirty="0">
                <a:solidFill>
                  <a:srgbClr val="9DB3CC"/>
                </a:solidFill>
                <a:latin typeface="Calibri" pitchFamily="34" charset="0"/>
                <a:ea typeface="Calibri" pitchFamily="34" charset="-122"/>
                <a:cs typeface="Calibri" pitchFamily="34" charset="-120"/>
              </a:rPr>
              <a:t>Not invented ones. Each injected pattern is a documented audit finding, with parameters drawn from the real case — the real amounts, the real intervals.</a:t>
            </a:r>
            <a:endParaRPr lang="en-US" sz="1100" dirty="0"/>
          </a:p>
        </p:txBody>
      </p:sp>
      <p:sp>
        <p:nvSpPr>
          <p:cNvPr id="9" name="Shape 7"/>
          <p:cNvSpPr/>
          <p:nvPr/>
        </p:nvSpPr>
        <p:spPr>
          <a:xfrm>
            <a:off x="3374136" y="1645920"/>
            <a:ext cx="2624328" cy="3200400"/>
          </a:xfrm>
          <a:prstGeom prst="roundRect">
            <a:avLst>
              <a:gd name="adj" fmla="val 2091"/>
            </a:avLst>
          </a:prstGeom>
          <a:solidFill>
            <a:srgbClr val="15263D"/>
          </a:solidFill>
          <a:ln w="12700">
            <a:solidFill>
              <a:srgbClr val="1D3350"/>
            </a:solidFill>
            <a:prstDash val="solid"/>
          </a:ln>
        </p:spPr>
      </p:sp>
      <p:sp>
        <p:nvSpPr>
          <p:cNvPr id="10" name="Shape 8"/>
          <p:cNvSpPr/>
          <p:nvPr/>
        </p:nvSpPr>
        <p:spPr>
          <a:xfrm>
            <a:off x="3575304" y="1828800"/>
            <a:ext cx="365760" cy="365760"/>
          </a:xfrm>
          <a:prstGeom prst="ellipse">
            <a:avLst/>
          </a:prstGeom>
          <a:solidFill>
            <a:srgbClr val="2A4260"/>
          </a:solidFill>
          <a:ln/>
        </p:spPr>
      </p:sp>
      <p:sp>
        <p:nvSpPr>
          <p:cNvPr id="11" name="Text 9"/>
          <p:cNvSpPr txBox="1"/>
          <p:nvPr/>
        </p:nvSpPr>
        <p:spPr>
          <a:xfrm>
            <a:off x="3575304" y="1828800"/>
            <a:ext cx="365760" cy="365760"/>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3575304" y="2286000"/>
            <a:ext cx="2240280" cy="384048"/>
          </a:xfrm>
          <a:prstGeom prst="rect">
            <a:avLst/>
          </a:prstGeom>
          <a:noFill/>
          <a:ln/>
        </p:spPr>
        <p:txBody>
          <a:bodyPr wrap="square" lIns="0" tIns="0" rIns="0" bIns="0" rtlCol="0" anchor="ctr"/>
          <a:lstStyle/>
          <a:p>
            <a:pPr marL="0" indent="0">
              <a:buNone/>
            </a:pPr>
            <a:r>
              <a:rPr lang="en-US" sz="1500" b="1" dirty="0">
                <a:solidFill>
                  <a:srgbClr val="F4F7FA"/>
                </a:solidFill>
                <a:latin typeface="Cambria" pitchFamily="34" charset="0"/>
                <a:ea typeface="Cambria" pitchFamily="34" charset="-122"/>
                <a:cs typeface="Cambria" pitchFamily="34" charset="-120"/>
              </a:rPr>
              <a:t>Plant them, tagged</a:t>
            </a:r>
            <a:endParaRPr lang="en-US" sz="1500" dirty="0"/>
          </a:p>
        </p:txBody>
      </p:sp>
      <p:sp>
        <p:nvSpPr>
          <p:cNvPr id="13" name="Text 11"/>
          <p:cNvSpPr txBox="1"/>
          <p:nvPr/>
        </p:nvSpPr>
        <p:spPr>
          <a:xfrm>
            <a:off x="3575304" y="2688336"/>
            <a:ext cx="2240280" cy="2011680"/>
          </a:xfrm>
          <a:prstGeom prst="rect">
            <a:avLst/>
          </a:prstGeom>
          <a:noFill/>
          <a:ln/>
        </p:spPr>
        <p:txBody>
          <a:bodyPr wrap="square" lIns="0" tIns="0" rIns="0" bIns="0" rtlCol="0" anchor="ctr"/>
          <a:lstStyle/>
          <a:p>
            <a:pPr marL="0" indent="0">
              <a:lnSpc>
                <a:spcPts val="1600"/>
              </a:lnSpc>
              <a:buNone/>
            </a:pPr>
            <a:r>
              <a:rPr lang="en-US" sz="1100" dirty="0">
                <a:solidFill>
                  <a:srgbClr val="9DB3CC"/>
                </a:solidFill>
                <a:latin typeface="Calibri" pitchFamily="34" charset="0"/>
                <a:ea typeface="Calibri" pitchFamily="34" charset="-122"/>
                <a:cs typeface="Calibri" pitchFamily="34" charset="-120"/>
              </a:rPr>
              <a:t>Real rows are cloned into those shapes and marked. Phantom work with no evidence. Cross-year duplicate claim. Rule 163 splitting. Non-standard agency. Overpayment against peers. Reused photograph. Broken recommendation-to-sanction sequence. Deadline breach.</a:t>
            </a:r>
            <a:endParaRPr lang="en-US" sz="1100" dirty="0"/>
          </a:p>
        </p:txBody>
      </p:sp>
      <p:sp>
        <p:nvSpPr>
          <p:cNvPr id="14" name="Shape 12"/>
          <p:cNvSpPr/>
          <p:nvPr/>
        </p:nvSpPr>
        <p:spPr>
          <a:xfrm>
            <a:off x="6181344" y="1661962"/>
            <a:ext cx="2624328" cy="3200400"/>
          </a:xfrm>
          <a:prstGeom prst="roundRect">
            <a:avLst>
              <a:gd name="adj" fmla="val 2091"/>
            </a:avLst>
          </a:prstGeom>
          <a:solidFill>
            <a:srgbClr val="15263D"/>
          </a:solidFill>
          <a:ln w="12700">
            <a:solidFill>
              <a:srgbClr val="1D3350"/>
            </a:solidFill>
            <a:prstDash val="solid"/>
          </a:ln>
        </p:spPr>
      </p:sp>
      <p:sp>
        <p:nvSpPr>
          <p:cNvPr id="15" name="Shape 13"/>
          <p:cNvSpPr/>
          <p:nvPr/>
        </p:nvSpPr>
        <p:spPr>
          <a:xfrm>
            <a:off x="6382512" y="1828800"/>
            <a:ext cx="365760" cy="365760"/>
          </a:xfrm>
          <a:prstGeom prst="ellipse">
            <a:avLst/>
          </a:prstGeom>
          <a:solidFill>
            <a:srgbClr val="2A4260"/>
          </a:solidFill>
          <a:ln/>
        </p:spPr>
      </p:sp>
      <p:sp>
        <p:nvSpPr>
          <p:cNvPr id="16" name="Text 14"/>
          <p:cNvSpPr txBox="1"/>
          <p:nvPr/>
        </p:nvSpPr>
        <p:spPr>
          <a:xfrm>
            <a:off x="6382512" y="1828800"/>
            <a:ext cx="365760" cy="365760"/>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382512" y="2286000"/>
            <a:ext cx="2240280" cy="384048"/>
          </a:xfrm>
          <a:prstGeom prst="rect">
            <a:avLst/>
          </a:prstGeom>
          <a:noFill/>
          <a:ln/>
        </p:spPr>
        <p:txBody>
          <a:bodyPr wrap="square" lIns="0" tIns="0" rIns="0" bIns="0" rtlCol="0" anchor="ctr"/>
          <a:lstStyle/>
          <a:p>
            <a:pPr marL="0" indent="0">
              <a:buNone/>
            </a:pPr>
            <a:r>
              <a:rPr lang="en-US" sz="1500" b="1" dirty="0">
                <a:solidFill>
                  <a:srgbClr val="F4F7FA"/>
                </a:solidFill>
                <a:latin typeface="Cambria" pitchFamily="34" charset="0"/>
                <a:ea typeface="Cambria" pitchFamily="34" charset="-122"/>
                <a:cs typeface="Cambria" pitchFamily="34" charset="-120"/>
              </a:rPr>
              <a:t>Quarantine them</a:t>
            </a:r>
            <a:endParaRPr lang="en-US" sz="1500" dirty="0"/>
          </a:p>
        </p:txBody>
      </p:sp>
      <p:sp>
        <p:nvSpPr>
          <p:cNvPr id="18" name="Text 16"/>
          <p:cNvSpPr txBox="1"/>
          <p:nvPr/>
        </p:nvSpPr>
        <p:spPr>
          <a:xfrm>
            <a:off x="6382512" y="2688336"/>
            <a:ext cx="2240280" cy="2011680"/>
          </a:xfrm>
          <a:prstGeom prst="rect">
            <a:avLst/>
          </a:prstGeom>
          <a:noFill/>
          <a:ln/>
        </p:spPr>
        <p:txBody>
          <a:bodyPr wrap="square" lIns="0" tIns="0" rIns="0" bIns="0" rtlCol="0" anchor="ctr"/>
          <a:lstStyle/>
          <a:p>
            <a:pPr marL="0" indent="0">
              <a:lnSpc>
                <a:spcPts val="1600"/>
              </a:lnSpc>
              <a:buNone/>
            </a:pPr>
            <a:r>
              <a:rPr lang="en-US" sz="1100" dirty="0">
                <a:solidFill>
                  <a:srgbClr val="9DB3CC"/>
                </a:solidFill>
                <a:latin typeface="Calibri" pitchFamily="34" charset="0"/>
                <a:ea typeface="Calibri" pitchFamily="34" charset="-122"/>
                <a:cs typeface="Calibri" pitchFamily="34" charset="-120"/>
              </a:rPr>
              <a:t>Injected cases carry is_synthetic = true, are excluded at the query layer rather than the interface, and a test proves a synthetic row cannot reach a default response. They are never mixed into anything an officer sees.</a:t>
            </a:r>
            <a:endParaRPr lang="en-US" sz="1100" dirty="0"/>
          </a:p>
        </p:txBody>
      </p:sp>
      <p:sp>
        <p:nvSpPr>
          <p:cNvPr id="19" name="Shape 17"/>
          <p:cNvSpPr/>
          <p:nvPr/>
        </p:nvSpPr>
        <p:spPr>
          <a:xfrm>
            <a:off x="8988552" y="1645920"/>
            <a:ext cx="2624328" cy="3200400"/>
          </a:xfrm>
          <a:prstGeom prst="roundRect">
            <a:avLst>
              <a:gd name="adj" fmla="val 2091"/>
            </a:avLst>
          </a:prstGeom>
          <a:solidFill>
            <a:srgbClr val="1D3350"/>
          </a:solidFill>
          <a:ln w="12700">
            <a:solidFill>
              <a:srgbClr val="1D3350"/>
            </a:solidFill>
            <a:prstDash val="solid"/>
          </a:ln>
        </p:spPr>
      </p:sp>
      <p:sp>
        <p:nvSpPr>
          <p:cNvPr id="20" name="Shape 18"/>
          <p:cNvSpPr/>
          <p:nvPr/>
        </p:nvSpPr>
        <p:spPr>
          <a:xfrm>
            <a:off x="9189720" y="1828800"/>
            <a:ext cx="365760" cy="365760"/>
          </a:xfrm>
          <a:prstGeom prst="ellipse">
            <a:avLst/>
          </a:prstGeom>
          <a:solidFill>
            <a:srgbClr val="F2A03D"/>
          </a:solidFill>
          <a:ln/>
        </p:spPr>
      </p:sp>
      <p:sp>
        <p:nvSpPr>
          <p:cNvPr id="21" name="Text 19"/>
          <p:cNvSpPr txBox="1"/>
          <p:nvPr/>
        </p:nvSpPr>
        <p:spPr>
          <a:xfrm>
            <a:off x="9189720" y="1828800"/>
            <a:ext cx="365760" cy="365760"/>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9189720" y="2286000"/>
            <a:ext cx="2240280" cy="384048"/>
          </a:xfrm>
          <a:prstGeom prst="rect">
            <a:avLst/>
          </a:prstGeom>
          <a:noFill/>
          <a:ln/>
        </p:spPr>
        <p:txBody>
          <a:bodyPr wrap="square" lIns="0" tIns="0" rIns="0" bIns="0" rtlCol="0" anchor="ctr"/>
          <a:lstStyle/>
          <a:p>
            <a:pPr marL="0" indent="0">
              <a:buNone/>
            </a:pPr>
            <a:r>
              <a:rPr lang="en-US" sz="1500" b="1" dirty="0">
                <a:solidFill>
                  <a:srgbClr val="F4F7FA"/>
                </a:solidFill>
                <a:latin typeface="Cambria" pitchFamily="34" charset="0"/>
                <a:ea typeface="Cambria" pitchFamily="34" charset="-122"/>
                <a:cs typeface="Cambria" pitchFamily="34" charset="-120"/>
              </a:rPr>
              <a:t>Measure and publish</a:t>
            </a:r>
            <a:endParaRPr lang="en-US" sz="1500" dirty="0"/>
          </a:p>
        </p:txBody>
      </p:sp>
      <p:sp>
        <p:nvSpPr>
          <p:cNvPr id="23" name="Text 21"/>
          <p:cNvSpPr txBox="1"/>
          <p:nvPr/>
        </p:nvSpPr>
        <p:spPr>
          <a:xfrm>
            <a:off x="9189720" y="2688336"/>
            <a:ext cx="2240280" cy="2011680"/>
          </a:xfrm>
          <a:prstGeom prst="rect">
            <a:avLst/>
          </a:prstGeom>
          <a:noFill/>
          <a:ln/>
        </p:spPr>
        <p:txBody>
          <a:bodyPr wrap="square" lIns="0" tIns="0" rIns="0" bIns="0" rtlCol="0" anchor="ctr"/>
          <a:lstStyle/>
          <a:p>
            <a:pPr marL="0" indent="0">
              <a:lnSpc>
                <a:spcPts val="1600"/>
              </a:lnSpc>
              <a:buNone/>
            </a:pPr>
            <a:r>
              <a:rPr lang="en-US" sz="1100" dirty="0">
                <a:solidFill>
                  <a:srgbClr val="9DB3CC"/>
                </a:solidFill>
                <a:latin typeface="Calibri" pitchFamily="34" charset="0"/>
                <a:ea typeface="Calibri" pitchFamily="34" charset="-122"/>
                <a:cs typeface="Calibri" pitchFamily="34" charset="-120"/>
              </a:rPr>
              <a:t>Per-pattern recall and precision, in a generated report. Including the patterns the pipeline misses — a detector that catches six of eight is a useful detector, and one that claims eight without measuring is not.</a:t>
            </a:r>
            <a:endParaRPr lang="en-US" sz="1100" dirty="0"/>
          </a:p>
        </p:txBody>
      </p:sp>
      <p:sp>
        <p:nvSpPr>
          <p:cNvPr id="24" name="Shape 22"/>
          <p:cNvSpPr/>
          <p:nvPr/>
        </p:nvSpPr>
        <p:spPr>
          <a:xfrm>
            <a:off x="566928" y="5029200"/>
            <a:ext cx="11057839" cy="1005840"/>
          </a:xfrm>
          <a:prstGeom prst="roundRect">
            <a:avLst>
              <a:gd name="adj" fmla="val 5455"/>
            </a:avLst>
          </a:prstGeom>
          <a:solidFill>
            <a:srgbClr val="1D3350"/>
          </a:solidFill>
          <a:ln w="12700">
            <a:solidFill>
              <a:srgbClr val="1D3350"/>
            </a:solidFill>
            <a:prstDash val="solid"/>
          </a:ln>
        </p:spPr>
      </p:sp>
      <p:sp>
        <p:nvSpPr>
          <p:cNvPr id="25" name="Text 23"/>
          <p:cNvSpPr txBox="1"/>
          <p:nvPr/>
        </p:nvSpPr>
        <p:spPr>
          <a:xfrm>
            <a:off x="859536" y="5120640"/>
            <a:ext cx="10472623" cy="310896"/>
          </a:xfrm>
          <a:prstGeom prst="rect">
            <a:avLst/>
          </a:prstGeom>
          <a:noFill/>
          <a:ln/>
        </p:spPr>
        <p:txBody>
          <a:bodyPr wrap="square" lIns="0" tIns="0" rIns="0" bIns="0" rtlCol="0" anchor="ctr"/>
          <a:lstStyle/>
          <a:p>
            <a:pPr marL="0" indent="0">
              <a:buNone/>
            </a:pPr>
            <a:r>
              <a:rPr lang="en-US" sz="1650" b="1" dirty="0">
                <a:solidFill>
                  <a:srgbClr val="F2A03D"/>
                </a:solidFill>
                <a:latin typeface="Cambria" pitchFamily="34" charset="0"/>
                <a:ea typeface="Cambria" pitchFamily="34" charset="-122"/>
                <a:cs typeface="Cambria" pitchFamily="34" charset="-120"/>
              </a:rPr>
              <a:t>The harness was written before the first detector existed.</a:t>
            </a:r>
            <a:endParaRPr lang="en-US" sz="1650" dirty="0"/>
          </a:p>
        </p:txBody>
      </p:sp>
      <p:sp>
        <p:nvSpPr>
          <p:cNvPr id="26" name="Text 24"/>
          <p:cNvSpPr txBox="1"/>
          <p:nvPr/>
        </p:nvSpPr>
        <p:spPr>
          <a:xfrm>
            <a:off x="859536" y="5431536"/>
            <a:ext cx="10472623" cy="566928"/>
          </a:xfrm>
          <a:prstGeom prst="rect">
            <a:avLst/>
          </a:prstGeom>
          <a:noFill/>
          <a:ln/>
        </p:spPr>
        <p:txBody>
          <a:bodyPr wrap="square" lIns="0" tIns="0" rIns="0" bIns="0" rtlCol="0" anchor="ctr"/>
          <a:lstStyle/>
          <a:p>
            <a:pPr marL="0" indent="0">
              <a:lnSpc>
                <a:spcPts val="1800"/>
              </a:lnSpc>
              <a:buNone/>
            </a:pPr>
            <a:r>
              <a:rPr lang="en-US" sz="1250" dirty="0">
                <a:solidFill>
                  <a:srgbClr val="9DB3CC"/>
                </a:solidFill>
                <a:latin typeface="Calibri" pitchFamily="34" charset="0"/>
                <a:ea typeface="Calibri" pitchFamily="34" charset="-122"/>
                <a:cs typeface="Calibri" pitchFamily="34" charset="-120"/>
              </a:rPr>
              <a:t>So every engine was born measurable, and no threshold in this system was ever set by intuition. This is our answer to the hardest question in unsupervised fraud detection — and we would rather report a measured recall figure than an unmeasured claim of success.</a:t>
            </a:r>
            <a:endParaRPr lang="en-US" sz="1250" dirty="0"/>
          </a:p>
        </p:txBody>
      </p:sp>
      <p:sp>
        <p:nvSpPr>
          <p:cNvPr id="28" name="Shape 25"/>
          <p:cNvSpPr/>
          <p:nvPr/>
        </p:nvSpPr>
        <p:spPr>
          <a:xfrm>
            <a:off x="566928" y="6309360"/>
            <a:ext cx="256032" cy="256032"/>
          </a:xfrm>
          <a:prstGeom prst="ellipse">
            <a:avLst/>
          </a:prstGeom>
          <a:solidFill>
            <a:srgbClr val="1D3350"/>
          </a:solidFill>
          <a:ln w="12700">
            <a:solidFill>
              <a:srgbClr val="F2A03D"/>
            </a:solidFill>
            <a:prstDash val="solid"/>
          </a:ln>
        </p:spPr>
      </p:sp>
      <p:sp>
        <p:nvSpPr>
          <p:cNvPr id="29" name="Text 26"/>
          <p:cNvSpPr txBox="1"/>
          <p:nvPr/>
        </p:nvSpPr>
        <p:spPr>
          <a:xfrm>
            <a:off x="566928" y="6309360"/>
            <a:ext cx="256032" cy="256032"/>
          </a:xfrm>
          <a:prstGeom prst="rect">
            <a:avLst/>
          </a:prstGeom>
          <a:noFill/>
          <a:ln/>
        </p:spPr>
        <p:txBody>
          <a:bodyPr wrap="square" lIns="0" tIns="0" rIns="0" bIns="0" rtlCol="0" anchor="ctr"/>
          <a:lstStyle/>
          <a:p>
            <a:pPr marL="0" indent="0" algn="ctr">
              <a:buNone/>
            </a:pPr>
            <a:r>
              <a:rPr lang="en-US" sz="1100" b="1" dirty="0">
                <a:solidFill>
                  <a:srgbClr val="F2A03D"/>
                </a:solidFill>
                <a:latin typeface="Calibri" pitchFamily="34" charset="0"/>
                <a:ea typeface="Calibri" pitchFamily="34" charset="-122"/>
                <a:cs typeface="Calibri" pitchFamily="34" charset="-120"/>
              </a:rPr>
              <a:t>5</a:t>
            </a:r>
            <a:endParaRPr lang="en-US" sz="1100" dirty="0"/>
          </a:p>
        </p:txBody>
      </p:sp>
      <p:sp>
        <p:nvSpPr>
          <p:cNvPr id="30" name="Text 27"/>
          <p:cNvSpPr txBox="1"/>
          <p:nvPr/>
        </p:nvSpPr>
        <p:spPr>
          <a:xfrm>
            <a:off x="914400" y="6309360"/>
            <a:ext cx="4572000" cy="256032"/>
          </a:xfrm>
          <a:prstGeom prst="rect">
            <a:avLst/>
          </a:prstGeom>
          <a:noFill/>
          <a:ln/>
        </p:spPr>
        <p:txBody>
          <a:bodyPr wrap="square" lIns="0" tIns="0" rIns="0" bIns="0" rtlCol="0" anchor="ctr"/>
          <a:lstStyle/>
          <a:p>
            <a:pPr marL="0" indent="0">
              <a:buNone/>
            </a:pPr>
            <a:r>
              <a:rPr lang="en-US" sz="1050" b="1" kern="0" spc="110" dirty="0">
                <a:solidFill>
                  <a:srgbClr val="9DB3CC"/>
                </a:solidFill>
                <a:latin typeface="Calibri" pitchFamily="34" charset="0"/>
                <a:ea typeface="Calibri" pitchFamily="34" charset="-122"/>
                <a:cs typeface="Calibri" pitchFamily="34" charset="-120"/>
              </a:rPr>
              <a:t>SPEAKER 5   ·   6:45 – 7:30</a:t>
            </a:r>
            <a:endParaRPr lang="en-US" sz="1050" dirty="0"/>
          </a:p>
        </p:txBody>
      </p:sp>
      <p:sp>
        <p:nvSpPr>
          <p:cNvPr id="31" name="Text 28"/>
          <p:cNvSpPr txBox="1"/>
          <p:nvPr/>
        </p:nvSpPr>
        <p:spPr>
          <a:xfrm>
            <a:off x="7052767" y="6309360"/>
            <a:ext cx="4572000" cy="256032"/>
          </a:xfrm>
          <a:prstGeom prst="rect">
            <a:avLst/>
          </a:prstGeom>
          <a:noFill/>
          <a:ln/>
        </p:spPr>
        <p:txBody>
          <a:bodyPr wrap="square" lIns="0" tIns="0" rIns="0" bIns="0" rtlCol="0" anchor="ctr"/>
          <a:lstStyle/>
          <a:p>
            <a:pPr marL="0" indent="0" algn="r">
              <a:buNone/>
            </a:pPr>
            <a:r>
              <a:rPr lang="en-US" sz="1050" dirty="0">
                <a:solidFill>
                  <a:srgbClr val="6A8098"/>
                </a:solidFill>
                <a:latin typeface="Calibri" pitchFamily="34" charset="0"/>
                <a:ea typeface="Calibri" pitchFamily="34" charset="-122"/>
                <a:cs typeface="Calibri" pitchFamily="34" charset="-120"/>
              </a:rPr>
              <a:t>NAZAR   ·   SIH 2026   ·   PS 26102   ·   13/16</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marL="0" indent="0">
              <a:buNone/>
            </a:pPr>
            <a:r>
              <a:rPr lang="en-US" sz="1150" b="1" kern="0" spc="220" dirty="0">
                <a:solidFill>
                  <a:srgbClr val="F2A03D"/>
                </a:solidFill>
                <a:latin typeface="Calibri" pitchFamily="34" charset="0"/>
                <a:ea typeface="Calibri" pitchFamily="34" charset="-122"/>
                <a:cs typeface="Calibri" pitchFamily="34" charset="-120"/>
              </a:rPr>
              <a:t>THE PRODUCT</a:t>
            </a:r>
            <a:endParaRPr lang="en-US" sz="1150" dirty="0"/>
          </a:p>
        </p:txBody>
      </p:sp>
      <p:sp>
        <p:nvSpPr>
          <p:cNvPr id="3" name="Text 1"/>
          <p:cNvSpPr txBox="1"/>
          <p:nvPr/>
        </p:nvSpPr>
        <p:spPr>
          <a:xfrm>
            <a:off x="566928" y="621792"/>
            <a:ext cx="11057839" cy="749808"/>
          </a:xfrm>
          <a:prstGeom prst="rect">
            <a:avLst/>
          </a:prstGeom>
          <a:noFill/>
          <a:ln/>
        </p:spPr>
        <p:txBody>
          <a:bodyPr wrap="square" lIns="0" tIns="0" rIns="0" bIns="0" rtlCol="0" anchor="ctr"/>
          <a:lstStyle/>
          <a:p>
            <a:pPr marL="0" indent="0">
              <a:buNone/>
            </a:pPr>
            <a:r>
              <a:rPr lang="en-US" sz="3200" b="1" dirty="0">
                <a:solidFill>
                  <a:srgbClr val="F4F7FA"/>
                </a:solidFill>
                <a:latin typeface="Cambria" pitchFamily="34" charset="0"/>
                <a:ea typeface="Cambria" pitchFamily="34" charset="-122"/>
                <a:cs typeface="Cambria" pitchFamily="34" charset="-120"/>
              </a:rPr>
              <a:t>NAZAR District Command Centre</a:t>
            </a:r>
            <a:endParaRPr lang="en-US" sz="3200" dirty="0"/>
          </a:p>
        </p:txBody>
      </p:sp>
      <p:sp>
        <p:nvSpPr>
          <p:cNvPr id="4" name="Shape 2"/>
          <p:cNvSpPr/>
          <p:nvPr/>
        </p:nvSpPr>
        <p:spPr>
          <a:xfrm>
            <a:off x="566928" y="1600200"/>
            <a:ext cx="6400800" cy="4160520"/>
          </a:xfrm>
          <a:prstGeom prst="roundRect">
            <a:avLst>
              <a:gd name="adj" fmla="val 1319"/>
            </a:avLst>
          </a:prstGeom>
          <a:solidFill>
            <a:srgbClr val="15263D"/>
          </a:solidFill>
          <a:ln w="12700">
            <a:solidFill>
              <a:srgbClr val="1D3350"/>
            </a:solidFill>
            <a:prstDash val="solid"/>
          </a:ln>
        </p:spPr>
      </p:sp>
      <p:sp>
        <p:nvSpPr>
          <p:cNvPr id="5" name="Text 3"/>
          <p:cNvSpPr txBox="1"/>
          <p:nvPr/>
        </p:nvSpPr>
        <p:spPr>
          <a:xfrm>
            <a:off x="822960" y="1783080"/>
            <a:ext cx="5852160" cy="365760"/>
          </a:xfrm>
          <a:prstGeom prst="rect">
            <a:avLst/>
          </a:prstGeom>
          <a:noFill/>
          <a:ln/>
        </p:spPr>
        <p:txBody>
          <a:bodyPr wrap="square" lIns="0" tIns="0" rIns="0" bIns="0" rtlCol="0" anchor="ctr"/>
          <a:lstStyle/>
          <a:p>
            <a:pPr marL="0" indent="0">
              <a:buNone/>
            </a:pPr>
            <a:r>
              <a:rPr lang="en-US" sz="1700" b="1" dirty="0">
                <a:solidFill>
                  <a:srgbClr val="F4F7FA"/>
                </a:solidFill>
                <a:latin typeface="Cambria" pitchFamily="34" charset="0"/>
                <a:ea typeface="Cambria" pitchFamily="34" charset="-122"/>
                <a:cs typeface="Cambria" pitchFamily="34" charset="-120"/>
              </a:rPr>
              <a:t>What an officer actually sees</a:t>
            </a:r>
            <a:endParaRPr lang="en-US" sz="1700" dirty="0"/>
          </a:p>
        </p:txBody>
      </p:sp>
      <p:sp>
        <p:nvSpPr>
          <p:cNvPr id="6" name="Shape 4"/>
          <p:cNvSpPr/>
          <p:nvPr/>
        </p:nvSpPr>
        <p:spPr>
          <a:xfrm>
            <a:off x="822960" y="2276856"/>
            <a:ext cx="329184" cy="329184"/>
          </a:xfrm>
          <a:prstGeom prst="ellipse">
            <a:avLst/>
          </a:prstGeom>
          <a:solidFill>
            <a:srgbClr val="2A4260"/>
          </a:solidFill>
          <a:ln/>
        </p:spPr>
      </p:sp>
      <p:sp>
        <p:nvSpPr>
          <p:cNvPr id="7" name="Text 5"/>
          <p:cNvSpPr txBox="1"/>
          <p:nvPr/>
        </p:nvSpPr>
        <p:spPr>
          <a:xfrm>
            <a:off x="822960" y="2276856"/>
            <a:ext cx="329184" cy="329184"/>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43584" y="2221992"/>
            <a:ext cx="5440680" cy="310896"/>
          </a:xfrm>
          <a:prstGeom prst="rect">
            <a:avLst/>
          </a:prstGeom>
          <a:noFill/>
          <a:ln/>
        </p:spPr>
        <p:txBody>
          <a:bodyPr wrap="square" lIns="0" tIns="0" rIns="0" bIns="0" rtlCol="0" anchor="ctr"/>
          <a:lstStyle/>
          <a:p>
            <a:pPr marL="0" indent="0">
              <a:buNone/>
            </a:pPr>
            <a:r>
              <a:rPr lang="en-US" sz="1250" b="1" dirty="0">
                <a:solidFill>
                  <a:srgbClr val="F4F7FA"/>
                </a:solidFill>
                <a:latin typeface="Calibri" pitchFamily="34" charset="0"/>
                <a:ea typeface="Calibri" pitchFamily="34" charset="-122"/>
                <a:cs typeface="Calibri" pitchFamily="34" charset="-120"/>
              </a:rPr>
              <a:t>A ranked queue, scoped to their jurisdiction</a:t>
            </a:r>
            <a:endParaRPr lang="en-US" sz="1250" dirty="0"/>
          </a:p>
        </p:txBody>
      </p:sp>
      <p:sp>
        <p:nvSpPr>
          <p:cNvPr id="9" name="Text 7"/>
          <p:cNvSpPr txBox="1"/>
          <p:nvPr/>
        </p:nvSpPr>
        <p:spPr>
          <a:xfrm>
            <a:off x="1243584" y="2532888"/>
            <a:ext cx="5440680" cy="530352"/>
          </a:xfrm>
          <a:prstGeom prst="rect">
            <a:avLst/>
          </a:prstGeom>
          <a:noFill/>
          <a:ln/>
        </p:spPr>
        <p:txBody>
          <a:bodyPr wrap="square" lIns="0" tIns="0" rIns="0" bIns="0" rtlCol="0" anchor="ctr"/>
          <a:lstStyle/>
          <a:p>
            <a:pPr marL="0" indent="0">
              <a:lnSpc>
                <a:spcPts val="1600"/>
              </a:lnSpc>
              <a:buNone/>
            </a:pPr>
            <a:r>
              <a:rPr lang="en-US" sz="1150" dirty="0">
                <a:solidFill>
                  <a:srgbClr val="9DB3CC"/>
                </a:solidFill>
                <a:latin typeface="Calibri" pitchFamily="34" charset="0"/>
                <a:ea typeface="Calibri" pitchFamily="34" charset="-122"/>
                <a:cs typeface="Calibri" pitchFamily="34" charset="-120"/>
              </a:rPr>
              <a:t>An MP, a State Nodal Authority, a District Authority and the Ministry each see only what is theirs. Scoping is enforced in the API, not in the interface.</a:t>
            </a:r>
            <a:endParaRPr lang="en-US" sz="1150" dirty="0"/>
          </a:p>
        </p:txBody>
      </p:sp>
      <p:sp>
        <p:nvSpPr>
          <p:cNvPr id="10" name="Shape 8"/>
          <p:cNvSpPr/>
          <p:nvPr/>
        </p:nvSpPr>
        <p:spPr>
          <a:xfrm>
            <a:off x="822960" y="3163824"/>
            <a:ext cx="329184" cy="329184"/>
          </a:xfrm>
          <a:prstGeom prst="ellipse">
            <a:avLst/>
          </a:prstGeom>
          <a:solidFill>
            <a:srgbClr val="2A4260"/>
          </a:solidFill>
          <a:ln/>
        </p:spPr>
      </p:sp>
      <p:sp>
        <p:nvSpPr>
          <p:cNvPr id="11" name="Text 9"/>
          <p:cNvSpPr txBox="1"/>
          <p:nvPr/>
        </p:nvSpPr>
        <p:spPr>
          <a:xfrm>
            <a:off x="822960" y="3163824"/>
            <a:ext cx="329184" cy="329184"/>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243584" y="3108960"/>
            <a:ext cx="5440680" cy="310896"/>
          </a:xfrm>
          <a:prstGeom prst="rect">
            <a:avLst/>
          </a:prstGeom>
          <a:noFill/>
          <a:ln/>
        </p:spPr>
        <p:txBody>
          <a:bodyPr wrap="square" lIns="0" tIns="0" rIns="0" bIns="0" rtlCol="0" anchor="ctr"/>
          <a:lstStyle/>
          <a:p>
            <a:pPr marL="0" indent="0">
              <a:buNone/>
            </a:pPr>
            <a:r>
              <a:rPr lang="en-US" sz="1250" b="1" dirty="0">
                <a:solidFill>
                  <a:srgbClr val="F4F7FA"/>
                </a:solidFill>
                <a:latin typeface="Calibri" pitchFamily="34" charset="0"/>
                <a:ea typeface="Calibri" pitchFamily="34" charset="-122"/>
                <a:cs typeface="Calibri" pitchFamily="34" charset="-120"/>
              </a:rPr>
              <a:t>A work card that shows the reason, not the score</a:t>
            </a:r>
            <a:endParaRPr lang="en-US" sz="1250" dirty="0"/>
          </a:p>
        </p:txBody>
      </p:sp>
      <p:sp>
        <p:nvSpPr>
          <p:cNvPr id="13" name="Text 11"/>
          <p:cNvSpPr txBox="1"/>
          <p:nvPr/>
        </p:nvSpPr>
        <p:spPr>
          <a:xfrm>
            <a:off x="1243584" y="3419856"/>
            <a:ext cx="5440680" cy="530352"/>
          </a:xfrm>
          <a:prstGeom prst="rect">
            <a:avLst/>
          </a:prstGeom>
          <a:noFill/>
          <a:ln/>
        </p:spPr>
        <p:txBody>
          <a:bodyPr wrap="square" lIns="0" tIns="0" rIns="0" bIns="0" rtlCol="0" anchor="ctr"/>
          <a:lstStyle/>
          <a:p>
            <a:pPr marL="0" indent="0">
              <a:lnSpc>
                <a:spcPts val="1600"/>
              </a:lnSpc>
              <a:buNone/>
            </a:pPr>
            <a:r>
              <a:rPr lang="en-US" sz="1150" dirty="0">
                <a:solidFill>
                  <a:srgbClr val="9DB3CC"/>
                </a:solidFill>
                <a:latin typeface="Calibri" pitchFamily="34" charset="0"/>
                <a:ea typeface="Calibri" pitchFamily="34" charset="-122"/>
                <a:cs typeface="Calibri" pitchFamily="34" charset="-120"/>
              </a:rPr>
              <a:t>The rule text and its source. The peer statistic and the peer group it came from. The two duplicate images, side by side, at full size.</a:t>
            </a:r>
            <a:endParaRPr lang="en-US" sz="1150" dirty="0"/>
          </a:p>
        </p:txBody>
      </p:sp>
      <p:sp>
        <p:nvSpPr>
          <p:cNvPr id="14" name="Shape 12"/>
          <p:cNvSpPr/>
          <p:nvPr/>
        </p:nvSpPr>
        <p:spPr>
          <a:xfrm>
            <a:off x="822960" y="4050792"/>
            <a:ext cx="329184" cy="329184"/>
          </a:xfrm>
          <a:prstGeom prst="ellipse">
            <a:avLst/>
          </a:prstGeom>
          <a:solidFill>
            <a:srgbClr val="2A4260"/>
          </a:solidFill>
          <a:ln/>
        </p:spPr>
      </p:sp>
      <p:sp>
        <p:nvSpPr>
          <p:cNvPr id="15" name="Text 13"/>
          <p:cNvSpPr txBox="1"/>
          <p:nvPr/>
        </p:nvSpPr>
        <p:spPr>
          <a:xfrm>
            <a:off x="822960" y="4050792"/>
            <a:ext cx="329184" cy="329184"/>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243584" y="3995928"/>
            <a:ext cx="5440680" cy="310896"/>
          </a:xfrm>
          <a:prstGeom prst="rect">
            <a:avLst/>
          </a:prstGeom>
          <a:noFill/>
          <a:ln/>
        </p:spPr>
        <p:txBody>
          <a:bodyPr wrap="square" lIns="0" tIns="0" rIns="0" bIns="0" rtlCol="0" anchor="ctr"/>
          <a:lstStyle/>
          <a:p>
            <a:pPr marL="0" indent="0">
              <a:buNone/>
            </a:pPr>
            <a:r>
              <a:rPr lang="en-US" sz="1250" b="1" dirty="0">
                <a:solidFill>
                  <a:srgbClr val="F4F7FA"/>
                </a:solidFill>
                <a:latin typeface="Calibri" pitchFamily="34" charset="0"/>
                <a:ea typeface="Calibri" pitchFamily="34" charset="-122"/>
                <a:cs typeface="Calibri" pitchFamily="34" charset="-120"/>
              </a:rPr>
              <a:t>An evidence-tier badge on every flag</a:t>
            </a:r>
            <a:endParaRPr lang="en-US" sz="1250" dirty="0"/>
          </a:p>
        </p:txBody>
      </p:sp>
      <p:sp>
        <p:nvSpPr>
          <p:cNvPr id="17" name="Text 15"/>
          <p:cNvSpPr txBox="1"/>
          <p:nvPr/>
        </p:nvSpPr>
        <p:spPr>
          <a:xfrm>
            <a:off x="1243584" y="4306824"/>
            <a:ext cx="5440680" cy="530352"/>
          </a:xfrm>
          <a:prstGeom prst="rect">
            <a:avLst/>
          </a:prstGeom>
          <a:noFill/>
          <a:ln/>
        </p:spPr>
        <p:txBody>
          <a:bodyPr wrap="square" lIns="0" tIns="0" rIns="0" bIns="0" rtlCol="0" anchor="ctr"/>
          <a:lstStyle/>
          <a:p>
            <a:pPr marL="0" indent="0">
              <a:lnSpc>
                <a:spcPts val="1600"/>
              </a:lnSpc>
              <a:buNone/>
            </a:pPr>
            <a:r>
              <a:rPr lang="en-US" sz="1150" dirty="0">
                <a:solidFill>
                  <a:srgbClr val="9DB3CC"/>
                </a:solidFill>
                <a:latin typeface="Calibri" pitchFamily="34" charset="0"/>
                <a:ea typeface="Calibri" pitchFamily="34" charset="-122"/>
                <a:cs typeface="Calibri" pitchFamily="34" charset="-120"/>
              </a:rPr>
              <a:t>Byte-identical, keypoint-confirmed, or statistically similar. The officer is told which one before deciding anything.</a:t>
            </a:r>
            <a:endParaRPr lang="en-US" sz="1150" dirty="0"/>
          </a:p>
        </p:txBody>
      </p:sp>
      <p:sp>
        <p:nvSpPr>
          <p:cNvPr id="18" name="Shape 16"/>
          <p:cNvSpPr/>
          <p:nvPr/>
        </p:nvSpPr>
        <p:spPr>
          <a:xfrm>
            <a:off x="822960" y="4937760"/>
            <a:ext cx="329184" cy="329184"/>
          </a:xfrm>
          <a:prstGeom prst="ellipse">
            <a:avLst/>
          </a:prstGeom>
          <a:solidFill>
            <a:srgbClr val="2A4260"/>
          </a:solidFill>
          <a:ln/>
        </p:spPr>
      </p:sp>
      <p:sp>
        <p:nvSpPr>
          <p:cNvPr id="19" name="Text 17"/>
          <p:cNvSpPr txBox="1"/>
          <p:nvPr/>
        </p:nvSpPr>
        <p:spPr>
          <a:xfrm>
            <a:off x="822960" y="4937760"/>
            <a:ext cx="329184" cy="329184"/>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1243584" y="4882896"/>
            <a:ext cx="5440680" cy="310896"/>
          </a:xfrm>
          <a:prstGeom prst="rect">
            <a:avLst/>
          </a:prstGeom>
          <a:noFill/>
          <a:ln/>
        </p:spPr>
        <p:txBody>
          <a:bodyPr wrap="square" lIns="0" tIns="0" rIns="0" bIns="0" rtlCol="0" anchor="ctr"/>
          <a:lstStyle/>
          <a:p>
            <a:pPr marL="0" indent="0">
              <a:buNone/>
            </a:pPr>
            <a:r>
              <a:rPr lang="en-US" sz="1250" b="1" dirty="0">
                <a:solidFill>
                  <a:srgbClr val="F4F7FA"/>
                </a:solidFill>
                <a:latin typeface="Calibri" pitchFamily="34" charset="0"/>
                <a:ea typeface="Calibri" pitchFamily="34" charset="-122"/>
                <a:cs typeface="Calibri" pitchFamily="34" charset="-120"/>
              </a:rPr>
              <a:t>Confirm or Dismiss — and the loop closes</a:t>
            </a:r>
            <a:endParaRPr lang="en-US" sz="1250" dirty="0"/>
          </a:p>
        </p:txBody>
      </p:sp>
      <p:sp>
        <p:nvSpPr>
          <p:cNvPr id="21" name="Text 19"/>
          <p:cNvSpPr txBox="1"/>
          <p:nvPr/>
        </p:nvSpPr>
        <p:spPr>
          <a:xfrm>
            <a:off x="1243584" y="5193792"/>
            <a:ext cx="5440680" cy="530352"/>
          </a:xfrm>
          <a:prstGeom prst="rect">
            <a:avLst/>
          </a:prstGeom>
          <a:noFill/>
          <a:ln/>
        </p:spPr>
        <p:txBody>
          <a:bodyPr wrap="square" lIns="0" tIns="0" rIns="0" bIns="0" rtlCol="0" anchor="ctr"/>
          <a:lstStyle/>
          <a:p>
            <a:pPr marL="0" indent="0">
              <a:lnSpc>
                <a:spcPts val="1600"/>
              </a:lnSpc>
              <a:buNone/>
            </a:pPr>
            <a:r>
              <a:rPr lang="en-US" sz="1150" dirty="0">
                <a:solidFill>
                  <a:srgbClr val="9DB3CC"/>
                </a:solidFill>
                <a:latin typeface="Calibri" pitchFamily="34" charset="0"/>
                <a:ea typeface="Calibri" pitchFamily="34" charset="-122"/>
                <a:cs typeface="Calibri" pitchFamily="34" charset="-120"/>
              </a:rPr>
              <a:t>Every decision is logged with its reason and feeds signal calibration, so the queue gets better at the thing this district actually cares about.</a:t>
            </a:r>
            <a:endParaRPr lang="en-US" sz="1150" dirty="0"/>
          </a:p>
        </p:txBody>
      </p:sp>
      <p:sp>
        <p:nvSpPr>
          <p:cNvPr id="22" name="Shape 20"/>
          <p:cNvSpPr/>
          <p:nvPr/>
        </p:nvSpPr>
        <p:spPr>
          <a:xfrm>
            <a:off x="7242048" y="1600200"/>
            <a:ext cx="4379976" cy="4160520"/>
          </a:xfrm>
          <a:prstGeom prst="roundRect">
            <a:avLst>
              <a:gd name="adj" fmla="val 1319"/>
            </a:avLst>
          </a:prstGeom>
          <a:solidFill>
            <a:srgbClr val="1D3350"/>
          </a:solidFill>
          <a:ln w="12700">
            <a:solidFill>
              <a:srgbClr val="1D3350"/>
            </a:solidFill>
            <a:prstDash val="solid"/>
          </a:ln>
        </p:spPr>
      </p:sp>
      <p:sp>
        <p:nvSpPr>
          <p:cNvPr id="23" name="Text 21"/>
          <p:cNvSpPr txBox="1"/>
          <p:nvPr/>
        </p:nvSpPr>
        <p:spPr>
          <a:xfrm>
            <a:off x="7461504" y="1783080"/>
            <a:ext cx="3931920" cy="365760"/>
          </a:xfrm>
          <a:prstGeom prst="rect">
            <a:avLst/>
          </a:prstGeom>
          <a:noFill/>
          <a:ln/>
        </p:spPr>
        <p:txBody>
          <a:bodyPr wrap="square" lIns="0" tIns="0" rIns="0" bIns="0" rtlCol="0" anchor="ctr"/>
          <a:lstStyle/>
          <a:p>
            <a:pPr marL="0" indent="0">
              <a:buNone/>
            </a:pPr>
            <a:r>
              <a:rPr lang="en-US" sz="1700" b="1" dirty="0">
                <a:solidFill>
                  <a:srgbClr val="F2A03D"/>
                </a:solidFill>
                <a:latin typeface="Cambria" pitchFamily="34" charset="0"/>
                <a:ea typeface="Cambria" pitchFamily="34" charset="-122"/>
                <a:cs typeface="Cambria" pitchFamily="34" charset="-120"/>
              </a:rPr>
              <a:t>The vocabulary is enforced in code</a:t>
            </a:r>
            <a:endParaRPr lang="en-US" sz="1700" dirty="0"/>
          </a:p>
        </p:txBody>
      </p:sp>
      <p:sp>
        <p:nvSpPr>
          <p:cNvPr id="24" name="Text 22"/>
          <p:cNvSpPr txBox="1"/>
          <p:nvPr/>
        </p:nvSpPr>
        <p:spPr>
          <a:xfrm>
            <a:off x="7461504" y="2267712"/>
            <a:ext cx="3931920" cy="256032"/>
          </a:xfrm>
          <a:prstGeom prst="rect">
            <a:avLst/>
          </a:prstGeom>
          <a:noFill/>
          <a:ln/>
        </p:spPr>
        <p:txBody>
          <a:bodyPr wrap="square" lIns="0" tIns="0" rIns="0" bIns="0" rtlCol="0" anchor="ctr"/>
          <a:lstStyle/>
          <a:p>
            <a:pPr marL="0" indent="0">
              <a:buNone/>
            </a:pPr>
            <a:r>
              <a:rPr lang="en-US" sz="1000" b="1" kern="0" spc="140" dirty="0">
                <a:solidFill>
                  <a:srgbClr val="3FBF8F"/>
                </a:solidFill>
                <a:latin typeface="Calibri" pitchFamily="34" charset="0"/>
                <a:ea typeface="Calibri" pitchFamily="34" charset="-122"/>
                <a:cs typeface="Calibri" pitchFamily="34" charset="-120"/>
              </a:rPr>
              <a:t>PERMITTED</a:t>
            </a:r>
            <a:endParaRPr lang="en-US" sz="1000" dirty="0"/>
          </a:p>
        </p:txBody>
      </p:sp>
      <p:sp>
        <p:nvSpPr>
          <p:cNvPr id="25" name="Text 23"/>
          <p:cNvSpPr txBox="1"/>
          <p:nvPr/>
        </p:nvSpPr>
        <p:spPr>
          <a:xfrm>
            <a:off x="7461504" y="2542032"/>
            <a:ext cx="3931920" cy="731520"/>
          </a:xfrm>
          <a:prstGeom prst="rect">
            <a:avLst/>
          </a:prstGeom>
          <a:noFill/>
          <a:ln/>
        </p:spPr>
        <p:txBody>
          <a:bodyPr wrap="square" lIns="0" tIns="0" rIns="0" bIns="0" rtlCol="0" anchor="ctr"/>
          <a:lstStyle/>
          <a:p>
            <a:pPr marL="0" indent="0">
              <a:lnSpc>
                <a:spcPts val="1800"/>
              </a:lnSpc>
              <a:buNone/>
            </a:pPr>
            <a:r>
              <a:rPr lang="en-US" sz="1200" dirty="0">
                <a:solidFill>
                  <a:srgbClr val="F4F7FA"/>
                </a:solidFill>
                <a:latin typeface="Calibri" pitchFamily="34" charset="0"/>
                <a:ea typeface="Calibri" pitchFamily="34" charset="-122"/>
                <a:cs typeface="Calibri" pitchFamily="34" charset="-120"/>
              </a:rPr>
              <a:t>“flagged for review”   ·   “requires verification”   ·   “anomalous relative to peers”   ·   “duplicate evidence detected”</a:t>
            </a:r>
            <a:endParaRPr lang="en-US" sz="1200" dirty="0"/>
          </a:p>
        </p:txBody>
      </p:sp>
      <p:sp>
        <p:nvSpPr>
          <p:cNvPr id="26" name="Text 24"/>
          <p:cNvSpPr txBox="1"/>
          <p:nvPr/>
        </p:nvSpPr>
        <p:spPr>
          <a:xfrm>
            <a:off x="7461504" y="3310128"/>
            <a:ext cx="3931920" cy="256032"/>
          </a:xfrm>
          <a:prstGeom prst="rect">
            <a:avLst/>
          </a:prstGeom>
          <a:noFill/>
          <a:ln/>
        </p:spPr>
        <p:txBody>
          <a:bodyPr wrap="square" lIns="0" tIns="0" rIns="0" bIns="0" rtlCol="0" anchor="ctr"/>
          <a:lstStyle/>
          <a:p>
            <a:pPr marL="0" indent="0">
              <a:buNone/>
            </a:pPr>
            <a:r>
              <a:rPr lang="en-US" sz="1000" b="1" kern="0" spc="140" dirty="0">
                <a:solidFill>
                  <a:srgbClr val="E4695E"/>
                </a:solidFill>
                <a:latin typeface="Calibri" pitchFamily="34" charset="0"/>
                <a:ea typeface="Calibri" pitchFamily="34" charset="-122"/>
                <a:cs typeface="Calibri" pitchFamily="34" charset="-120"/>
              </a:rPr>
              <a:t>FORBIDDEN — IN UI, API, LOGS AND REPORTS</a:t>
            </a:r>
            <a:endParaRPr lang="en-US" sz="1000" dirty="0"/>
          </a:p>
        </p:txBody>
      </p:sp>
      <p:sp>
        <p:nvSpPr>
          <p:cNvPr id="27" name="Text 25"/>
          <p:cNvSpPr txBox="1"/>
          <p:nvPr/>
        </p:nvSpPr>
        <p:spPr>
          <a:xfrm>
            <a:off x="7461504" y="3584448"/>
            <a:ext cx="3931920" cy="457200"/>
          </a:xfrm>
          <a:prstGeom prst="rect">
            <a:avLst/>
          </a:prstGeom>
          <a:noFill/>
          <a:ln/>
        </p:spPr>
        <p:txBody>
          <a:bodyPr wrap="square" lIns="0" tIns="0" rIns="0" bIns="0" rtlCol="0" anchor="ctr"/>
          <a:lstStyle/>
          <a:p>
            <a:pPr marL="0" indent="0">
              <a:lnSpc>
                <a:spcPts val="1800"/>
              </a:lnSpc>
              <a:buNone/>
            </a:pPr>
            <a:r>
              <a:rPr lang="en-US" sz="1200" dirty="0">
                <a:solidFill>
                  <a:srgbClr val="F4F7FA"/>
                </a:solidFill>
                <a:latin typeface="Calibri" pitchFamily="34" charset="0"/>
                <a:ea typeface="Calibri" pitchFamily="34" charset="-122"/>
                <a:cs typeface="Calibri" pitchFamily="34" charset="-120"/>
              </a:rPr>
              <a:t>“fraudulent”   ·   “corrupt”   ·   “embezzled”   ·   “guilty”   ·   “fake”</a:t>
            </a:r>
            <a:endParaRPr lang="en-US" sz="1200" dirty="0"/>
          </a:p>
        </p:txBody>
      </p:sp>
      <p:sp>
        <p:nvSpPr>
          <p:cNvPr id="28" name="Text 26"/>
          <p:cNvSpPr txBox="1"/>
          <p:nvPr/>
        </p:nvSpPr>
        <p:spPr>
          <a:xfrm>
            <a:off x="7461504" y="4224528"/>
            <a:ext cx="3931920" cy="1280160"/>
          </a:xfrm>
          <a:prstGeom prst="rect">
            <a:avLst/>
          </a:prstGeom>
          <a:noFill/>
          <a:ln/>
        </p:spPr>
        <p:txBody>
          <a:bodyPr wrap="square" lIns="0" tIns="0" rIns="0" bIns="0" rtlCol="0" anchor="ctr"/>
          <a:lstStyle/>
          <a:p>
            <a:pPr marL="0" indent="0">
              <a:lnSpc>
                <a:spcPts val="1800"/>
              </a:lnSpc>
              <a:buNone/>
            </a:pPr>
            <a:r>
              <a:rPr lang="en-US" sz="1200" dirty="0">
                <a:solidFill>
                  <a:srgbClr val="9DB3CC"/>
                </a:solidFill>
                <a:latin typeface="Calibri" pitchFamily="34" charset="0"/>
                <a:ea typeface="Calibri" pitchFamily="34" charset="-122"/>
                <a:cs typeface="Calibri" pitchFamily="34" charset="-120"/>
              </a:rPr>
              <a:t>This system names real, living public officials and real agencies. Every alert carries a visible statement that it is a computational signal requiring human verification. That constraint lives in the codebase and in our tests — not on a slide.</a:t>
            </a:r>
            <a:endParaRPr lang="en-US" sz="1200" dirty="0"/>
          </a:p>
        </p:txBody>
      </p:sp>
      <p:sp>
        <p:nvSpPr>
          <p:cNvPr id="30" name="Shape 27"/>
          <p:cNvSpPr/>
          <p:nvPr/>
        </p:nvSpPr>
        <p:spPr>
          <a:xfrm>
            <a:off x="566928" y="6309360"/>
            <a:ext cx="256032" cy="256032"/>
          </a:xfrm>
          <a:prstGeom prst="ellipse">
            <a:avLst/>
          </a:prstGeom>
          <a:solidFill>
            <a:srgbClr val="1D3350"/>
          </a:solidFill>
          <a:ln w="12700">
            <a:solidFill>
              <a:srgbClr val="F2A03D"/>
            </a:solidFill>
            <a:prstDash val="solid"/>
          </a:ln>
        </p:spPr>
      </p:sp>
      <p:sp>
        <p:nvSpPr>
          <p:cNvPr id="31" name="Text 28"/>
          <p:cNvSpPr txBox="1"/>
          <p:nvPr/>
        </p:nvSpPr>
        <p:spPr>
          <a:xfrm>
            <a:off x="566928" y="6309360"/>
            <a:ext cx="256032" cy="256032"/>
          </a:xfrm>
          <a:prstGeom prst="rect">
            <a:avLst/>
          </a:prstGeom>
          <a:noFill/>
          <a:ln/>
        </p:spPr>
        <p:txBody>
          <a:bodyPr wrap="square" lIns="0" tIns="0" rIns="0" bIns="0" rtlCol="0" anchor="ctr"/>
          <a:lstStyle/>
          <a:p>
            <a:pPr marL="0" indent="0" algn="ctr">
              <a:buNone/>
            </a:pPr>
            <a:r>
              <a:rPr lang="en-US" sz="1100" b="1" dirty="0">
                <a:solidFill>
                  <a:srgbClr val="F2A03D"/>
                </a:solidFill>
                <a:latin typeface="Calibri" pitchFamily="34" charset="0"/>
                <a:ea typeface="Calibri" pitchFamily="34" charset="-122"/>
                <a:cs typeface="Calibri" pitchFamily="34" charset="-120"/>
              </a:rPr>
              <a:t>5</a:t>
            </a:r>
            <a:endParaRPr lang="en-US" sz="1100" dirty="0"/>
          </a:p>
        </p:txBody>
      </p:sp>
      <p:sp>
        <p:nvSpPr>
          <p:cNvPr id="32" name="Text 29"/>
          <p:cNvSpPr txBox="1"/>
          <p:nvPr/>
        </p:nvSpPr>
        <p:spPr>
          <a:xfrm>
            <a:off x="914400" y="6317381"/>
            <a:ext cx="4572000" cy="256032"/>
          </a:xfrm>
          <a:prstGeom prst="rect">
            <a:avLst/>
          </a:prstGeom>
          <a:noFill/>
          <a:ln/>
        </p:spPr>
        <p:txBody>
          <a:bodyPr wrap="square" lIns="0" tIns="0" rIns="0" bIns="0" rtlCol="0" anchor="ctr"/>
          <a:lstStyle/>
          <a:p>
            <a:pPr marL="0" indent="0">
              <a:buNone/>
            </a:pPr>
            <a:r>
              <a:rPr lang="en-US" sz="1050" b="1" kern="0" spc="110" dirty="0">
                <a:solidFill>
                  <a:srgbClr val="9DB3CC"/>
                </a:solidFill>
                <a:latin typeface="Calibri" pitchFamily="34" charset="0"/>
                <a:ea typeface="Calibri" pitchFamily="34" charset="-122"/>
                <a:cs typeface="Calibri" pitchFamily="34" charset="-120"/>
              </a:rPr>
              <a:t>SPEAKER 5   ·   7:30 – 8:20</a:t>
            </a:r>
            <a:endParaRPr lang="en-US" sz="1050" dirty="0"/>
          </a:p>
        </p:txBody>
      </p:sp>
      <p:sp>
        <p:nvSpPr>
          <p:cNvPr id="33" name="Text 30"/>
          <p:cNvSpPr txBox="1"/>
          <p:nvPr/>
        </p:nvSpPr>
        <p:spPr>
          <a:xfrm>
            <a:off x="7052767" y="6309360"/>
            <a:ext cx="4572000" cy="256032"/>
          </a:xfrm>
          <a:prstGeom prst="rect">
            <a:avLst/>
          </a:prstGeom>
          <a:noFill/>
          <a:ln/>
        </p:spPr>
        <p:txBody>
          <a:bodyPr wrap="square" lIns="0" tIns="0" rIns="0" bIns="0" rtlCol="0" anchor="ctr"/>
          <a:lstStyle/>
          <a:p>
            <a:pPr marL="0" indent="0" algn="r">
              <a:buNone/>
            </a:pPr>
            <a:r>
              <a:rPr lang="en-US" sz="1050" dirty="0">
                <a:solidFill>
                  <a:srgbClr val="6A8098"/>
                </a:solidFill>
                <a:latin typeface="Calibri" pitchFamily="34" charset="0"/>
                <a:ea typeface="Calibri" pitchFamily="34" charset="-122"/>
                <a:cs typeface="Calibri" pitchFamily="34" charset="-120"/>
              </a:rPr>
              <a:t>NAZAR   ·   SIH 2026   ·   PS 26102   ·   14/16</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9"/>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marL="0" indent="0">
              <a:buNone/>
            </a:pPr>
            <a:r>
              <a:rPr lang="en-US" sz="1150" b="1" kern="0" spc="220" dirty="0">
                <a:solidFill>
                  <a:srgbClr val="F2A03D"/>
                </a:solidFill>
                <a:latin typeface="Calibri" pitchFamily="34" charset="0"/>
                <a:ea typeface="Calibri" pitchFamily="34" charset="-122"/>
                <a:cs typeface="Calibri" pitchFamily="34" charset="-120"/>
              </a:rPr>
              <a:t>FEASIBILITY AND RISK</a:t>
            </a:r>
            <a:endParaRPr lang="en-US" sz="1150" dirty="0"/>
          </a:p>
        </p:txBody>
      </p:sp>
      <p:sp>
        <p:nvSpPr>
          <p:cNvPr id="3" name="Text 1"/>
          <p:cNvSpPr txBox="1"/>
          <p:nvPr/>
        </p:nvSpPr>
        <p:spPr>
          <a:xfrm>
            <a:off x="566928" y="621792"/>
            <a:ext cx="11057839" cy="749808"/>
          </a:xfrm>
          <a:prstGeom prst="rect">
            <a:avLst/>
          </a:prstGeom>
          <a:noFill/>
          <a:ln/>
        </p:spPr>
        <p:txBody>
          <a:bodyPr wrap="square" lIns="0" tIns="0" rIns="0" bIns="0" rtlCol="0" anchor="ctr"/>
          <a:lstStyle/>
          <a:p>
            <a:pPr marL="0" indent="0">
              <a:buNone/>
            </a:pPr>
            <a:r>
              <a:rPr lang="en-US" sz="3200" b="1" dirty="0">
                <a:solidFill>
                  <a:srgbClr val="0A1628"/>
                </a:solidFill>
                <a:latin typeface="Cambria" pitchFamily="34" charset="0"/>
                <a:ea typeface="Cambria" pitchFamily="34" charset="-122"/>
                <a:cs typeface="Cambria" pitchFamily="34" charset="-120"/>
              </a:rPr>
              <a:t>Buildable today, with no new procurement</a:t>
            </a:r>
            <a:endParaRPr lang="en-US" sz="3200" dirty="0"/>
          </a:p>
        </p:txBody>
      </p:sp>
      <p:sp>
        <p:nvSpPr>
          <p:cNvPr id="4" name="Shape 2"/>
          <p:cNvSpPr/>
          <p:nvPr/>
        </p:nvSpPr>
        <p:spPr>
          <a:xfrm>
            <a:off x="566928" y="1572768"/>
            <a:ext cx="4937760" cy="2331720"/>
          </a:xfrm>
          <a:prstGeom prst="roundRect">
            <a:avLst>
              <a:gd name="adj" fmla="val 2353"/>
            </a:avLst>
          </a:prstGeom>
          <a:solidFill>
            <a:srgbClr val="FFFFFF"/>
          </a:solidFill>
          <a:ln w="12700">
            <a:solidFill>
              <a:srgbClr val="DDE4EA"/>
            </a:solidFill>
            <a:prstDash val="solid"/>
          </a:ln>
          <a:effectLst>
            <a:outerShdw blurRad="127000" dist="25400" dir="5400000" algn="bl" rotWithShape="0">
              <a:srgbClr val="0A1628">
                <a:alpha val="13000"/>
              </a:srgbClr>
            </a:outerShdw>
          </a:effectLst>
        </p:spPr>
      </p:sp>
      <p:sp>
        <p:nvSpPr>
          <p:cNvPr id="5" name="Text 3"/>
          <p:cNvSpPr txBox="1"/>
          <p:nvPr/>
        </p:nvSpPr>
        <p:spPr>
          <a:xfrm>
            <a:off x="804672" y="1737360"/>
            <a:ext cx="4480560" cy="310896"/>
          </a:xfrm>
          <a:prstGeom prst="rect">
            <a:avLst/>
          </a:prstGeom>
          <a:noFill/>
          <a:ln/>
        </p:spPr>
        <p:txBody>
          <a:bodyPr wrap="square" lIns="0" tIns="0" rIns="0" bIns="0" rtlCol="0" anchor="ctr"/>
          <a:lstStyle/>
          <a:p>
            <a:pPr marL="0" indent="0">
              <a:buNone/>
            </a:pPr>
            <a:r>
              <a:rPr lang="en-US" sz="1100" b="1" kern="0" spc="160" dirty="0">
                <a:solidFill>
                  <a:srgbClr val="5B7086"/>
                </a:solidFill>
                <a:latin typeface="Calibri" pitchFamily="34" charset="0"/>
                <a:ea typeface="Calibri" pitchFamily="34" charset="-122"/>
                <a:cs typeface="Calibri" pitchFamily="34" charset="-120"/>
              </a:rPr>
              <a:t>STACK</a:t>
            </a:r>
            <a:endParaRPr lang="en-US" sz="1100" dirty="0"/>
          </a:p>
        </p:txBody>
      </p:sp>
      <p:sp>
        <p:nvSpPr>
          <p:cNvPr id="6" name="Text 4"/>
          <p:cNvSpPr txBox="1"/>
          <p:nvPr/>
        </p:nvSpPr>
        <p:spPr>
          <a:xfrm>
            <a:off x="804672" y="2048256"/>
            <a:ext cx="4480560" cy="868680"/>
          </a:xfrm>
          <a:prstGeom prst="rect">
            <a:avLst/>
          </a:prstGeom>
          <a:noFill/>
          <a:ln/>
        </p:spPr>
        <p:txBody>
          <a:bodyPr wrap="square" lIns="0" tIns="0" rIns="0" bIns="0" rtlCol="0" anchor="ctr"/>
          <a:lstStyle/>
          <a:p>
            <a:pPr marL="0" indent="0">
              <a:lnSpc>
                <a:spcPts val="1900"/>
              </a:lnSpc>
              <a:buNone/>
            </a:pPr>
            <a:r>
              <a:rPr lang="en-US" sz="1250" dirty="0">
                <a:solidFill>
                  <a:srgbClr val="0A1628"/>
                </a:solidFill>
                <a:latin typeface="Calibri" pitchFamily="34" charset="0"/>
                <a:ea typeface="Calibri" pitchFamily="34" charset="-122"/>
                <a:cs typeface="Calibri" pitchFamily="34" charset="-120"/>
              </a:rPr>
              <a:t>Python 3.13  ·  pandas  ·  scikit-learn  ·  OpenCV  ·  imagehash  ·  PyMuPDF  ·  sentence-transformers  ·  Tesseract OCR  ·  SHAP  ·  FastAPI  ·  SQLite → PostgreSQL  ·  React</a:t>
            </a:r>
            <a:endParaRPr lang="en-US" sz="1250" dirty="0"/>
          </a:p>
        </p:txBody>
      </p:sp>
      <p:sp>
        <p:nvSpPr>
          <p:cNvPr id="7" name="Text 5"/>
          <p:cNvSpPr txBox="1"/>
          <p:nvPr/>
        </p:nvSpPr>
        <p:spPr>
          <a:xfrm>
            <a:off x="804672" y="2926080"/>
            <a:ext cx="4480560" cy="822960"/>
          </a:xfrm>
          <a:prstGeom prst="rect">
            <a:avLst/>
          </a:prstGeom>
          <a:noFill/>
          <a:ln/>
        </p:spPr>
        <p:txBody>
          <a:bodyPr wrap="square" lIns="0" tIns="0" rIns="0" bIns="0" rtlCol="0" anchor="ctr"/>
          <a:lstStyle/>
          <a:p>
            <a:pPr marL="0" indent="0">
              <a:lnSpc>
                <a:spcPts val="1600"/>
              </a:lnSpc>
              <a:buNone/>
            </a:pPr>
            <a:r>
              <a:rPr lang="en-US" sz="1150" dirty="0">
                <a:solidFill>
                  <a:srgbClr val="5B7086"/>
                </a:solidFill>
                <a:latin typeface="Calibri" pitchFamily="34" charset="0"/>
                <a:ea typeface="Calibri" pitchFamily="34" charset="-122"/>
                <a:cs typeface="Calibri" pitchFamily="34" charset="-120"/>
              </a:rPr>
              <a:t>Every component is open source, every component runs on CPU. There is no GPU anywhere in this pipeline, and no managed cloud service it depends on — so it deploys onto existing government infrastructure rather than requiring new procurement.</a:t>
            </a:r>
            <a:endParaRPr lang="en-US" sz="1150" dirty="0"/>
          </a:p>
        </p:txBody>
      </p:sp>
      <p:sp>
        <p:nvSpPr>
          <p:cNvPr id="8" name="Shape 6"/>
          <p:cNvSpPr/>
          <p:nvPr/>
        </p:nvSpPr>
        <p:spPr>
          <a:xfrm>
            <a:off x="566928" y="4041648"/>
            <a:ext cx="4937760" cy="1645920"/>
          </a:xfrm>
          <a:prstGeom prst="roundRect">
            <a:avLst>
              <a:gd name="adj" fmla="val 3333"/>
            </a:avLst>
          </a:prstGeom>
          <a:solidFill>
            <a:srgbClr val="FFF4E4"/>
          </a:solidFill>
          <a:ln w="12700">
            <a:solidFill>
              <a:srgbClr val="DDE4EA"/>
            </a:solidFill>
            <a:prstDash val="solid"/>
          </a:ln>
          <a:effectLst>
            <a:outerShdw blurRad="127000" dist="25400" dir="5400000" algn="bl" rotWithShape="0">
              <a:srgbClr val="0A1628">
                <a:alpha val="13000"/>
              </a:srgbClr>
            </a:outerShdw>
          </a:effectLst>
        </p:spPr>
      </p:sp>
      <p:sp>
        <p:nvSpPr>
          <p:cNvPr id="9" name="Text 7"/>
          <p:cNvSpPr txBox="1"/>
          <p:nvPr/>
        </p:nvSpPr>
        <p:spPr>
          <a:xfrm>
            <a:off x="804672" y="4187952"/>
            <a:ext cx="4480560" cy="310896"/>
          </a:xfrm>
          <a:prstGeom prst="rect">
            <a:avLst/>
          </a:prstGeom>
          <a:noFill/>
          <a:ln/>
        </p:spPr>
        <p:txBody>
          <a:bodyPr wrap="square" lIns="0" tIns="0" rIns="0" bIns="0" rtlCol="0" anchor="ctr"/>
          <a:lstStyle/>
          <a:p>
            <a:pPr marL="0" indent="0">
              <a:buNone/>
            </a:pPr>
            <a:r>
              <a:rPr lang="en-US" sz="1200" b="1" dirty="0">
                <a:solidFill>
                  <a:srgbClr val="9A6011"/>
                </a:solidFill>
                <a:latin typeface="Calibri" pitchFamily="34" charset="0"/>
                <a:ea typeface="Calibri" pitchFamily="34" charset="-122"/>
                <a:cs typeface="Calibri" pitchFamily="34" charset="-120"/>
              </a:rPr>
              <a:t>Deliberately not in this design</a:t>
            </a:r>
            <a:endParaRPr lang="en-US" sz="1200" dirty="0"/>
          </a:p>
        </p:txBody>
      </p:sp>
      <p:sp>
        <p:nvSpPr>
          <p:cNvPr id="10" name="Text 8"/>
          <p:cNvSpPr txBox="1"/>
          <p:nvPr/>
        </p:nvSpPr>
        <p:spPr>
          <a:xfrm>
            <a:off x="804672" y="4517136"/>
            <a:ext cx="4480560" cy="1005840"/>
          </a:xfrm>
          <a:prstGeom prst="rect">
            <a:avLst/>
          </a:prstGeom>
          <a:noFill/>
          <a:ln/>
        </p:spPr>
        <p:txBody>
          <a:bodyPr wrap="square" lIns="0" tIns="0" rIns="0" bIns="0" rtlCol="0" anchor="ctr"/>
          <a:lstStyle/>
          <a:p>
            <a:pPr marL="0" indent="0">
              <a:lnSpc>
                <a:spcPts val="1600"/>
              </a:lnSpc>
              <a:buNone/>
            </a:pPr>
            <a:r>
              <a:rPr lang="en-US" sz="1150" dirty="0">
                <a:solidFill>
                  <a:srgbClr val="7A5215"/>
                </a:solidFill>
                <a:latin typeface="Calibri" pitchFamily="34" charset="0"/>
                <a:ea typeface="Calibri" pitchFamily="34" charset="-122"/>
                <a:cs typeface="Calibri" pitchFamily="34" charset="-120"/>
              </a:rPr>
              <a:t>No Kubernetes, no graph database, no vector-search cluster, no blockchain. At this data scale each one would add operational cost and nothing else. Complexity we cannot justify is complexity a district IT team has to run at three in the morning.</a:t>
            </a:r>
            <a:endParaRPr lang="en-US" sz="1150" dirty="0"/>
          </a:p>
        </p:txBody>
      </p:sp>
      <p:sp>
        <p:nvSpPr>
          <p:cNvPr id="11" name="Shape 9"/>
          <p:cNvSpPr/>
          <p:nvPr/>
        </p:nvSpPr>
        <p:spPr>
          <a:xfrm>
            <a:off x="5779008" y="1572768"/>
            <a:ext cx="5843016" cy="4114800"/>
          </a:xfrm>
          <a:prstGeom prst="roundRect">
            <a:avLst>
              <a:gd name="adj" fmla="val 1333"/>
            </a:avLst>
          </a:prstGeom>
          <a:solidFill>
            <a:srgbClr val="FFFFFF"/>
          </a:solidFill>
          <a:ln w="12700">
            <a:solidFill>
              <a:srgbClr val="DDE4EA"/>
            </a:solidFill>
            <a:prstDash val="solid"/>
          </a:ln>
          <a:effectLst>
            <a:outerShdw blurRad="127000" dist="25400" dir="5400000" algn="bl" rotWithShape="0">
              <a:srgbClr val="0A1628">
                <a:alpha val="13000"/>
              </a:srgbClr>
            </a:outerShdw>
          </a:effectLst>
        </p:spPr>
      </p:sp>
      <p:sp>
        <p:nvSpPr>
          <p:cNvPr id="12" name="Text 10"/>
          <p:cNvSpPr txBox="1"/>
          <p:nvPr/>
        </p:nvSpPr>
        <p:spPr>
          <a:xfrm>
            <a:off x="5998464" y="1737360"/>
            <a:ext cx="5394960" cy="329184"/>
          </a:xfrm>
          <a:prstGeom prst="rect">
            <a:avLst/>
          </a:prstGeom>
          <a:noFill/>
          <a:ln/>
        </p:spPr>
        <p:txBody>
          <a:bodyPr wrap="square" lIns="0" tIns="0" rIns="0" bIns="0" rtlCol="0" anchor="ctr"/>
          <a:lstStyle/>
          <a:p>
            <a:pPr marL="0" indent="0">
              <a:buNone/>
            </a:pPr>
            <a:r>
              <a:rPr lang="en-US" sz="1300" b="1" dirty="0">
                <a:solidFill>
                  <a:srgbClr val="0A1628"/>
                </a:solidFill>
                <a:latin typeface="Calibri" pitchFamily="34" charset="0"/>
                <a:ea typeface="Calibri" pitchFamily="34" charset="-122"/>
                <a:cs typeface="Calibri" pitchFamily="34" charset="-120"/>
              </a:rPr>
              <a:t>What can go wrong, and what we did about it</a:t>
            </a:r>
            <a:endParaRPr lang="en-US" sz="1300" dirty="0"/>
          </a:p>
        </p:txBody>
      </p:sp>
      <p:sp>
        <p:nvSpPr>
          <p:cNvPr id="13" name="Shape 11"/>
          <p:cNvSpPr/>
          <p:nvPr/>
        </p:nvSpPr>
        <p:spPr>
          <a:xfrm>
            <a:off x="6016752" y="2231136"/>
            <a:ext cx="91440" cy="91440"/>
          </a:xfrm>
          <a:prstGeom prst="ellipse">
            <a:avLst/>
          </a:prstGeom>
          <a:solidFill>
            <a:srgbClr val="F2A03D"/>
          </a:solidFill>
          <a:ln/>
        </p:spPr>
      </p:sp>
      <p:sp>
        <p:nvSpPr>
          <p:cNvPr id="14" name="Text 12"/>
          <p:cNvSpPr txBox="1"/>
          <p:nvPr/>
        </p:nvSpPr>
        <p:spPr>
          <a:xfrm>
            <a:off x="6236208" y="2121408"/>
            <a:ext cx="5166360" cy="274320"/>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False positives destroy trust faster than fraud does</a:t>
            </a:r>
            <a:endParaRPr lang="en-US" sz="1200" dirty="0"/>
          </a:p>
        </p:txBody>
      </p:sp>
      <p:sp>
        <p:nvSpPr>
          <p:cNvPr id="15" name="Text 13"/>
          <p:cNvSpPr txBox="1"/>
          <p:nvPr/>
        </p:nvSpPr>
        <p:spPr>
          <a:xfrm>
            <a:off x="6236208" y="2377440"/>
            <a:ext cx="5166360" cy="438912"/>
          </a:xfrm>
          <a:prstGeom prst="rect">
            <a:avLst/>
          </a:prstGeom>
          <a:noFill/>
          <a:ln/>
        </p:spPr>
        <p:txBody>
          <a:bodyPr wrap="square" lIns="0" tIns="0" rIns="0" bIns="0" rtlCol="0" anchor="ctr"/>
          <a:lstStyle/>
          <a:p>
            <a:pPr marL="0" indent="0">
              <a:lnSpc>
                <a:spcPts val="1500"/>
              </a:lnSpc>
              <a:buNone/>
            </a:pPr>
            <a:r>
              <a:rPr lang="en-US" sz="1100" dirty="0">
                <a:solidFill>
                  <a:srgbClr val="5B7086"/>
                </a:solidFill>
                <a:latin typeface="Calibri" pitchFamily="34" charset="0"/>
                <a:ea typeface="Calibri" pitchFamily="34" charset="-122"/>
                <a:cs typeface="Calibri" pitchFamily="34" charset="-120"/>
              </a:rPr>
              <a:t>Tiered evidence, entropy and dimension floors, bucket-size caps, keypoint confirmation, and a human confirmation before any action is ever taken.</a:t>
            </a:r>
            <a:endParaRPr lang="en-US" sz="1100" dirty="0"/>
          </a:p>
        </p:txBody>
      </p:sp>
      <p:sp>
        <p:nvSpPr>
          <p:cNvPr id="16" name="Shape 14"/>
          <p:cNvSpPr/>
          <p:nvPr/>
        </p:nvSpPr>
        <p:spPr>
          <a:xfrm>
            <a:off x="6016752" y="2944368"/>
            <a:ext cx="91440" cy="91440"/>
          </a:xfrm>
          <a:prstGeom prst="ellipse">
            <a:avLst/>
          </a:prstGeom>
          <a:solidFill>
            <a:srgbClr val="F2A03D"/>
          </a:solidFill>
          <a:ln/>
        </p:spPr>
      </p:sp>
      <p:sp>
        <p:nvSpPr>
          <p:cNvPr id="17" name="Text 15"/>
          <p:cNvSpPr txBox="1"/>
          <p:nvPr/>
        </p:nvSpPr>
        <p:spPr>
          <a:xfrm>
            <a:off x="6236208" y="2834640"/>
            <a:ext cx="5166360" cy="274320"/>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No ground truth to validate against</a:t>
            </a:r>
            <a:endParaRPr lang="en-US" sz="1200" dirty="0"/>
          </a:p>
        </p:txBody>
      </p:sp>
      <p:sp>
        <p:nvSpPr>
          <p:cNvPr id="18" name="Text 16"/>
          <p:cNvSpPr txBox="1"/>
          <p:nvPr/>
        </p:nvSpPr>
        <p:spPr>
          <a:xfrm>
            <a:off x="6236208" y="3090672"/>
            <a:ext cx="5166360" cy="438912"/>
          </a:xfrm>
          <a:prstGeom prst="rect">
            <a:avLst/>
          </a:prstGeom>
          <a:noFill/>
          <a:ln/>
        </p:spPr>
        <p:txBody>
          <a:bodyPr wrap="square" lIns="0" tIns="0" rIns="0" bIns="0" rtlCol="0" anchor="ctr"/>
          <a:lstStyle/>
          <a:p>
            <a:pPr marL="0" indent="0">
              <a:lnSpc>
                <a:spcPts val="1500"/>
              </a:lnSpc>
              <a:buNone/>
            </a:pPr>
            <a:r>
              <a:rPr lang="en-US" sz="1100" dirty="0">
                <a:solidFill>
                  <a:srgbClr val="5B7086"/>
                </a:solidFill>
                <a:latin typeface="Calibri" pitchFamily="34" charset="0"/>
                <a:ea typeface="Calibri" pitchFamily="34" charset="-122"/>
                <a:cs typeface="Calibri" pitchFamily="34" charset="-120"/>
              </a:rPr>
              <a:t>The synthetic injection harness. Measured per-pattern recall, published including the misses.</a:t>
            </a:r>
            <a:endParaRPr lang="en-US" sz="1100" dirty="0"/>
          </a:p>
        </p:txBody>
      </p:sp>
      <p:sp>
        <p:nvSpPr>
          <p:cNvPr id="19" name="Shape 17"/>
          <p:cNvSpPr/>
          <p:nvPr/>
        </p:nvSpPr>
        <p:spPr>
          <a:xfrm>
            <a:off x="6016752" y="3657600"/>
            <a:ext cx="91440" cy="91440"/>
          </a:xfrm>
          <a:prstGeom prst="ellipse">
            <a:avLst/>
          </a:prstGeom>
          <a:solidFill>
            <a:srgbClr val="F2A03D"/>
          </a:solidFill>
          <a:ln/>
        </p:spPr>
      </p:sp>
      <p:sp>
        <p:nvSpPr>
          <p:cNvPr id="20" name="Text 18"/>
          <p:cNvSpPr txBox="1"/>
          <p:nvPr/>
        </p:nvSpPr>
        <p:spPr>
          <a:xfrm>
            <a:off x="6236208" y="3547872"/>
            <a:ext cx="5166360" cy="274320"/>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Coverage is partial — 76 of ~543 constituencies today</a:t>
            </a:r>
            <a:endParaRPr lang="en-US" sz="1200" dirty="0"/>
          </a:p>
        </p:txBody>
      </p:sp>
      <p:sp>
        <p:nvSpPr>
          <p:cNvPr id="21" name="Text 19"/>
          <p:cNvSpPr txBox="1"/>
          <p:nvPr/>
        </p:nvSpPr>
        <p:spPr>
          <a:xfrm>
            <a:off x="6236208" y="3803904"/>
            <a:ext cx="5166360" cy="438912"/>
          </a:xfrm>
          <a:prstGeom prst="rect">
            <a:avLst/>
          </a:prstGeom>
          <a:noFill/>
          <a:ln/>
        </p:spPr>
        <p:txBody>
          <a:bodyPr wrap="square" lIns="0" tIns="0" rIns="0" bIns="0" rtlCol="0" anchor="ctr"/>
          <a:lstStyle/>
          <a:p>
            <a:pPr marL="0" indent="0">
              <a:lnSpc>
                <a:spcPts val="1500"/>
              </a:lnSpc>
              <a:buNone/>
            </a:pPr>
            <a:r>
              <a:rPr lang="en-US" sz="1100" dirty="0">
                <a:solidFill>
                  <a:srgbClr val="5B7086"/>
                </a:solidFill>
                <a:latin typeface="Calibri" pitchFamily="34" charset="0"/>
                <a:ea typeface="Calibri" pitchFamily="34" charset="-122"/>
                <a:cs typeface="Calibri" pitchFamily="34" charset="-120"/>
              </a:rPr>
              <a:t>Every aggregate view states its own coverage on the screen. The scraper is resumable and already national in design; we make no national claim we cannot support.</a:t>
            </a:r>
            <a:endParaRPr lang="en-US" sz="1100" dirty="0"/>
          </a:p>
        </p:txBody>
      </p:sp>
      <p:sp>
        <p:nvSpPr>
          <p:cNvPr id="22" name="Shape 20"/>
          <p:cNvSpPr/>
          <p:nvPr/>
        </p:nvSpPr>
        <p:spPr>
          <a:xfrm>
            <a:off x="6016752" y="4370832"/>
            <a:ext cx="91440" cy="91440"/>
          </a:xfrm>
          <a:prstGeom prst="ellipse">
            <a:avLst/>
          </a:prstGeom>
          <a:solidFill>
            <a:srgbClr val="F2A03D"/>
          </a:solidFill>
          <a:ln/>
        </p:spPr>
      </p:sp>
      <p:sp>
        <p:nvSpPr>
          <p:cNvPr id="23" name="Text 21"/>
          <p:cNvSpPr txBox="1"/>
          <p:nvPr/>
        </p:nvSpPr>
        <p:spPr>
          <a:xfrm>
            <a:off x="6236208" y="4261104"/>
            <a:ext cx="5166360" cy="274320"/>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Load on a live government portal</a:t>
            </a:r>
            <a:endParaRPr lang="en-US" sz="1200" dirty="0"/>
          </a:p>
        </p:txBody>
      </p:sp>
      <p:sp>
        <p:nvSpPr>
          <p:cNvPr id="24" name="Text 22"/>
          <p:cNvSpPr txBox="1"/>
          <p:nvPr/>
        </p:nvSpPr>
        <p:spPr>
          <a:xfrm>
            <a:off x="6236208" y="4517136"/>
            <a:ext cx="5166360" cy="438912"/>
          </a:xfrm>
          <a:prstGeom prst="rect">
            <a:avLst/>
          </a:prstGeom>
          <a:noFill/>
          <a:ln/>
        </p:spPr>
        <p:txBody>
          <a:bodyPr wrap="square" lIns="0" tIns="0" rIns="0" bIns="0" rtlCol="0" anchor="ctr"/>
          <a:lstStyle/>
          <a:p>
            <a:pPr marL="0" indent="0">
              <a:lnSpc>
                <a:spcPts val="1500"/>
              </a:lnSpc>
              <a:buNone/>
            </a:pPr>
            <a:r>
              <a:rPr lang="en-US" sz="1100" dirty="0">
                <a:solidFill>
                  <a:srgbClr val="5B7086"/>
                </a:solidFill>
                <a:latin typeface="Calibri" pitchFamily="34" charset="0"/>
                <a:ea typeface="Calibri" pitchFamily="34" charset="-122"/>
                <a:cs typeface="Calibri" pitchFamily="34" charset="-120"/>
              </a:rPr>
              <a:t>0.6-second throttle, capped retries, exponential backoff, never parallelised. If we need more data we wait longer, not harder.</a:t>
            </a:r>
            <a:endParaRPr lang="en-US" sz="1100" dirty="0"/>
          </a:p>
        </p:txBody>
      </p:sp>
      <p:sp>
        <p:nvSpPr>
          <p:cNvPr id="25" name="Shape 23"/>
          <p:cNvSpPr/>
          <p:nvPr/>
        </p:nvSpPr>
        <p:spPr>
          <a:xfrm>
            <a:off x="6016752" y="5084064"/>
            <a:ext cx="91440" cy="91440"/>
          </a:xfrm>
          <a:prstGeom prst="ellipse">
            <a:avLst/>
          </a:prstGeom>
          <a:solidFill>
            <a:srgbClr val="F2A03D"/>
          </a:solidFill>
          <a:ln/>
        </p:spPr>
      </p:sp>
      <p:sp>
        <p:nvSpPr>
          <p:cNvPr id="26" name="Text 24"/>
          <p:cNvSpPr txBox="1"/>
          <p:nvPr/>
        </p:nvSpPr>
        <p:spPr>
          <a:xfrm>
            <a:off x="6236208" y="4974336"/>
            <a:ext cx="5166360" cy="274320"/>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Reputational harm to a named official</a:t>
            </a:r>
            <a:endParaRPr lang="en-US" sz="1200" dirty="0"/>
          </a:p>
        </p:txBody>
      </p:sp>
      <p:sp>
        <p:nvSpPr>
          <p:cNvPr id="27" name="Text 25"/>
          <p:cNvSpPr txBox="1"/>
          <p:nvPr/>
        </p:nvSpPr>
        <p:spPr>
          <a:xfrm>
            <a:off x="6236208" y="5230368"/>
            <a:ext cx="5166360" cy="438912"/>
          </a:xfrm>
          <a:prstGeom prst="rect">
            <a:avLst/>
          </a:prstGeom>
          <a:noFill/>
          <a:ln/>
        </p:spPr>
        <p:txBody>
          <a:bodyPr wrap="square" lIns="0" tIns="0" rIns="0" bIns="0" rtlCol="0" anchor="ctr"/>
          <a:lstStyle/>
          <a:p>
            <a:pPr marL="0" indent="0">
              <a:lnSpc>
                <a:spcPts val="1500"/>
              </a:lnSpc>
              <a:buNone/>
            </a:pPr>
            <a:r>
              <a:rPr lang="en-US" sz="1100" dirty="0">
                <a:solidFill>
                  <a:srgbClr val="5B7086"/>
                </a:solidFill>
                <a:latin typeface="Calibri" pitchFamily="34" charset="0"/>
                <a:ea typeface="Calibri" pitchFamily="34" charset="-122"/>
                <a:cs typeface="Calibri" pitchFamily="34" charset="-120"/>
              </a:rPr>
              <a:t>Non-accusatory vocabulary enforced in code, jurisdiction-scoped access, and an audit log on every decision the system records.</a:t>
            </a:r>
            <a:endParaRPr lang="en-US" sz="1100" dirty="0"/>
          </a:p>
        </p:txBody>
      </p:sp>
      <p:sp>
        <p:nvSpPr>
          <p:cNvPr id="29" name="Shape 26"/>
          <p:cNvSpPr/>
          <p:nvPr/>
        </p:nvSpPr>
        <p:spPr>
          <a:xfrm>
            <a:off x="566928" y="6309360"/>
            <a:ext cx="256032" cy="256032"/>
          </a:xfrm>
          <a:prstGeom prst="ellipse">
            <a:avLst/>
          </a:prstGeom>
          <a:solidFill>
            <a:srgbClr val="E7EDF3"/>
          </a:solidFill>
          <a:ln w="12700">
            <a:solidFill>
              <a:srgbClr val="F2A03D"/>
            </a:solidFill>
            <a:prstDash val="solid"/>
          </a:ln>
        </p:spPr>
      </p:sp>
      <p:sp>
        <p:nvSpPr>
          <p:cNvPr id="30" name="Text 27"/>
          <p:cNvSpPr txBox="1"/>
          <p:nvPr/>
        </p:nvSpPr>
        <p:spPr>
          <a:xfrm>
            <a:off x="566928" y="6309360"/>
            <a:ext cx="256032" cy="256032"/>
          </a:xfrm>
          <a:prstGeom prst="rect">
            <a:avLst/>
          </a:prstGeom>
          <a:noFill/>
          <a:ln/>
        </p:spPr>
        <p:txBody>
          <a:bodyPr wrap="square" lIns="0" tIns="0" rIns="0" bIns="0" rtlCol="0" anchor="ctr"/>
          <a:lstStyle/>
          <a:p>
            <a:pPr marL="0" indent="0" algn="ctr">
              <a:buNone/>
            </a:pPr>
            <a:r>
              <a:rPr lang="en-US" sz="1100" b="1" dirty="0">
                <a:solidFill>
                  <a:srgbClr val="F2A03D"/>
                </a:solidFill>
                <a:latin typeface="Calibri" pitchFamily="34" charset="0"/>
                <a:ea typeface="Calibri" pitchFamily="34" charset="-122"/>
                <a:cs typeface="Calibri" pitchFamily="34" charset="-120"/>
              </a:rPr>
              <a:t>6</a:t>
            </a:r>
            <a:endParaRPr lang="en-US" sz="1100" dirty="0"/>
          </a:p>
        </p:txBody>
      </p:sp>
      <p:sp>
        <p:nvSpPr>
          <p:cNvPr id="31" name="Text 28"/>
          <p:cNvSpPr txBox="1"/>
          <p:nvPr/>
        </p:nvSpPr>
        <p:spPr>
          <a:xfrm>
            <a:off x="914400" y="6309360"/>
            <a:ext cx="4572000" cy="256032"/>
          </a:xfrm>
          <a:prstGeom prst="rect">
            <a:avLst/>
          </a:prstGeom>
          <a:noFill/>
          <a:ln/>
        </p:spPr>
        <p:txBody>
          <a:bodyPr wrap="square" lIns="0" tIns="0" rIns="0" bIns="0" rtlCol="0" anchor="ctr"/>
          <a:lstStyle/>
          <a:p>
            <a:pPr marL="0" indent="0">
              <a:buNone/>
            </a:pPr>
            <a:r>
              <a:rPr lang="en-US" sz="1050" b="1" kern="0" spc="110" dirty="0">
                <a:solidFill>
                  <a:srgbClr val="5B7086"/>
                </a:solidFill>
                <a:latin typeface="Calibri" pitchFamily="34" charset="0"/>
                <a:ea typeface="Calibri" pitchFamily="34" charset="-122"/>
                <a:cs typeface="Calibri" pitchFamily="34" charset="-120"/>
              </a:rPr>
              <a:t>SPEAKER 6   ·   8:20 – 8:55</a:t>
            </a:r>
            <a:endParaRPr lang="en-US" sz="1050" dirty="0"/>
          </a:p>
        </p:txBody>
      </p:sp>
      <p:sp>
        <p:nvSpPr>
          <p:cNvPr id="32" name="Text 29"/>
          <p:cNvSpPr txBox="1"/>
          <p:nvPr/>
        </p:nvSpPr>
        <p:spPr>
          <a:xfrm>
            <a:off x="7052767" y="6309360"/>
            <a:ext cx="4572000" cy="256032"/>
          </a:xfrm>
          <a:prstGeom prst="rect">
            <a:avLst/>
          </a:prstGeom>
          <a:noFill/>
          <a:ln/>
        </p:spPr>
        <p:txBody>
          <a:bodyPr wrap="square" lIns="0" tIns="0" rIns="0" bIns="0" rtlCol="0" anchor="ctr"/>
          <a:lstStyle/>
          <a:p>
            <a:pPr marL="0" indent="0" algn="r">
              <a:buNone/>
            </a:pPr>
            <a:r>
              <a:rPr lang="en-US" sz="1050" dirty="0">
                <a:solidFill>
                  <a:srgbClr val="93A5B6"/>
                </a:solidFill>
                <a:latin typeface="Calibri" pitchFamily="34" charset="0"/>
                <a:ea typeface="Calibri" pitchFamily="34" charset="-122"/>
                <a:cs typeface="Calibri" pitchFamily="34" charset="-120"/>
              </a:rPr>
              <a:t>NAZAR   ·   SIH 2026   ·   PS 26102   ·   15/16</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marL="0" indent="0">
              <a:buNone/>
            </a:pPr>
            <a:r>
              <a:rPr lang="en-US" sz="1150" b="1" kern="0" spc="220" dirty="0">
                <a:solidFill>
                  <a:srgbClr val="F2A03D"/>
                </a:solidFill>
                <a:latin typeface="Calibri" pitchFamily="34" charset="0"/>
                <a:ea typeface="Calibri" pitchFamily="34" charset="-122"/>
                <a:cs typeface="Calibri" pitchFamily="34" charset="-120"/>
              </a:rPr>
              <a:t>IMPACT AND ROADMAP</a:t>
            </a:r>
            <a:endParaRPr lang="en-US" sz="1150" dirty="0"/>
          </a:p>
        </p:txBody>
      </p:sp>
      <p:sp>
        <p:nvSpPr>
          <p:cNvPr id="3" name="Text 1"/>
          <p:cNvSpPr txBox="1"/>
          <p:nvPr/>
        </p:nvSpPr>
        <p:spPr>
          <a:xfrm>
            <a:off x="566928" y="621792"/>
            <a:ext cx="11057839" cy="749808"/>
          </a:xfrm>
          <a:prstGeom prst="rect">
            <a:avLst/>
          </a:prstGeom>
          <a:noFill/>
          <a:ln/>
        </p:spPr>
        <p:txBody>
          <a:bodyPr wrap="square" lIns="0" tIns="0" rIns="0" bIns="0" rtlCol="0" anchor="ctr"/>
          <a:lstStyle/>
          <a:p>
            <a:pPr marL="0" indent="0">
              <a:buNone/>
            </a:pPr>
            <a:r>
              <a:rPr lang="en-US" sz="3200" b="1" dirty="0">
                <a:solidFill>
                  <a:srgbClr val="F4F7FA"/>
                </a:solidFill>
                <a:latin typeface="Cambria" pitchFamily="34" charset="0"/>
                <a:ea typeface="Cambria" pitchFamily="34" charset="-122"/>
                <a:cs typeface="Cambria" pitchFamily="34" charset="-120"/>
              </a:rPr>
              <a:t>Four audiences, one system, one number each cares about</a:t>
            </a:r>
            <a:endParaRPr lang="en-US" sz="3200" dirty="0"/>
          </a:p>
        </p:txBody>
      </p:sp>
      <p:sp>
        <p:nvSpPr>
          <p:cNvPr id="4" name="Shape 2"/>
          <p:cNvSpPr/>
          <p:nvPr/>
        </p:nvSpPr>
        <p:spPr>
          <a:xfrm>
            <a:off x="566928" y="1682496"/>
            <a:ext cx="365760" cy="365760"/>
          </a:xfrm>
          <a:prstGeom prst="ellipse">
            <a:avLst/>
          </a:prstGeom>
          <a:solidFill>
            <a:srgbClr val="1D3350"/>
          </a:solidFill>
          <a:ln/>
        </p:spPr>
      </p:sp>
      <p:sp>
        <p:nvSpPr>
          <p:cNvPr id="5" name="Text 3"/>
          <p:cNvSpPr txBox="1"/>
          <p:nvPr/>
        </p:nvSpPr>
        <p:spPr>
          <a:xfrm>
            <a:off x="566928" y="1682496"/>
            <a:ext cx="365760" cy="365760"/>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078992" y="1627632"/>
            <a:ext cx="5486400" cy="310896"/>
          </a:xfrm>
          <a:prstGeom prst="rect">
            <a:avLst/>
          </a:prstGeom>
          <a:noFill/>
          <a:ln/>
        </p:spPr>
        <p:txBody>
          <a:bodyPr wrap="square" lIns="0" tIns="0" rIns="0" bIns="0" rtlCol="0" anchor="ctr"/>
          <a:lstStyle/>
          <a:p>
            <a:pPr marL="0" indent="0">
              <a:buNone/>
            </a:pPr>
            <a:r>
              <a:rPr lang="en-US" sz="1300" b="1" dirty="0">
                <a:solidFill>
                  <a:srgbClr val="F2A03D"/>
                </a:solidFill>
                <a:latin typeface="Calibri" pitchFamily="34" charset="0"/>
                <a:ea typeface="Calibri" pitchFamily="34" charset="-122"/>
                <a:cs typeface="Calibri" pitchFamily="34" charset="-120"/>
              </a:rPr>
              <a:t>District Authority</a:t>
            </a:r>
            <a:endParaRPr lang="en-US" sz="1300" dirty="0"/>
          </a:p>
        </p:txBody>
      </p:sp>
      <p:sp>
        <p:nvSpPr>
          <p:cNvPr id="7" name="Text 5"/>
          <p:cNvSpPr txBox="1"/>
          <p:nvPr/>
        </p:nvSpPr>
        <p:spPr>
          <a:xfrm>
            <a:off x="1078992" y="1920240"/>
            <a:ext cx="5486400" cy="548640"/>
          </a:xfrm>
          <a:prstGeom prst="rect">
            <a:avLst/>
          </a:prstGeom>
          <a:noFill/>
          <a:ln/>
        </p:spPr>
        <p:txBody>
          <a:bodyPr wrap="square" lIns="0" tIns="0" rIns="0" bIns="0" rtlCol="0" anchor="ctr"/>
          <a:lstStyle/>
          <a:p>
            <a:pPr marL="0" indent="0">
              <a:lnSpc>
                <a:spcPts val="1600"/>
              </a:lnSpc>
              <a:buNone/>
            </a:pPr>
            <a:r>
              <a:rPr lang="en-US" sz="1200" dirty="0">
                <a:solidFill>
                  <a:srgbClr val="9DB3CC"/>
                </a:solidFill>
                <a:latin typeface="Calibri" pitchFamily="34" charset="0"/>
                <a:ea typeface="Calibri" pitchFamily="34" charset="-122"/>
                <a:cs typeface="Calibri" pitchFamily="34" charset="-120"/>
              </a:rPr>
              <a:t>A ranked day's work, with evidence attached — instead of a random sample.</a:t>
            </a:r>
            <a:endParaRPr lang="en-US" sz="1200" dirty="0"/>
          </a:p>
        </p:txBody>
      </p:sp>
      <p:sp>
        <p:nvSpPr>
          <p:cNvPr id="8" name="Shape 6"/>
          <p:cNvSpPr/>
          <p:nvPr/>
        </p:nvSpPr>
        <p:spPr>
          <a:xfrm>
            <a:off x="566928" y="2615184"/>
            <a:ext cx="365760" cy="365760"/>
          </a:xfrm>
          <a:prstGeom prst="ellipse">
            <a:avLst/>
          </a:prstGeom>
          <a:solidFill>
            <a:srgbClr val="1D3350"/>
          </a:solidFill>
          <a:ln/>
        </p:spPr>
      </p:sp>
      <p:sp>
        <p:nvSpPr>
          <p:cNvPr id="9" name="Text 7"/>
          <p:cNvSpPr txBox="1"/>
          <p:nvPr/>
        </p:nvSpPr>
        <p:spPr>
          <a:xfrm>
            <a:off x="566928" y="2615184"/>
            <a:ext cx="365760" cy="365760"/>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078992" y="2560320"/>
            <a:ext cx="5486400" cy="310896"/>
          </a:xfrm>
          <a:prstGeom prst="rect">
            <a:avLst/>
          </a:prstGeom>
          <a:noFill/>
          <a:ln/>
        </p:spPr>
        <p:txBody>
          <a:bodyPr wrap="square" lIns="0" tIns="0" rIns="0" bIns="0" rtlCol="0" anchor="ctr"/>
          <a:lstStyle/>
          <a:p>
            <a:pPr marL="0" indent="0">
              <a:buNone/>
            </a:pPr>
            <a:r>
              <a:rPr lang="en-US" sz="1300" b="1" dirty="0">
                <a:solidFill>
                  <a:srgbClr val="F2A03D"/>
                </a:solidFill>
                <a:latin typeface="Calibri" pitchFamily="34" charset="0"/>
                <a:ea typeface="Calibri" pitchFamily="34" charset="-122"/>
                <a:cs typeface="Calibri" pitchFamily="34" charset="-120"/>
              </a:rPr>
              <a:t>State Nodal Authority</a:t>
            </a:r>
            <a:endParaRPr lang="en-US" sz="1300" dirty="0"/>
          </a:p>
        </p:txBody>
      </p:sp>
      <p:sp>
        <p:nvSpPr>
          <p:cNvPr id="11" name="Text 9"/>
          <p:cNvSpPr txBox="1"/>
          <p:nvPr/>
        </p:nvSpPr>
        <p:spPr>
          <a:xfrm>
            <a:off x="1078992" y="2852928"/>
            <a:ext cx="5486400" cy="548640"/>
          </a:xfrm>
          <a:prstGeom prst="rect">
            <a:avLst/>
          </a:prstGeom>
          <a:noFill/>
          <a:ln/>
        </p:spPr>
        <p:txBody>
          <a:bodyPr wrap="square" lIns="0" tIns="0" rIns="0" bIns="0" rtlCol="0" anchor="ctr"/>
          <a:lstStyle/>
          <a:p>
            <a:pPr marL="0" indent="0">
              <a:lnSpc>
                <a:spcPts val="1600"/>
              </a:lnSpc>
              <a:buNone/>
            </a:pPr>
            <a:r>
              <a:rPr lang="en-US" sz="1200" dirty="0">
                <a:solidFill>
                  <a:srgbClr val="9DB3CC"/>
                </a:solidFill>
                <a:latin typeface="Calibri" pitchFamily="34" charset="0"/>
                <a:ea typeface="Calibri" pitchFamily="34" charset="-122"/>
                <a:cs typeface="Calibri" pitchFamily="34" charset="-120"/>
              </a:rPr>
              <a:t>Which implementing agencies deviate from their peers, and on what basis.</a:t>
            </a:r>
            <a:endParaRPr lang="en-US" sz="1200" dirty="0"/>
          </a:p>
        </p:txBody>
      </p:sp>
      <p:sp>
        <p:nvSpPr>
          <p:cNvPr id="12" name="Shape 10"/>
          <p:cNvSpPr/>
          <p:nvPr/>
        </p:nvSpPr>
        <p:spPr>
          <a:xfrm>
            <a:off x="566928" y="3547872"/>
            <a:ext cx="365760" cy="365760"/>
          </a:xfrm>
          <a:prstGeom prst="ellipse">
            <a:avLst/>
          </a:prstGeom>
          <a:solidFill>
            <a:srgbClr val="1D3350"/>
          </a:solidFill>
          <a:ln/>
        </p:spPr>
      </p:sp>
      <p:sp>
        <p:nvSpPr>
          <p:cNvPr id="13" name="Text 11"/>
          <p:cNvSpPr txBox="1"/>
          <p:nvPr/>
        </p:nvSpPr>
        <p:spPr>
          <a:xfrm>
            <a:off x="566928" y="3547872"/>
            <a:ext cx="365760" cy="365760"/>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078992" y="3493008"/>
            <a:ext cx="5486400" cy="310896"/>
          </a:xfrm>
          <a:prstGeom prst="rect">
            <a:avLst/>
          </a:prstGeom>
          <a:noFill/>
          <a:ln/>
        </p:spPr>
        <p:txBody>
          <a:bodyPr wrap="square" lIns="0" tIns="0" rIns="0" bIns="0" rtlCol="0" anchor="ctr"/>
          <a:lstStyle/>
          <a:p>
            <a:pPr marL="0" indent="0">
              <a:buNone/>
            </a:pPr>
            <a:r>
              <a:rPr lang="en-US" sz="1300" b="1" dirty="0">
                <a:solidFill>
                  <a:srgbClr val="F2A03D"/>
                </a:solidFill>
                <a:latin typeface="Calibri" pitchFamily="34" charset="0"/>
                <a:ea typeface="Calibri" pitchFamily="34" charset="-122"/>
                <a:cs typeface="Calibri" pitchFamily="34" charset="-120"/>
              </a:rPr>
              <a:t>The Ministry</a:t>
            </a:r>
            <a:endParaRPr lang="en-US" sz="1300" dirty="0"/>
          </a:p>
        </p:txBody>
      </p:sp>
      <p:sp>
        <p:nvSpPr>
          <p:cNvPr id="15" name="Text 13"/>
          <p:cNvSpPr txBox="1"/>
          <p:nvPr/>
        </p:nvSpPr>
        <p:spPr>
          <a:xfrm>
            <a:off x="1078992" y="3785616"/>
            <a:ext cx="5486400" cy="548640"/>
          </a:xfrm>
          <a:prstGeom prst="rect">
            <a:avLst/>
          </a:prstGeom>
          <a:noFill/>
          <a:ln/>
        </p:spPr>
        <p:txBody>
          <a:bodyPr wrap="square" lIns="0" tIns="0" rIns="0" bIns="0" rtlCol="0" anchor="ctr"/>
          <a:lstStyle/>
          <a:p>
            <a:pPr marL="0" indent="0">
              <a:lnSpc>
                <a:spcPts val="1600"/>
              </a:lnSpc>
              <a:buNone/>
            </a:pPr>
            <a:r>
              <a:rPr lang="en-US" sz="1200" dirty="0">
                <a:solidFill>
                  <a:srgbClr val="9DB3CC"/>
                </a:solidFill>
                <a:latin typeface="Calibri" pitchFamily="34" charset="0"/>
                <a:ea typeface="Calibri" pitchFamily="34" charset="-122"/>
                <a:cs typeface="Calibri" pitchFamily="34" charset="-120"/>
              </a:rPr>
              <a:t>Absorption, compliance and duplicate-evidence patterns nationally, with coverage stated.</a:t>
            </a:r>
            <a:endParaRPr lang="en-US" sz="1200" dirty="0"/>
          </a:p>
        </p:txBody>
      </p:sp>
      <p:sp>
        <p:nvSpPr>
          <p:cNvPr id="16" name="Shape 14"/>
          <p:cNvSpPr/>
          <p:nvPr/>
        </p:nvSpPr>
        <p:spPr>
          <a:xfrm>
            <a:off x="566928" y="4480560"/>
            <a:ext cx="365760" cy="365760"/>
          </a:xfrm>
          <a:prstGeom prst="ellipse">
            <a:avLst/>
          </a:prstGeom>
          <a:solidFill>
            <a:srgbClr val="1D3350"/>
          </a:solidFill>
          <a:ln/>
        </p:spPr>
      </p:sp>
      <p:sp>
        <p:nvSpPr>
          <p:cNvPr id="17" name="Text 15"/>
          <p:cNvSpPr txBox="1"/>
          <p:nvPr/>
        </p:nvSpPr>
        <p:spPr>
          <a:xfrm>
            <a:off x="566928" y="4480560"/>
            <a:ext cx="365760" cy="365760"/>
          </a:xfrm>
          <a:prstGeom prst="rect">
            <a:avLst/>
          </a:prstGeom>
          <a:noFill/>
          <a:ln/>
        </p:spPr>
        <p:txBody>
          <a:bodyPr wrap="square" lIns="0" tIns="0" rIns="0" bIns="0" rtlCol="0" anchor="ctr"/>
          <a:lstStyle/>
          <a:p>
            <a:pPr marL="0" indent="0" algn="ctr">
              <a:buNone/>
            </a:pPr>
            <a:r>
              <a:rPr lang="en-US" sz="1300" b="1" dirty="0">
                <a:solidFill>
                  <a:srgbClr val="F2A03D"/>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078992" y="4425696"/>
            <a:ext cx="5486400" cy="310896"/>
          </a:xfrm>
          <a:prstGeom prst="rect">
            <a:avLst/>
          </a:prstGeom>
          <a:noFill/>
          <a:ln/>
        </p:spPr>
        <p:txBody>
          <a:bodyPr wrap="square" lIns="0" tIns="0" rIns="0" bIns="0" rtlCol="0" anchor="ctr"/>
          <a:lstStyle/>
          <a:p>
            <a:pPr marL="0" indent="0">
              <a:buNone/>
            </a:pPr>
            <a:r>
              <a:rPr lang="en-US" sz="1300" b="1" dirty="0">
                <a:solidFill>
                  <a:srgbClr val="F2A03D"/>
                </a:solidFill>
                <a:latin typeface="Calibri" pitchFamily="34" charset="0"/>
                <a:ea typeface="Calibri" pitchFamily="34" charset="-122"/>
                <a:cs typeface="Calibri" pitchFamily="34" charset="-120"/>
              </a:rPr>
              <a:t>The Member of Parliament</a:t>
            </a:r>
            <a:endParaRPr lang="en-US" sz="1300" dirty="0"/>
          </a:p>
        </p:txBody>
      </p:sp>
      <p:sp>
        <p:nvSpPr>
          <p:cNvPr id="19" name="Text 17"/>
          <p:cNvSpPr txBox="1"/>
          <p:nvPr/>
        </p:nvSpPr>
        <p:spPr>
          <a:xfrm>
            <a:off x="1078992" y="4718304"/>
            <a:ext cx="5486400" cy="548640"/>
          </a:xfrm>
          <a:prstGeom prst="rect">
            <a:avLst/>
          </a:prstGeom>
          <a:noFill/>
          <a:ln/>
        </p:spPr>
        <p:txBody>
          <a:bodyPr wrap="square" lIns="0" tIns="0" rIns="0" bIns="0" rtlCol="0" anchor="ctr"/>
          <a:lstStyle/>
          <a:p>
            <a:pPr marL="0" indent="0">
              <a:lnSpc>
                <a:spcPts val="1600"/>
              </a:lnSpc>
              <a:buNone/>
            </a:pPr>
            <a:r>
              <a:rPr lang="en-US" sz="1200" dirty="0">
                <a:solidFill>
                  <a:srgbClr val="9DB3CC"/>
                </a:solidFill>
                <a:latin typeface="Calibri" pitchFamily="34" charset="0"/>
                <a:ea typeface="Calibri" pitchFamily="34" charset="-122"/>
                <a:cs typeface="Calibri" pitchFamily="34" charset="-120"/>
              </a:rPr>
              <a:t>Proof that the works recommended in their constituency stand up to scrutiny.</a:t>
            </a:r>
            <a:endParaRPr lang="en-US" sz="1200" dirty="0"/>
          </a:p>
        </p:txBody>
      </p:sp>
      <p:sp>
        <p:nvSpPr>
          <p:cNvPr id="20" name="Shape 18"/>
          <p:cNvSpPr/>
          <p:nvPr/>
        </p:nvSpPr>
        <p:spPr>
          <a:xfrm>
            <a:off x="6720840" y="1627632"/>
            <a:ext cx="4901184" cy="3749040"/>
          </a:xfrm>
          <a:prstGeom prst="roundRect">
            <a:avLst>
              <a:gd name="adj" fmla="val 1463"/>
            </a:avLst>
          </a:prstGeom>
          <a:solidFill>
            <a:srgbClr val="15263D"/>
          </a:solidFill>
          <a:ln w="12700">
            <a:solidFill>
              <a:srgbClr val="1D3350"/>
            </a:solidFill>
            <a:prstDash val="solid"/>
          </a:ln>
        </p:spPr>
      </p:sp>
      <p:sp>
        <p:nvSpPr>
          <p:cNvPr id="21" name="Text 19"/>
          <p:cNvSpPr txBox="1"/>
          <p:nvPr/>
        </p:nvSpPr>
        <p:spPr>
          <a:xfrm>
            <a:off x="6949440" y="1792224"/>
            <a:ext cx="4480560" cy="347472"/>
          </a:xfrm>
          <a:prstGeom prst="rect">
            <a:avLst/>
          </a:prstGeom>
          <a:noFill/>
          <a:ln/>
        </p:spPr>
        <p:txBody>
          <a:bodyPr wrap="square" lIns="0" tIns="0" rIns="0" bIns="0" rtlCol="0" anchor="ctr"/>
          <a:lstStyle/>
          <a:p>
            <a:pPr marL="0" indent="0">
              <a:buNone/>
            </a:pPr>
            <a:r>
              <a:rPr lang="en-US" sz="1700" b="1" dirty="0">
                <a:solidFill>
                  <a:srgbClr val="F4F7FA"/>
                </a:solidFill>
                <a:latin typeface="Cambria" pitchFamily="34" charset="0"/>
                <a:ea typeface="Cambria" pitchFamily="34" charset="-122"/>
                <a:cs typeface="Cambria" pitchFamily="34" charset="-120"/>
              </a:rPr>
              <a:t>Where it goes next</a:t>
            </a:r>
            <a:endParaRPr lang="en-US" sz="1700" dirty="0"/>
          </a:p>
        </p:txBody>
      </p:sp>
      <p:sp>
        <p:nvSpPr>
          <p:cNvPr id="22" name="Text 20"/>
          <p:cNvSpPr txBox="1"/>
          <p:nvPr/>
        </p:nvSpPr>
        <p:spPr>
          <a:xfrm>
            <a:off x="6949440" y="2267712"/>
            <a:ext cx="1371600" cy="274320"/>
          </a:xfrm>
          <a:prstGeom prst="rect">
            <a:avLst/>
          </a:prstGeom>
          <a:noFill/>
          <a:ln/>
        </p:spPr>
        <p:txBody>
          <a:bodyPr wrap="square" lIns="0" tIns="0" rIns="0" bIns="0" rtlCol="0" anchor="ctr"/>
          <a:lstStyle/>
          <a:p>
            <a:pPr marL="0" indent="0">
              <a:buNone/>
            </a:pPr>
            <a:r>
              <a:rPr lang="en-US" sz="1000" b="1" kern="0" spc="140" dirty="0">
                <a:solidFill>
                  <a:srgbClr val="F2A03D"/>
                </a:solidFill>
                <a:latin typeface="Calibri" pitchFamily="34" charset="0"/>
                <a:ea typeface="Calibri" pitchFamily="34" charset="-122"/>
                <a:cs typeface="Calibri" pitchFamily="34" charset="-120"/>
              </a:rPr>
              <a:t>NOW</a:t>
            </a:r>
            <a:endParaRPr lang="en-US" sz="1000" dirty="0"/>
          </a:p>
        </p:txBody>
      </p:sp>
      <p:sp>
        <p:nvSpPr>
          <p:cNvPr id="23" name="Text 21"/>
          <p:cNvSpPr txBox="1"/>
          <p:nvPr/>
        </p:nvSpPr>
        <p:spPr>
          <a:xfrm>
            <a:off x="6949440" y="2523744"/>
            <a:ext cx="4434840" cy="502920"/>
          </a:xfrm>
          <a:prstGeom prst="rect">
            <a:avLst/>
          </a:prstGeom>
          <a:noFill/>
          <a:ln/>
        </p:spPr>
        <p:txBody>
          <a:bodyPr wrap="square" lIns="0" tIns="0" rIns="0" bIns="0" rtlCol="0" anchor="ctr"/>
          <a:lstStyle/>
          <a:p>
            <a:pPr marL="0" indent="0">
              <a:lnSpc>
                <a:spcPts val="1600"/>
              </a:lnSpc>
              <a:buNone/>
            </a:pPr>
            <a:r>
              <a:rPr lang="en-US" sz="1150" dirty="0">
                <a:solidFill>
                  <a:srgbClr val="9DB3CC"/>
                </a:solidFill>
                <a:latin typeface="Calibri" pitchFamily="34" charset="0"/>
                <a:ea typeface="Calibri" pitchFamily="34" charset="-122"/>
                <a:cs typeface="Calibri" pitchFamily="34" charset="-120"/>
              </a:rPr>
              <a:t>Five engines, five states, evaluation harness, command centre.</a:t>
            </a:r>
            <a:endParaRPr lang="en-US" sz="1150" dirty="0"/>
          </a:p>
        </p:txBody>
      </p:sp>
      <p:sp>
        <p:nvSpPr>
          <p:cNvPr id="24" name="Text 22"/>
          <p:cNvSpPr txBox="1"/>
          <p:nvPr/>
        </p:nvSpPr>
        <p:spPr>
          <a:xfrm>
            <a:off x="6949440" y="3044952"/>
            <a:ext cx="1371600" cy="274320"/>
          </a:xfrm>
          <a:prstGeom prst="rect">
            <a:avLst/>
          </a:prstGeom>
          <a:noFill/>
          <a:ln/>
        </p:spPr>
        <p:txBody>
          <a:bodyPr wrap="square" lIns="0" tIns="0" rIns="0" bIns="0" rtlCol="0" anchor="ctr"/>
          <a:lstStyle/>
          <a:p>
            <a:pPr marL="0" indent="0">
              <a:buNone/>
            </a:pPr>
            <a:r>
              <a:rPr lang="en-US" sz="1000" b="1" kern="0" spc="140" dirty="0">
                <a:solidFill>
                  <a:srgbClr val="F2A03D"/>
                </a:solidFill>
                <a:latin typeface="Calibri" pitchFamily="34" charset="0"/>
                <a:ea typeface="Calibri" pitchFamily="34" charset="-122"/>
                <a:cs typeface="Calibri" pitchFamily="34" charset="-120"/>
              </a:rPr>
              <a:t>GRAND FINALE</a:t>
            </a:r>
            <a:endParaRPr lang="en-US" sz="1000" dirty="0"/>
          </a:p>
        </p:txBody>
      </p:sp>
      <p:sp>
        <p:nvSpPr>
          <p:cNvPr id="25" name="Text 23"/>
          <p:cNvSpPr txBox="1"/>
          <p:nvPr/>
        </p:nvSpPr>
        <p:spPr>
          <a:xfrm>
            <a:off x="6949440" y="3300984"/>
            <a:ext cx="4434840" cy="502920"/>
          </a:xfrm>
          <a:prstGeom prst="rect">
            <a:avLst/>
          </a:prstGeom>
          <a:noFill/>
          <a:ln/>
        </p:spPr>
        <p:txBody>
          <a:bodyPr wrap="square" lIns="0" tIns="0" rIns="0" bIns="0" rtlCol="0" anchor="ctr"/>
          <a:lstStyle/>
          <a:p>
            <a:pPr marL="0" indent="0">
              <a:lnSpc>
                <a:spcPts val="1600"/>
              </a:lnSpc>
              <a:buNone/>
            </a:pPr>
            <a:r>
              <a:rPr lang="en-US" sz="1150" dirty="0">
                <a:solidFill>
                  <a:srgbClr val="9DB3CC"/>
                </a:solidFill>
                <a:latin typeface="Calibri" pitchFamily="34" charset="0"/>
                <a:ea typeface="Calibri" pitchFamily="34" charset="-122"/>
                <a:cs typeface="Calibri" pitchFamily="34" charset="-120"/>
              </a:rPr>
              <a:t>National scrape complete, OCR geo-verification of photographs, JanNirikshan citizen verification.</a:t>
            </a:r>
            <a:endParaRPr lang="en-US" sz="1150" dirty="0"/>
          </a:p>
        </p:txBody>
      </p:sp>
      <p:sp>
        <p:nvSpPr>
          <p:cNvPr id="26" name="Text 24"/>
          <p:cNvSpPr txBox="1"/>
          <p:nvPr/>
        </p:nvSpPr>
        <p:spPr>
          <a:xfrm>
            <a:off x="6949440" y="3822192"/>
            <a:ext cx="1371600" cy="274320"/>
          </a:xfrm>
          <a:prstGeom prst="rect">
            <a:avLst/>
          </a:prstGeom>
          <a:noFill/>
          <a:ln/>
        </p:spPr>
        <p:txBody>
          <a:bodyPr wrap="square" lIns="0" tIns="0" rIns="0" bIns="0" rtlCol="0" anchor="ctr"/>
          <a:lstStyle/>
          <a:p>
            <a:pPr marL="0" indent="0">
              <a:buNone/>
            </a:pPr>
            <a:r>
              <a:rPr lang="en-US" sz="1000" b="1" kern="0" spc="140" dirty="0">
                <a:solidFill>
                  <a:srgbClr val="F2A03D"/>
                </a:solidFill>
                <a:latin typeface="Calibri" pitchFamily="34" charset="0"/>
                <a:ea typeface="Calibri" pitchFamily="34" charset="-122"/>
                <a:cs typeface="Calibri" pitchFamily="34" charset="-120"/>
              </a:rPr>
              <a:t>PILOT</a:t>
            </a:r>
            <a:endParaRPr lang="en-US" sz="1000" dirty="0"/>
          </a:p>
        </p:txBody>
      </p:sp>
      <p:sp>
        <p:nvSpPr>
          <p:cNvPr id="27" name="Text 25"/>
          <p:cNvSpPr txBox="1"/>
          <p:nvPr/>
        </p:nvSpPr>
        <p:spPr>
          <a:xfrm>
            <a:off x="6949440" y="4078224"/>
            <a:ext cx="4434840" cy="502920"/>
          </a:xfrm>
          <a:prstGeom prst="rect">
            <a:avLst/>
          </a:prstGeom>
          <a:noFill/>
          <a:ln/>
        </p:spPr>
        <p:txBody>
          <a:bodyPr wrap="square" lIns="0" tIns="0" rIns="0" bIns="0" rtlCol="0" anchor="ctr"/>
          <a:lstStyle/>
          <a:p>
            <a:pPr marL="0" indent="0">
              <a:lnSpc>
                <a:spcPts val="1600"/>
              </a:lnSpc>
              <a:buNone/>
            </a:pPr>
            <a:r>
              <a:rPr lang="en-US" sz="1150" dirty="0">
                <a:solidFill>
                  <a:srgbClr val="9DB3CC"/>
                </a:solidFill>
                <a:latin typeface="Calibri" pitchFamily="34" charset="0"/>
                <a:ea typeface="Calibri" pitchFamily="34" charset="-122"/>
                <a:cs typeface="Calibri" pitchFamily="34" charset="-120"/>
              </a:rPr>
              <a:t>One state, live, with a PFMS and eSAKSHI payment feed joined in.</a:t>
            </a:r>
            <a:endParaRPr lang="en-US" sz="1150" dirty="0"/>
          </a:p>
        </p:txBody>
      </p:sp>
      <p:sp>
        <p:nvSpPr>
          <p:cNvPr id="28" name="Text 26"/>
          <p:cNvSpPr txBox="1"/>
          <p:nvPr/>
        </p:nvSpPr>
        <p:spPr>
          <a:xfrm>
            <a:off x="6949440" y="4599432"/>
            <a:ext cx="1371600" cy="274320"/>
          </a:xfrm>
          <a:prstGeom prst="rect">
            <a:avLst/>
          </a:prstGeom>
          <a:noFill/>
          <a:ln/>
        </p:spPr>
        <p:txBody>
          <a:bodyPr wrap="square" lIns="0" tIns="0" rIns="0" bIns="0" rtlCol="0" anchor="ctr"/>
          <a:lstStyle/>
          <a:p>
            <a:pPr marL="0" indent="0">
              <a:buNone/>
            </a:pPr>
            <a:r>
              <a:rPr lang="en-US" sz="1000" b="1" kern="0" spc="140" dirty="0">
                <a:solidFill>
                  <a:srgbClr val="F2A03D"/>
                </a:solidFill>
                <a:latin typeface="Calibri" pitchFamily="34" charset="0"/>
                <a:ea typeface="Calibri" pitchFamily="34" charset="-122"/>
                <a:cs typeface="Calibri" pitchFamily="34" charset="-120"/>
              </a:rPr>
              <a:t>SCALE</a:t>
            </a:r>
            <a:endParaRPr lang="en-US" sz="1000" dirty="0"/>
          </a:p>
        </p:txBody>
      </p:sp>
      <p:sp>
        <p:nvSpPr>
          <p:cNvPr id="29" name="Text 27"/>
          <p:cNvSpPr txBox="1"/>
          <p:nvPr/>
        </p:nvSpPr>
        <p:spPr>
          <a:xfrm>
            <a:off x="6949440" y="4855464"/>
            <a:ext cx="4434840" cy="502920"/>
          </a:xfrm>
          <a:prstGeom prst="rect">
            <a:avLst/>
          </a:prstGeom>
          <a:noFill/>
          <a:ln/>
        </p:spPr>
        <p:txBody>
          <a:bodyPr wrap="square" lIns="0" tIns="0" rIns="0" bIns="0" rtlCol="0" anchor="ctr"/>
          <a:lstStyle/>
          <a:p>
            <a:pPr marL="0" indent="0">
              <a:lnSpc>
                <a:spcPts val="1600"/>
              </a:lnSpc>
              <a:buNone/>
            </a:pPr>
            <a:r>
              <a:rPr lang="en-US" sz="1150" dirty="0">
                <a:solidFill>
                  <a:srgbClr val="9DB3CC"/>
                </a:solidFill>
                <a:latin typeface="Calibri" pitchFamily="34" charset="0"/>
                <a:ea typeface="Calibri" pitchFamily="34" charset="-122"/>
                <a:cs typeface="Calibri" pitchFamily="34" charset="-120"/>
              </a:rPr>
              <a:t>All 543 constituencies, continuous ingestion, alerts as works are filed rather than after the year closes.</a:t>
            </a:r>
            <a:endParaRPr lang="en-US" sz="1150" dirty="0"/>
          </a:p>
        </p:txBody>
      </p:sp>
      <p:sp>
        <p:nvSpPr>
          <p:cNvPr id="30" name="Text 28"/>
          <p:cNvSpPr txBox="1"/>
          <p:nvPr/>
        </p:nvSpPr>
        <p:spPr>
          <a:xfrm>
            <a:off x="566928" y="5468112"/>
            <a:ext cx="11057839" cy="384048"/>
          </a:xfrm>
          <a:prstGeom prst="rect">
            <a:avLst/>
          </a:prstGeom>
          <a:noFill/>
          <a:ln/>
        </p:spPr>
        <p:txBody>
          <a:bodyPr wrap="square" lIns="0" tIns="0" rIns="0" bIns="0" rtlCol="0" anchor="ctr"/>
          <a:lstStyle/>
          <a:p>
            <a:pPr marL="0" indent="0">
              <a:buNone/>
            </a:pPr>
            <a:r>
              <a:rPr lang="en-US" sz="1900" b="1" i="1" dirty="0">
                <a:solidFill>
                  <a:srgbClr val="F4F7FA"/>
                </a:solidFill>
                <a:latin typeface="Cambria" pitchFamily="34" charset="0"/>
                <a:ea typeface="Cambria" pitchFamily="34" charset="-122"/>
                <a:cs typeface="Cambria" pitchFamily="34" charset="-120"/>
              </a:rPr>
              <a:t>Every number on this deck was measured in our own repository. None of it is illustrative.</a:t>
            </a:r>
            <a:endParaRPr lang="en-US" sz="1900" dirty="0"/>
          </a:p>
        </p:txBody>
      </p:sp>
      <p:sp>
        <p:nvSpPr>
          <p:cNvPr id="31" name="Text 29"/>
          <p:cNvSpPr txBox="1"/>
          <p:nvPr/>
        </p:nvSpPr>
        <p:spPr>
          <a:xfrm>
            <a:off x="566928" y="5907024"/>
            <a:ext cx="11057839" cy="292608"/>
          </a:xfrm>
          <a:prstGeom prst="rect">
            <a:avLst/>
          </a:prstGeom>
          <a:noFill/>
          <a:ln/>
        </p:spPr>
        <p:txBody>
          <a:bodyPr wrap="square" lIns="0" tIns="0" rIns="0" bIns="0" rtlCol="0" anchor="ctr"/>
          <a:lstStyle/>
          <a:p>
            <a:pPr marL="0" indent="0">
              <a:buNone/>
            </a:pPr>
            <a:r>
              <a:rPr lang="en-US" sz="950" dirty="0">
                <a:solidFill>
                  <a:srgbClr val="6A8098"/>
                </a:solidFill>
                <a:latin typeface="Calibri" pitchFamily="34" charset="0"/>
                <a:ea typeface="Calibri" pitchFamily="34" charset="-122"/>
                <a:cs typeface="Calibri" pitchFamily="34" charset="-120"/>
              </a:rPr>
              <a:t>References  ·  MPLADS Guidelines 2023  ·  General Financial Rules 2017, Rule 163  ·  CAG State Audit Reports  ·  MoSPI MPLADS portal  ·  Liu et al., Isolation Forest (2008)</a:t>
            </a:r>
            <a:endParaRPr lang="en-US" sz="950" dirty="0"/>
          </a:p>
        </p:txBody>
      </p:sp>
      <p:sp>
        <p:nvSpPr>
          <p:cNvPr id="33" name="Shape 30"/>
          <p:cNvSpPr/>
          <p:nvPr/>
        </p:nvSpPr>
        <p:spPr>
          <a:xfrm>
            <a:off x="566928" y="6309360"/>
            <a:ext cx="256032" cy="256032"/>
          </a:xfrm>
          <a:prstGeom prst="ellipse">
            <a:avLst/>
          </a:prstGeom>
          <a:solidFill>
            <a:srgbClr val="1D3350"/>
          </a:solidFill>
          <a:ln w="12700">
            <a:solidFill>
              <a:srgbClr val="F2A03D"/>
            </a:solidFill>
            <a:prstDash val="solid"/>
          </a:ln>
        </p:spPr>
      </p:sp>
      <p:sp>
        <p:nvSpPr>
          <p:cNvPr id="34" name="Text 31"/>
          <p:cNvSpPr txBox="1"/>
          <p:nvPr/>
        </p:nvSpPr>
        <p:spPr>
          <a:xfrm>
            <a:off x="566928" y="6309360"/>
            <a:ext cx="256032" cy="256032"/>
          </a:xfrm>
          <a:prstGeom prst="rect">
            <a:avLst/>
          </a:prstGeom>
          <a:noFill/>
          <a:ln/>
        </p:spPr>
        <p:txBody>
          <a:bodyPr wrap="square" lIns="0" tIns="0" rIns="0" bIns="0" rtlCol="0" anchor="ctr"/>
          <a:lstStyle/>
          <a:p>
            <a:pPr marL="0" indent="0" algn="ctr">
              <a:buNone/>
            </a:pPr>
            <a:r>
              <a:rPr lang="en-US" sz="1100" b="1" dirty="0">
                <a:solidFill>
                  <a:srgbClr val="F2A03D"/>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914400" y="6309360"/>
            <a:ext cx="4572000" cy="256032"/>
          </a:xfrm>
          <a:prstGeom prst="rect">
            <a:avLst/>
          </a:prstGeom>
          <a:noFill/>
          <a:ln/>
        </p:spPr>
        <p:txBody>
          <a:bodyPr wrap="square" lIns="0" tIns="0" rIns="0" bIns="0" rtlCol="0" anchor="ctr"/>
          <a:lstStyle/>
          <a:p>
            <a:pPr marL="0" indent="0">
              <a:buNone/>
            </a:pPr>
            <a:r>
              <a:rPr lang="en-US" sz="1050" b="1" kern="0" spc="110" dirty="0">
                <a:solidFill>
                  <a:srgbClr val="9DB3CC"/>
                </a:solidFill>
                <a:latin typeface="Calibri" pitchFamily="34" charset="0"/>
                <a:ea typeface="Calibri" pitchFamily="34" charset="-122"/>
                <a:cs typeface="Calibri" pitchFamily="34" charset="-120"/>
              </a:rPr>
              <a:t>SPEAKER 6   ·   8:55 – 9:45</a:t>
            </a:r>
            <a:endParaRPr lang="en-US" sz="1050" dirty="0"/>
          </a:p>
        </p:txBody>
      </p:sp>
      <p:sp>
        <p:nvSpPr>
          <p:cNvPr id="36" name="Text 33"/>
          <p:cNvSpPr txBox="1"/>
          <p:nvPr/>
        </p:nvSpPr>
        <p:spPr>
          <a:xfrm>
            <a:off x="7052767" y="6309360"/>
            <a:ext cx="4572000" cy="256032"/>
          </a:xfrm>
          <a:prstGeom prst="rect">
            <a:avLst/>
          </a:prstGeom>
          <a:noFill/>
          <a:ln/>
        </p:spPr>
        <p:txBody>
          <a:bodyPr wrap="square" lIns="0" tIns="0" rIns="0" bIns="0" rtlCol="0" anchor="ctr"/>
          <a:lstStyle/>
          <a:p>
            <a:pPr marL="0" indent="0" algn="r">
              <a:buNone/>
            </a:pPr>
            <a:r>
              <a:rPr lang="en-US" sz="1050" dirty="0">
                <a:solidFill>
                  <a:srgbClr val="6A8098"/>
                </a:solidFill>
                <a:latin typeface="Calibri" pitchFamily="34" charset="0"/>
                <a:ea typeface="Calibri" pitchFamily="34" charset="-122"/>
                <a:cs typeface="Calibri" pitchFamily="34" charset="-120"/>
              </a:rPr>
              <a:t>NAZAR   ·   SIH 2026   ·   PS 26102   ·   16/16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TotalTime>
  <Words>6993</Words>
  <Application>Microsoft Office PowerPoint</Application>
  <PresentationFormat>Widescreen</PresentationFormat>
  <Paragraphs>377</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NAZAR - SIH 2026 PS 26102</dc:title>
  <dc:subject>PptxGenJS Presentation</dc:subject>
  <dc:creator>Team NAZAR</dc:creator>
  <cp:lastModifiedBy>Niharika Reddy Juturu</cp:lastModifiedBy>
  <cp:revision>2</cp:revision>
  <dcterms:created xsi:type="dcterms:W3CDTF">2026-09-08T06:15:55Z</dcterms:created>
  <dcterms:modified xsi:type="dcterms:W3CDTF">2026-09-08T07:19:04Z</dcterms:modified>
</cp:coreProperties>
</file>